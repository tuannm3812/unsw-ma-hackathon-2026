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Chart: modeling notebook SS6 (boosted forecast vs actual, chronological holdout). Split sizes: analysis_summary.json.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Chart: EDA SS5 sector figure (executed notebook). Gender medians: EDA SS4 printout. 10x basis: EDA SS9 correlations.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panel: EDA SS5 figure. Pooled definitions + p-values: association_summary.txt within-region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When a loan's story leans on family, competence, or urgency — does it fund faster?</a:t>
            </a:r>
          </a:p>
          <a:p>
            <a:pPr>
              <a:lnSpc>
                <a:spcPct val="115000"/>
              </a:lnSpc>
              <a:spcAft>
                <a:spcPts val="1200"/>
              </a:spcAft>
            </a:pPr>
            <a:r>
              <a:rPr sz="1600">
                <a:solidFill>
                  <a:srgbClr val="FFDD04"/>
                </a:solidFill>
                <a:latin typeface="Avenir Next"/>
              </a:rPr>
              <a:t>▪  </a:t>
            </a:r>
            <a:r>
              <a:rPr sz="1650">
                <a:solidFill>
                  <a:srgbClr val="1C2333"/>
                </a:solidFill>
                <a:latin typeface="Avenir Next"/>
              </a:rPr>
              <a:t>Does the answer depend on WHO is asking and WHEN?</a:t>
            </a:r>
          </a:p>
          <a:p>
            <a:pPr>
              <a:lnSpc>
                <a:spcPct val="115000"/>
              </a:lnSpc>
              <a:spcAft>
                <a:spcPts val="1200"/>
              </a:spcAft>
            </a:pPr>
            <a:r>
              <a:rPr sz="1600">
                <a:solidFill>
                  <a:srgbClr val="FFDD04"/>
                </a:solidFill>
                <a:latin typeface="Avenir Next"/>
              </a:rPr>
              <a:t>▪  </a:t>
            </a:r>
            <a:r>
              <a:rPr sz="1650">
                <a:solidFill>
                  <a:srgbClr val="1C2333"/>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Predictive claims: trained only on the past, tested only on loans posted 2024–2025 — no peeking at the future.</a:t>
            </a:r>
          </a:p>
          <a:p>
            <a:pPr>
              <a:lnSpc>
                <a:spcPct val="115000"/>
              </a:lnSpc>
              <a:spcAft>
                <a:spcPts val="1200"/>
              </a:spcAft>
            </a:pPr>
            <a:r>
              <a:rPr sz="1600">
                <a:solidFill>
                  <a:srgbClr val="FFDD04"/>
                </a:solidFill>
                <a:latin typeface="Avenir Next"/>
              </a:rPr>
              <a:t>▪  </a:t>
            </a:r>
            <a:r>
              <a:rPr sz="1650">
                <a:solidFill>
                  <a:srgbClr val="1C2333"/>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Avenir Next"/>
              </a:rPr>
              <a:t>▪  </a:t>
            </a:r>
            <a:r>
              <a:rPr sz="1650">
                <a:solidFill>
                  <a:srgbClr val="1C2333"/>
                </a:solidFill>
                <a:latin typeface="Avenir Next"/>
              </a:rPr>
              <a:t>Most headline-looking results did NOT survive — that is the point of the method.</a:t>
            </a:r>
          </a:p>
          <a:p>
            <a:pPr>
              <a:lnSpc>
                <a:spcPct val="115000"/>
              </a:lnSpc>
              <a:spcAft>
                <a:spcPts val="1200"/>
              </a:spcAft>
            </a:pPr>
            <a:r>
              <a:rPr sz="1600">
                <a:solidFill>
                  <a:srgbClr val="FFDD04"/>
                </a:solidFill>
                <a:latin typeface="Avenir Next"/>
              </a:rPr>
              <a:t>▪  </a:t>
            </a:r>
            <a:r>
              <a:rPr sz="1650">
                <a:solidFill>
                  <a:srgbClr val="1C2333"/>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1. </a:t>
            </a:r>
            <a:r>
              <a:rPr sz="900">
                <a:solidFill>
                  <a:srgbClr val="1C2333"/>
                </a:solidFill>
                <a:latin typeface="Avenir Next"/>
              </a:rPr>
              <a:t>Predicted vs. actual funding speed on the chronological holdout.</a:t>
            </a:r>
          </a:p>
          <a:p>
            <a:r>
              <a:rPr sz="800">
                <a:solidFill>
                  <a:srgbClr val="6E7278"/>
                </a:solidFill>
                <a:latin typeface="Avenir Next"/>
              </a:rPr>
              <a:t>Notes: Boosted model; loans posted 2024-01-01 onward (n = 278,887). Modeling notebook §6.</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Pre-pandemic, almost half of all loans funded within a day.</a:t>
            </a:r>
          </a:p>
          <a:p>
            <a:pPr>
              <a:lnSpc>
                <a:spcPct val="115000"/>
              </a:lnSpc>
              <a:spcAft>
                <a:spcPts val="1200"/>
              </a:spcAft>
            </a:pPr>
            <a:r>
              <a:rPr sz="1600">
                <a:solidFill>
                  <a:srgbClr val="FFDD04"/>
                </a:solidFill>
                <a:latin typeface="Avenir Next"/>
              </a:rPr>
              <a:t>▪  </a:t>
            </a:r>
            <a:r>
              <a:rPr sz="1650">
                <a:solidFill>
                  <a:srgbClr val="1C2333"/>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Avenir Next"/>
              </a:rPr>
              <a:t>▪  </a:t>
            </a:r>
            <a:r>
              <a:rPr sz="1650">
                <a:solidFill>
                  <a:srgbClr val="1C2333"/>
                </a:solidFill>
                <a:latin typeface="Avenir Next"/>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35091"/>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2. </a:t>
            </a:r>
            <a:r>
              <a:rPr sz="900">
                <a:solidFill>
                  <a:srgbClr val="1C2333"/>
                </a:solidFill>
                <a:latin typeface="Avenir Next"/>
              </a:rPr>
              <a:t>Share of loans funded within 24 hours, by analysis period.</a:t>
            </a:r>
          </a:p>
          <a:p>
            <a:r>
              <a:rPr sz="800">
                <a:solidFill>
                  <a:srgbClr val="6E7278"/>
                </a:solidFill>
                <a:latin typeface="Avenir Next"/>
              </a:rPr>
              <a:t>Notes: Exact shares 46.0% / 30.3% / 30.0%; period sizes shown in axis labels.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Loan amount + repayment terms: linked to funding speed ~10x more strongly than any single narrative choice.</a:t>
            </a:r>
          </a:p>
          <a:p>
            <a:pPr>
              <a:lnSpc>
                <a:spcPct val="115000"/>
              </a:lnSpc>
              <a:spcAft>
                <a:spcPts val="1200"/>
              </a:spcAft>
            </a:pPr>
            <a:r>
              <a:rPr sz="1600">
                <a:solidFill>
                  <a:srgbClr val="FFDD04"/>
                </a:solidFill>
                <a:latin typeface="Avenir Next"/>
              </a:rPr>
              <a:t>▪  </a:t>
            </a:r>
            <a:r>
              <a:rPr sz="1650">
                <a:solidFill>
                  <a:srgbClr val="1C2333"/>
                </a:solidFill>
                <a:latin typeface="Avenir Next"/>
              </a:rPr>
              <a:t>Sector alone spans well over an order of magnitude in speed; region shows similarly large gaps.</a:t>
            </a:r>
          </a:p>
          <a:p>
            <a:pPr>
              <a:lnSpc>
                <a:spcPct val="115000"/>
              </a:lnSpc>
              <a:spcAft>
                <a:spcPts val="1200"/>
              </a:spcAft>
            </a:pPr>
            <a:r>
              <a:rPr sz="1600">
                <a:solidFill>
                  <a:srgbClr val="FFDD04"/>
                </a:solidFill>
                <a:latin typeface="Avenir Next"/>
              </a:rPr>
              <a:t>▪  </a:t>
            </a:r>
            <a:r>
              <a:rPr sz="1650">
                <a:solidFill>
                  <a:srgbClr val="1C2333"/>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750064" y="2834639"/>
            <a:ext cx="3565109" cy="315468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3. </a:t>
            </a:r>
            <a:r>
              <a:rPr sz="900">
                <a:solidFill>
                  <a:srgbClr val="1C2333"/>
                </a:solidFill>
                <a:latin typeface="Avenir Next"/>
              </a:rPr>
              <a:t>Average funding speed by sector.</a:t>
            </a:r>
          </a:p>
          <a:p>
            <a:r>
              <a:rPr sz="800">
                <a:solidFill>
                  <a:srgbClr val="6E7278"/>
                </a:solidFill>
                <a:latin typeface="Avenir Next"/>
              </a:rPr>
              <a:t>Notes: Bar annotations give per-sector loan counts; dashed line = overall average. EDA notebook §5.</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Urgency: looked universal (p&lt;0.001) — collapses under country clustering (p≈0.44). Not recommended.</a:t>
            </a:r>
          </a:p>
          <a:p>
            <a:pPr>
              <a:lnSpc>
                <a:spcPct val="115000"/>
              </a:lnSpc>
              <a:spcAft>
                <a:spcPts val="1200"/>
              </a:spcAft>
            </a:pPr>
            <a:r>
              <a:rPr sz="1600">
                <a:solidFill>
                  <a:srgbClr val="FFDD04"/>
                </a:solidFill>
                <a:latin typeface="Avenir Next"/>
              </a:rPr>
              <a:t>▪  </a:t>
            </a:r>
            <a:r>
              <a:rPr sz="1650">
                <a:solidFill>
                  <a:srgbClr val="1C2333"/>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Avenir Next"/>
              </a:rPr>
              <a:t>▪  </a:t>
            </a:r>
            <a:r>
              <a:rPr sz="1650">
                <a:solidFill>
                  <a:srgbClr val="1C2333"/>
                </a:solidFill>
                <a:latin typeface="Avenir Next"/>
              </a:rPr>
              <a:t>Sentiment: positive tone &lt;-&gt; slower funding, but significance flips between specifications — genuinely open.</a:t>
            </a:r>
          </a:p>
          <a:p>
            <a:pPr>
              <a:lnSpc>
                <a:spcPct val="115000"/>
              </a:lnSpc>
              <a:spcAft>
                <a:spcPts val="1200"/>
              </a:spcAft>
            </a:pPr>
            <a:r>
              <a:rPr sz="1600">
                <a:solidFill>
                  <a:srgbClr val="FFDD04"/>
                </a:solidFill>
                <a:latin typeface="Avenir Next"/>
              </a:rPr>
              <a:t>▪  </a:t>
            </a:r>
            <a:r>
              <a:rPr sz="1650">
                <a:solidFill>
                  <a:srgbClr val="1C2333"/>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42316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4. </a:t>
            </a:r>
            <a:r>
              <a:rPr sz="900">
                <a:solidFill>
                  <a:srgbClr val="1C2333"/>
                </a:solidFill>
                <a:latin typeface="Avenir Next"/>
              </a:rPr>
              <a:t>Average within-region family-framing slope (duration model).</a:t>
            </a:r>
          </a:p>
          <a:p>
            <a:r>
              <a:rPr sz="800">
                <a:solidFill>
                  <a:srgbClr val="6E7278"/>
                </a:solidFill>
                <a:latin typeface="Avenir Next"/>
              </a:rPr>
              <a:t>Notes: Slopes averaged over each region's own moderator mix; few-cluster screen is a conservative heuristic. Executed modeling notebook §7.2.</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Avenir Next"/>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Avenir Next"/>
              </a:rPr>
              <a:t>▪  </a:t>
            </a:r>
            <a:r>
              <a:rPr sz="1650">
                <a:solidFill>
                  <a:srgbClr val="1C2333"/>
                </a:solidFill>
                <a:latin typeface="Avenir Next"/>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312363"/>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5. </a:t>
            </a:r>
            <a:r>
              <a:rPr sz="900">
                <a:solidFill>
                  <a:srgbClr val="1C2333"/>
                </a:solidFill>
                <a:latin typeface="Avenir Next"/>
              </a:rPr>
              <a:t>Mean funding speed by story theme.</a:t>
            </a:r>
          </a:p>
          <a:p>
            <a:r>
              <a:rPr sz="800">
                <a:solidFill>
                  <a:srgbClr val="6E7278"/>
                </a:solidFill>
                <a:latin typeface="Avenir Next"/>
              </a:rPr>
              <a:t>Notes: TF-IDF + NMF, 8 topics, 20K-description sample; themes named from each topic's top words. EDA notebook §8.</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FFDD04"/>
                </a:solidFill>
                <a:latin typeface="Avenir Next"/>
              </a:rPr>
              <a:t>▪  </a:t>
            </a:r>
            <a:r>
              <a:rPr sz="1650">
                <a:solidFill>
                  <a:srgbClr val="1C2333"/>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Avenir Next"/>
              </a:rPr>
              <a:t>▪  </a:t>
            </a:r>
            <a:r>
              <a:rPr sz="1650">
                <a:solidFill>
                  <a:srgbClr val="1C2333"/>
                </a:solidFill>
                <a:latin typeface="Avenir Next"/>
              </a:rPr>
              <a:t>DO review the structural gaps (sector / region / gender) — they are ~10x the size of any wording effect.</a:t>
            </a:r>
          </a:p>
          <a:p>
            <a:pPr>
              <a:lnSpc>
                <a:spcPct val="115000"/>
              </a:lnSpc>
              <a:spcAft>
                <a:spcPts val="1200"/>
              </a:spcAft>
            </a:pPr>
            <a:r>
              <a:rPr sz="1600">
                <a:solidFill>
                  <a:srgbClr val="FFDD04"/>
                </a:solidFill>
                <a:latin typeface="Avenir Next"/>
              </a:rPr>
              <a:t>▪  </a:t>
            </a:r>
            <a:r>
              <a:rPr sz="1650">
                <a:solidFill>
                  <a:srgbClr val="1C2333"/>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Association, never causation — no borrower was randomly assigned a writing style.</a:t>
            </a:r>
          </a:p>
          <a:p>
            <a:pPr>
              <a:lnSpc>
                <a:spcPct val="115000"/>
              </a:lnSpc>
              <a:spcAft>
                <a:spcPts val="1200"/>
              </a:spcAft>
            </a:pPr>
            <a:r>
              <a:rPr sz="1600">
                <a:solidFill>
                  <a:srgbClr val="FFDD04"/>
                </a:solidFill>
                <a:latin typeface="Avenir Next"/>
              </a:rPr>
              <a:t>▪  </a:t>
            </a:r>
            <a:r>
              <a:rPr sz="1650">
                <a:solidFill>
                  <a:srgbClr val="1C2333"/>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Avenir Next"/>
              </a:rPr>
              <a:t>▪  </a:t>
            </a:r>
            <a:r>
              <a:rPr sz="1650">
                <a:solidFill>
                  <a:srgbClr val="1C2333"/>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Avenir Next"/>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Avenir Next"/>
              </a:rPr>
              <a:t>▪  </a:t>
            </a:r>
            <a:r>
              <a:rPr sz="1650">
                <a:solidFill>
                  <a:srgbClr val="1C2333"/>
                </a:solidFill>
                <a:latin typeface="Avenir Next"/>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Avenir Next"/>
              </a:rPr>
              <a:t>▪  </a:t>
            </a:r>
            <a:r>
              <a:rPr sz="1650">
                <a:solidFill>
                  <a:srgbClr val="1C2333"/>
                </a:solidFill>
                <a:latin typeface="Avenir Next"/>
              </a:rPr>
              <a:t>North America: single country — between-country uncertainty not estimable at all.</a:t>
            </a:r>
          </a:p>
          <a:p>
            <a:pPr>
              <a:lnSpc>
                <a:spcPct val="115000"/>
              </a:lnSpc>
              <a:spcAft>
                <a:spcPts val="1200"/>
              </a:spcAft>
            </a:pPr>
            <a:r>
              <a:rPr sz="1600">
                <a:solidFill>
                  <a:srgbClr val="FFDD04"/>
                </a:solidFill>
                <a:latin typeface="Avenir Next"/>
              </a:rPr>
              <a:t>▪  </a:t>
            </a:r>
            <a:r>
              <a:rPr sz="1650">
                <a:solidFill>
                  <a:srgbClr val="1C2333"/>
                </a:solidFill>
                <a:latin typeface="Avenir Next"/>
              </a:rPr>
              <a:t>The screen is a conservative heuristic: it can downgrade a claim, never certify one. Next step: country-stratified A/B test in those four markets.</a:t>
            </a:r>
          </a:p>
        </p:txBody>
      </p:sp>
      <p:pic>
        <p:nvPicPr>
          <p:cNvPr id="7" name="Picture 6" descr="region_speed.png"/>
          <p:cNvPicPr>
            <a:picLocks noChangeAspect="1"/>
          </p:cNvPicPr>
          <p:nvPr/>
        </p:nvPicPr>
        <p:blipFill>
          <a:blip r:embed="rId2"/>
          <a:stretch>
            <a:fillRect/>
          </a:stretch>
        </p:blipFill>
        <p:spPr>
          <a:xfrm>
            <a:off x="7498079" y="1783080"/>
            <a:ext cx="4069080" cy="3259729"/>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6. </a:t>
            </a:r>
            <a:r>
              <a:rPr sz="900">
                <a:solidFill>
                  <a:srgbClr val="1C2333"/>
                </a:solidFill>
                <a:latin typeface="Avenir Next"/>
              </a:rPr>
              <a:t>Average funding speed by region.</a:t>
            </a:r>
          </a:p>
          <a:p>
            <a:r>
              <a:rPr sz="800">
                <a:solidFill>
                  <a:srgbClr val="6E7278"/>
                </a:solidFill>
                <a:latin typeface="Avenir Next"/>
              </a:rPr>
              <a:t>Notes: Bar annotations give per-region loan counts; dashed line = overall average. EDA notebook §5.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Avenir Next"/>
              </a:rPr>
              <a:t>▪  </a:t>
            </a:r>
            <a:r>
              <a:rPr sz="1650">
                <a:solidFill>
                  <a:srgbClr val="1C2333"/>
                </a:solidFill>
                <a:latin typeface="Avenir Next"/>
              </a:rPr>
              <a:t>No family, agency, or urgency feature reaches the top 15; sentiment is 11th despite its disputed significance.</a:t>
            </a:r>
          </a:p>
          <a:p>
            <a:pPr>
              <a:lnSpc>
                <a:spcPct val="115000"/>
              </a:lnSpc>
              <a:spcAft>
                <a:spcPts val="1200"/>
              </a:spcAft>
            </a:pPr>
            <a:r>
              <a:rPr sz="1600">
                <a:solidFill>
                  <a:srgbClr val="FFDD04"/>
                </a:solidFill>
                <a:latin typeface="Avenir Next"/>
              </a:rPr>
              <a:t>▪  </a:t>
            </a:r>
            <a:r>
              <a:rPr sz="1650">
                <a:solidFill>
                  <a:srgbClr val="1C2333"/>
                </a:solidFill>
                <a:latin typeface="Avenir Next"/>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86105"/>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7. </a:t>
            </a:r>
            <a:r>
              <a:rPr sz="900">
                <a:solidFill>
                  <a:srgbClr val="1C2333"/>
                </a:solidFill>
                <a:latin typeface="Avenir Next"/>
              </a:rPr>
              <a:t>Top 15 features by mean |SHAP| value, boosted model.</a:t>
            </a:r>
          </a:p>
          <a:p>
            <a:r>
              <a:rPr sz="800">
                <a:solidFill>
                  <a:srgbClr val="6E7278"/>
                </a:solidFill>
                <a:latin typeface="Avenir Next"/>
              </a:rPr>
              <a:t>Notes: 2,000-loan holdout sample; sentiment (11th) highlighted as the only narrative feature. Modeling notebook §8.</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Avenir Next"/>
              </a:rPr>
              <a:t>▪  </a:t>
            </a:r>
            <a:r>
              <a:rPr sz="1650">
                <a:solidFill>
                  <a:srgbClr val="1C2333"/>
                </a:solidFill>
                <a:latin typeface="Avenir Next"/>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Avenir Next"/>
              </a:rPr>
              <a:t>▪  </a:t>
            </a:r>
            <a:r>
              <a:rPr sz="1650">
                <a:solidFill>
                  <a:srgbClr val="1C2333"/>
                </a:solidFill>
                <a:latin typeface="Avenir Next"/>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99003"/>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Avenir Next"/>
              </a:rPr>
              <a:t>Figure 8. </a:t>
            </a:r>
            <a:r>
              <a:rPr sz="900">
                <a:solidFill>
                  <a:srgbClr val="1C2333"/>
                </a:solidFill>
                <a:latin typeface="Avenir Next"/>
              </a:rPr>
              <a:t>Correlation with funding speed: structural vs narrative features.</a:t>
            </a:r>
          </a:p>
          <a:p>
            <a:r>
              <a:rPr sz="800">
                <a:solidFill>
                  <a:srgbClr val="6E7278"/>
                </a:solidFill>
                <a:latin typeface="Avenir Next"/>
              </a:rPr>
              <a:t>Notes: Absolute Pearson correlations from the full valid sample. EDA notebook §9.</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Avenir Next"/>
              </a:rPr>
              <a:t>▪  </a:t>
            </a:r>
            <a:r>
              <a:rPr sz="1650">
                <a:solidFill>
                  <a:srgbClr val="1C2333"/>
                </a:solidFill>
                <a:latin typeface="Avenir Next"/>
              </a:rPr>
              <a:t>Holdout (posted 2024-01-01 onward): 278,887 loans; 87,466 funded within 24h vs 191,421 not.</a:t>
            </a:r>
          </a:p>
          <a:p>
            <a:pPr>
              <a:lnSpc>
                <a:spcPct val="115000"/>
              </a:lnSpc>
              <a:spcAft>
                <a:spcPts val="1200"/>
              </a:spcAft>
            </a:pPr>
            <a:r>
              <a:rPr sz="1600">
                <a:solidFill>
                  <a:srgbClr val="FFDD04"/>
                </a:solidFill>
                <a:latin typeface="Avenir Next"/>
              </a:rPr>
              <a:t>▪  </a:t>
            </a:r>
            <a:r>
              <a:rPr sz="1650">
                <a:solidFill>
                  <a:srgbClr val="1C2333"/>
                </a:solidFill>
                <a:latin typeface="Avenir Next"/>
              </a:rPr>
              <a:t>ROC AUC 0.8997 · average precision 0.8301 · Brier 0.1156 · accuracy 0.840 — no narrative features needed.</a:t>
            </a:r>
          </a:p>
          <a:p>
            <a:pPr>
              <a:lnSpc>
                <a:spcPct val="115000"/>
              </a:lnSpc>
              <a:spcAft>
                <a:spcPts val="1200"/>
              </a:spcAft>
            </a:pPr>
            <a:r>
              <a:rPr sz="1600">
                <a:solidFill>
                  <a:srgbClr val="FFDD04"/>
                </a:solidFill>
                <a:latin typeface="Avenir Next"/>
              </a:rPr>
              <a:t>▪  </a:t>
            </a:r>
            <a:r>
              <a:rPr sz="1650">
                <a:solidFill>
                  <a:srgbClr val="1C2333"/>
                </a:solidFill>
                <a:latin typeface="Avenir Next"/>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Avenir Next"/>
              </a:rPr>
              <a:t>▪  </a:t>
            </a:r>
            <a:r>
              <a:rPr sz="1650">
                <a:solidFill>
                  <a:srgbClr val="1C2333"/>
                </a:solidFill>
                <a:latin typeface="Avenir Next"/>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