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 we're Cultural Blend. Kiva is built on stories: every loan page leads with one. So we asked a simple question of 1.45 million real loans: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Specifically: when a borrower's story leans on family, on competence, on urgency — does the loan fund faster? And does the answer depend on who's asking, and when? We care because language is the one thing a platform can coach. You can't rewrite a loan's size, sector, or country after the fact — but you could suggest better words. IF words work. That's the claim we set out to test, not assume.</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disciplines before any findings. For prediction, we train only on the past and test only on loans posted in 2024–25 — no peeking at the future. For the framing claims, every 'significant' result had to survive re-testing: first with standard errors clustered by country, so ten thousand loans from one country can't masquerade as ten thousand independent pieces of evidence — and where a result rested on just a couple of countries, a deliberately harsher few-cluster reference on top. Most headline-looking results did not survive. That's the point: we'd rather lose a finding than present a fluke.</a:t>
            </a:r>
          </a:p>
          <a:p/>
          <a:p>
            <a:r>
              <a:t>[Sources] Split schematic drawn from analysis_summary.json split sizes (train 1,174,953 / holdout 278,887; boundary 2024-01-01).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pandemic, almost half of Kiva loans — 46% — funded within 24 hours. Since 2020, it's been under a third — and through the end of our data in 2025 it has not recovered. That's more than half a million loans on each side of the divide, so this isn't noise. Every result we show next lives inside this slower, tighter marketplace — lenders are more selective now, which makes knowing what actually drives speed more valuable, not less.</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drive speed? Structure. Loan amount and repayment terms are associated with funding speed roughly ten times more strongly than any single narrative choice. Sector alone spans more than an order of magnitude. And the starkest gap in the data: loans posted by women fund in a median of 2.3 days; by men, 7.7 — more than three times longer. None of this is causal — but the pattern is enormous, it's stable, and it dwarfs anything the words do.</a:t>
            </a:r>
          </a:p>
          <a:p/>
          <a:p>
            <a:r>
              <a:t>[Sources] Sector means computed from data/Kiva_Loans.pkl replicating EDA SS5 grouping (counts verified vs executed notebook). Gender medians: EDA SS4 printout.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we came to answer — and the honest answer is that nothing about the narrative survives our own scrutiny. Urgency language looked like a clean, universal win: significant at p&lt;0.001. Cluster by country, and it collapses to p≈0.44. Gone. Family framing — here our own first version got it wrong: we tested whether regions differ from Africa, which is not the same as whether family framing helps WITHIN a region. Corrected, two pooled categories — Palestine+Yemen, and Honduras+Nicaragua — do show faster funding in every fit we ran. But each rests on exactly two countries, and against a deliberately harsh few-cluster screen — a t distribution with one degree of freedom, where the critical value is 12.7, not 1.96 — neither is significant: p between 0.06 and 0.21. So we report it as a hypothesis worth testing, not a finding. Sentiment tone: more positive language associates with SLOWER funding, but its significance flips between our two specifications — we call it open. We'd rather report no robust evidence than one exciting result we can't defend.</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went beyond keyword counting. Topic modeling finds coherent themes in the stories — livestock, health and sanitation, clean water, farming, retail — and funding speed swings ninefold across them, from a day and a half to nearly two weeks. But notice what a topic mostly encodes: what the loan is FOR. Which is structure again — not persuasion.</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should Kiva actually do? Three things. First — don't ship writing tips. A platform-wide 'add urgency' nudge would be built on a result that doesn't survive testing. The family-framing pattern deserves a country-stratified A/B test in exactly those four markets: that's how a hypothesis becomes a decision, and it's cheap to run. Second — the structural gaps are where the real levers are: review how the consistently slower sectors and regions are surfaced, bundled, and supported, because those gaps are ten times the size of any wording effect. Third — speed is predictable in retrospect: among loans that eventually funded, our classifier ranks same-day funding at AUC 0.90 on strictly future data, without any framing features. One honest boundary: expired or withdrawn listings never enter this data, so that is a ranking prototype among eventual funders — not yet an early-warning system. To build one, Kiva should pull all posted listings including expired and withdrawn outcomes, define the operational target, and retrain and validate on that population — before any pilot.</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limits. This is association, never causation — no borrower was randomly assigned a writing style. We measure how fast funded loans fund — not whether a loan funds at all. And our framing measures are transparent, simple rules — they don't capture every nuance of persuasion. We'd rather you know exactly what this analysis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data, the story barely registers — the structure carries the signal. And testing hard enough to say, honestly, that there is no robust evidence for the story is worth more to a platform than a good-sounding tip. Thank you — we're happy to take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means computed from data/Kiva_Loans.pkl replicating EDA SS5 grouping (counts verified). Pooled definitions + p-values: association_summary.txt.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data_split.png"/>
          <p:cNvPicPr>
            <a:picLocks noChangeAspect="1"/>
          </p:cNvPicPr>
          <p:nvPr/>
        </p:nvPicPr>
        <p:blipFill>
          <a:blip r:embed="rId2"/>
          <a:stretch>
            <a:fillRect/>
          </a:stretch>
        </p:blipFill>
        <p:spPr>
          <a:xfrm>
            <a:off x="7520939" y="1783080"/>
            <a:ext cx="4114800" cy="210312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1. </a:t>
            </a:r>
            <a:r>
              <a:rPr sz="1000">
                <a:solidFill>
                  <a:srgbClr val="1C2333"/>
                </a:solidFill>
                <a:latin typeface="DM Sans"/>
              </a:rPr>
              <a:t>Chronological train/test split.</a:t>
            </a:r>
          </a:p>
          <a:p>
            <a:r>
              <a:rPr sz="900">
                <a:solidFill>
                  <a:srgbClr val="6E7278"/>
                </a:solidFill>
                <a:latin typeface="DM Sans"/>
              </a:rPr>
              <a:t>Notes: Train 1,174,953 loans (2016-2023); test 278,887 (posted 2024-01-01 onward). Counts from the authoritative snapshot.</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520939" y="1783080"/>
            <a:ext cx="4114800" cy="301752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2. </a:t>
            </a:r>
            <a:r>
              <a:rPr sz="1000">
                <a:solidFill>
                  <a:srgbClr val="1C2333"/>
                </a:solidFill>
                <a:latin typeface="DM Sans"/>
              </a:rPr>
              <a:t>Share of loans funded within 24 hours, by analysis period.</a:t>
            </a:r>
          </a:p>
          <a:p>
            <a:r>
              <a:rPr sz="900">
                <a:solidFill>
                  <a:srgbClr val="6E7278"/>
                </a:solidFill>
                <a:latin typeface="DM Sans"/>
              </a:rPr>
              <a:t>Notes: Exact shares 46.0% / 30.3% / 30.0%; period sizes 589,823 / 298,549 / 565,474 loans.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region shows similarly large gaps.</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sector.png"/>
          <p:cNvPicPr>
            <a:picLocks noChangeAspect="1"/>
          </p:cNvPicPr>
          <p:nvPr/>
        </p:nvPicPr>
        <p:blipFill>
          <a:blip r:embed="rId2"/>
          <a:stretch>
            <a:fillRect/>
          </a:stretch>
        </p:blipFill>
        <p:spPr>
          <a:xfrm>
            <a:off x="7498079" y="1783080"/>
            <a:ext cx="4160520" cy="41148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3. </a:t>
            </a:r>
            <a:r>
              <a:rPr sz="1000">
                <a:solidFill>
                  <a:srgbClr val="1C2333"/>
                </a:solidFill>
                <a:latin typeface="DM Sans"/>
              </a:rPr>
              <a:t>Mean funding speed by sector.</a:t>
            </a:r>
          </a:p>
          <a:p>
            <a:r>
              <a:rPr sz="900">
                <a:solidFill>
                  <a:srgbClr val="6E7278"/>
                </a:solidFill>
                <a:latin typeface="DM Sans"/>
              </a:rPr>
              <a:t>Notes: Computed from the raw data replicating EDA §5 grouping (sectors under 1,000 loans folded into Other); all counts match the executed notebook.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(p≈0.44).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1783080"/>
            <a:ext cx="4160520" cy="25146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4. </a:t>
            </a:r>
            <a:r>
              <a:rPr sz="1000">
                <a:solidFill>
                  <a:srgbClr val="1C2333"/>
                </a:solidFill>
                <a:latin typeface="DM Sans"/>
              </a:rPr>
              <a:t>Average within-region family-framing slope (duration model).</a:t>
            </a:r>
          </a:p>
          <a:p>
            <a:r>
              <a:rPr sz="900">
                <a:solidFill>
                  <a:srgbClr val="6E7278"/>
                </a:solidFill>
                <a:latin typeface="DM Sans"/>
              </a:rPr>
              <a:t>Notes: Slopes averaged over each region's own moderator mix; few-cluster screen is a conservative heuristic. Executed modeling notebook §7.2.</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1783080"/>
            <a:ext cx="4160520" cy="27432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5. </a:t>
            </a:r>
            <a:r>
              <a:rPr sz="1000">
                <a:solidFill>
                  <a:srgbClr val="1C2333"/>
                </a:solidFill>
                <a:latin typeface="DM Sans"/>
              </a:rPr>
              <a:t>Mean funding speed by story theme.</a:t>
            </a:r>
          </a:p>
          <a:p>
            <a:r>
              <a:rPr sz="900">
                <a:solidFill>
                  <a:srgbClr val="6E7278"/>
                </a:solidFill>
                <a:latin typeface="DM Sans"/>
              </a:rPr>
              <a:t>Notes: TF-IDF + NMF, 8 topics, 20K-description sample; themes named from each topic's top words. EDA notebook §8.</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6. </a:t>
            </a:r>
            <a:r>
              <a:rPr sz="1000">
                <a:solidFill>
                  <a:srgbClr val="1C2333"/>
                </a:solidFill>
                <a:latin typeface="DM Sans"/>
              </a:rPr>
              <a:t>Mean funding speed by region.</a:t>
            </a:r>
          </a:p>
          <a:p>
            <a:r>
              <a:rPr sz="900">
                <a:solidFill>
                  <a:srgbClr val="6E7278"/>
                </a:solidFill>
                <a:latin typeface="DM Sans"/>
              </a:rPr>
              <a:t>Notes: Computed from the raw data replicating EDA §5 grouping; all counts match the executed notebook.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160520" cy="356616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7. </a:t>
            </a:r>
            <a:r>
              <a:rPr sz="1000">
                <a:solidFill>
                  <a:srgbClr val="1C2333"/>
                </a:solidFill>
                <a:latin typeface="DM Sans"/>
              </a:rPr>
              <a:t>Top 15 features by mean |SHAP| value, boosted model.</a:t>
            </a:r>
          </a:p>
          <a:p>
            <a:r>
              <a:rPr sz="900">
                <a:solidFill>
                  <a:srgbClr val="6E7278"/>
                </a:solidFill>
                <a:latin typeface="DM Sans"/>
              </a:rPr>
              <a:t>Notes: 2,000-loan holdout sample; sentiment (11th) highlighted as the only narrative feature. Modeling notebook §8.</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8. </a:t>
            </a:r>
            <a:r>
              <a:rPr sz="1000">
                <a:solidFill>
                  <a:srgbClr val="1C2333"/>
                </a:solidFill>
                <a:latin typeface="DM Sans"/>
              </a:rPr>
              <a:t>Correlation with funding speed: structural vs narrative features.</a:t>
            </a:r>
          </a:p>
          <a:p>
            <a:r>
              <a:rPr sz="900">
                <a:solidFill>
                  <a:srgbClr val="6E7278"/>
                </a:solidFill>
                <a:latin typeface="DM Sans"/>
              </a:rPr>
              <a:t>Notes: Absolute Pearson correlations from the full valid sample. EDA notebook §9.</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no narrative features needed.</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