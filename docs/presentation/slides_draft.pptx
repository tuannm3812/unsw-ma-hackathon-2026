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KNOW that is worth more to a platform than a good-sounding tip. Thank you — we're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C97B3D"/>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AF7F0"/>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Avenir Next"/>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question</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When a loan's story leans on family, competence, or urgency — does it fund faster?</a:t>
            </a:r>
          </a:p>
          <a:p>
            <a:pPr>
              <a:lnSpc>
                <a:spcPct val="115000"/>
              </a:lnSpc>
              <a:spcAft>
                <a:spcPts val="1200"/>
              </a:spcAft>
            </a:pPr>
            <a:r>
              <a:rPr sz="1600">
                <a:solidFill>
                  <a:srgbClr val="C97B3D"/>
                </a:solidFill>
                <a:latin typeface="Avenir Next"/>
              </a:rPr>
              <a:t>▪  </a:t>
            </a:r>
            <a:r>
              <a:rPr sz="1650">
                <a:solidFill>
                  <a:srgbClr val="1E2A2F"/>
                </a:solidFill>
                <a:latin typeface="Avenir Next"/>
              </a:rPr>
              <a:t>Does the answer depend on WHO is asking and WHEN?</a:t>
            </a:r>
          </a:p>
          <a:p>
            <a:pPr>
              <a:lnSpc>
                <a:spcPct val="115000"/>
              </a:lnSpc>
              <a:spcAft>
                <a:spcPts val="1200"/>
              </a:spcAft>
            </a:pPr>
            <a:r>
              <a:rPr sz="1600">
                <a:solidFill>
                  <a:srgbClr val="C97B3D"/>
                </a:solidFill>
                <a:latin typeface="Avenir Next"/>
              </a:rPr>
              <a:t>▪  </a:t>
            </a:r>
            <a:r>
              <a:rPr sz="1650">
                <a:solidFill>
                  <a:srgbClr val="1E2A2F"/>
                </a:solidFill>
                <a:latin typeface="Avenir Next"/>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Predictive claims: trained only on the past, tested only on loans posted 2024–2025 — no peeking at the future.</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C97B3D"/>
                </a:solidFill>
                <a:latin typeface="Avenir Next"/>
              </a:rPr>
              <a:t>▪  </a:t>
            </a:r>
            <a:r>
              <a:rPr sz="1650">
                <a:solidFill>
                  <a:srgbClr val="1E2A2F"/>
                </a:solidFill>
                <a:latin typeface="Avenir Next"/>
              </a:rPr>
              <a:t>Most headline-looking results did NOT survive — that is the point of the method.</a:t>
            </a:r>
          </a:p>
          <a:p>
            <a:pPr>
              <a:lnSpc>
                <a:spcPct val="115000"/>
              </a:lnSpc>
              <a:spcAft>
                <a:spcPts val="1200"/>
              </a:spcAft>
            </a:pPr>
            <a:r>
              <a:rPr sz="1600">
                <a:solidFill>
                  <a:srgbClr val="C97B3D"/>
                </a:solidFill>
                <a:latin typeface="Avenir Next"/>
              </a:rPr>
              <a:t>▪  </a:t>
            </a:r>
            <a:r>
              <a:rPr sz="1650">
                <a:solidFill>
                  <a:srgbClr val="1E2A2F"/>
                </a:solidFill>
                <a:latin typeface="Avenir Next"/>
              </a:rPr>
              <a:t>SHAP importance shown as complementary predictive evidence only — it cannot confirm or refute a statistical finding.</a:t>
            </a:r>
          </a:p>
        </p:txBody>
      </p:sp>
      <p:pic>
        <p:nvPicPr>
          <p:cNvPr id="7" name="Picture 6" descr="mod_21.png"/>
          <p:cNvPicPr>
            <a:picLocks noChangeAspect="1"/>
          </p:cNvPicPr>
          <p:nvPr/>
        </p:nvPicPr>
        <p:blipFill>
          <a:blip r:embed="rId2"/>
          <a:stretch>
            <a:fillRect/>
          </a:stretch>
        </p:blipFill>
        <p:spPr>
          <a:xfrm>
            <a:off x="7498079" y="1783080"/>
            <a:ext cx="4069080" cy="4074986"/>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§4 data split · §7.1 cluster-robust check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46% → 30% → 30%  </a:t>
            </a:r>
            <a:r>
              <a:rPr sz="1600" b="0">
                <a:solidFill>
                  <a:srgbClr val="6E6A5E"/>
                </a:solidFill>
                <a:latin typeface="Avenir Next"/>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Pre-pandemic, almost half of all loans funded within a day.</a:t>
            </a:r>
          </a:p>
          <a:p>
            <a:pPr>
              <a:lnSpc>
                <a:spcPct val="115000"/>
              </a:lnSpc>
              <a:spcAft>
                <a:spcPts val="1200"/>
              </a:spcAft>
            </a:pPr>
            <a:r>
              <a:rPr sz="1600">
                <a:solidFill>
                  <a:srgbClr val="C97B3D"/>
                </a:solidFill>
                <a:latin typeface="Avenir Next"/>
              </a:rPr>
              <a:t>▪  </a:t>
            </a:r>
            <a:r>
              <a:rPr sz="1650">
                <a:solidFill>
                  <a:srgbClr val="1E2A2F"/>
                </a:solidFill>
                <a:latin typeface="Avenir Next"/>
              </a:rPr>
              <a:t>Since 2020: under a third — and through the end of the data (2025) it has NOT recovered. Persistence to date, not proof it never will.</a:t>
            </a:r>
          </a:p>
          <a:p>
            <a:pPr>
              <a:lnSpc>
                <a:spcPct val="115000"/>
              </a:lnSpc>
              <a:spcAft>
                <a:spcPts val="1200"/>
              </a:spcAft>
            </a:pPr>
            <a:r>
              <a:rPr sz="1600">
                <a:solidFill>
                  <a:srgbClr val="C97B3D"/>
                </a:solidFill>
                <a:latin typeface="Avenir Next"/>
              </a:rPr>
              <a:t>▪  </a:t>
            </a:r>
            <a:r>
              <a:rPr sz="1650">
                <a:solidFill>
                  <a:srgbClr val="1E2A2F"/>
                </a:solidFill>
                <a:latin typeface="Avenir Next"/>
              </a:rPr>
              <a:t>589,823 loans before vs. 565,474 after — not a small, noisy sample.</a:t>
            </a:r>
          </a:p>
        </p:txBody>
      </p:sp>
      <p:pic>
        <p:nvPicPr>
          <p:cNvPr id="8" name="Picture 7" descr="eda_17_right.png"/>
          <p:cNvPicPr>
            <a:picLocks noChangeAspect="1"/>
          </p:cNvPicPr>
          <p:nvPr/>
        </p:nvPicPr>
        <p:blipFill>
          <a:blip r:embed="rId2"/>
          <a:stretch>
            <a:fillRect/>
          </a:stretch>
        </p:blipFill>
        <p:spPr>
          <a:xfrm>
            <a:off x="7498079" y="2834639"/>
            <a:ext cx="4069080" cy="2961556"/>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§4 categorical trends (period chart)</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Structure beats story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2.3 vs 7.7 days  </a:t>
            </a:r>
            <a:r>
              <a:rPr sz="1600" b="0">
                <a:solidFill>
                  <a:srgbClr val="6E6A5E"/>
                </a:solidFill>
                <a:latin typeface="Avenir Next"/>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Loan amount + repayment terms: linked to funding speed ~10x more strongly than any single narrative choice.</a:t>
            </a:r>
          </a:p>
          <a:p>
            <a:pPr>
              <a:lnSpc>
                <a:spcPct val="115000"/>
              </a:lnSpc>
              <a:spcAft>
                <a:spcPts val="1200"/>
              </a:spcAft>
            </a:pPr>
            <a:r>
              <a:rPr sz="1600">
                <a:solidFill>
                  <a:srgbClr val="C97B3D"/>
                </a:solidFill>
                <a:latin typeface="Avenir Next"/>
              </a:rPr>
              <a:t>▪  </a:t>
            </a:r>
            <a:r>
              <a:rPr sz="1650">
                <a:solidFill>
                  <a:srgbClr val="1E2A2F"/>
                </a:solidFill>
                <a:latin typeface="Avenir Next"/>
              </a:rPr>
              <a:t>Sector alone spans well over an order of magnitude in speed; region shows similarly large gaps.</a:t>
            </a:r>
          </a:p>
          <a:p>
            <a:pPr>
              <a:lnSpc>
                <a:spcPct val="115000"/>
              </a:lnSpc>
              <a:spcAft>
                <a:spcPts val="1200"/>
              </a:spcAft>
            </a:pPr>
            <a:r>
              <a:rPr sz="1600">
                <a:solidFill>
                  <a:srgbClr val="C97B3D"/>
                </a:solidFill>
                <a:latin typeface="Avenir Next"/>
              </a:rPr>
              <a:t>▪  </a:t>
            </a:r>
            <a:r>
              <a:rPr sz="1650">
                <a:solidFill>
                  <a:srgbClr val="1E2A2F"/>
                </a:solidFill>
                <a:latin typeface="Avenir Next"/>
              </a:rPr>
              <a:t>None of this is causal — but it dwarfs anything the words do.</a:t>
            </a:r>
          </a:p>
        </p:txBody>
      </p:sp>
      <p:pic>
        <p:nvPicPr>
          <p:cNvPr id="8" name="Picture 7" descr="eda_22.png"/>
          <p:cNvPicPr>
            <a:picLocks noChangeAspect="1"/>
          </p:cNvPicPr>
          <p:nvPr/>
        </p:nvPicPr>
        <p:blipFill>
          <a:blip r:embed="rId2"/>
          <a:stretch>
            <a:fillRect/>
          </a:stretch>
        </p:blipFill>
        <p:spPr>
          <a:xfrm>
            <a:off x="7672562" y="2834639"/>
            <a:ext cx="3720114" cy="3291840"/>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§5 categorical features · §9 feature correlations</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No narrative result  </a:t>
            </a:r>
            <a:r>
              <a:rPr sz="1600" b="0">
                <a:solidFill>
                  <a:srgbClr val="6E6A5E"/>
                </a:solidFill>
                <a:latin typeface="Avenir Next"/>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Urgency: looked universal (p&lt;0.001) — collapses under country clustering (p≈0.44). Not recommended.</a:t>
            </a:r>
          </a:p>
          <a:p>
            <a:pPr>
              <a:lnSpc>
                <a:spcPct val="115000"/>
              </a:lnSpc>
              <a:spcAft>
                <a:spcPts val="1200"/>
              </a:spcAft>
            </a:pPr>
            <a:r>
              <a:rPr sz="1600">
                <a:solidFill>
                  <a:srgbClr val="C97B3D"/>
                </a:solidFill>
                <a:latin typeface="Avenir Next"/>
              </a:rPr>
              <a:t>▪  </a:t>
            </a:r>
            <a:r>
              <a:rPr sz="1650">
                <a:solidFill>
                  <a:srgbClr val="1E2A2F"/>
                </a:solidFill>
                <a:latin typeface="Avenir Next"/>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C97B3D"/>
                </a:solidFill>
                <a:latin typeface="Avenir Next"/>
              </a:rPr>
              <a:t>▪  </a:t>
            </a:r>
            <a:r>
              <a:rPr sz="1650">
                <a:solidFill>
                  <a:srgbClr val="1E2A2F"/>
                </a:solidFill>
                <a:latin typeface="Avenir Next"/>
              </a:rPr>
              <a:t>Sentiment: positive tone &lt;-&gt; slower funding, but significance flips between specifications — genuinely open.</a:t>
            </a:r>
          </a:p>
          <a:p>
            <a:pPr>
              <a:lnSpc>
                <a:spcPct val="115000"/>
              </a:lnSpc>
              <a:spcAft>
                <a:spcPts val="1200"/>
              </a:spcAft>
            </a:pPr>
            <a:r>
              <a:rPr sz="1600">
                <a:solidFill>
                  <a:srgbClr val="C97B3D"/>
                </a:solidFill>
                <a:latin typeface="Avenir Next"/>
              </a:rPr>
              <a:t>▪  </a:t>
            </a:r>
            <a:r>
              <a:rPr sz="1650">
                <a:solidFill>
                  <a:srgbClr val="1E2A2F"/>
                </a:solidFill>
                <a:latin typeface="Avenir Next"/>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2834639"/>
            <a:ext cx="4069080" cy="2854330"/>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§7.2 within-region slopes · §7.1 check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Beyond keywords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C97B3D"/>
                </a:solidFill>
                <a:latin typeface="Georgia"/>
              </a:defRPr>
            </a:pPr>
            <a:r>
              <a:t>1.5 → 13.5 days  </a:t>
            </a:r>
            <a:r>
              <a:rPr sz="1600" b="0">
                <a:solidFill>
                  <a:srgbClr val="6E6A5E"/>
                </a:solidFill>
                <a:latin typeface="Avenir Next"/>
              </a:rPr>
              <a:t>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Topic modeling (NMF, 5 topics — not keyword counts) surfaces coherent themes: livestock, health &amp; sanitation, clean water, farming, retail.</a:t>
            </a:r>
          </a:p>
          <a:p>
            <a:pPr>
              <a:lnSpc>
                <a:spcPct val="115000"/>
              </a:lnSpc>
              <a:spcAft>
                <a:spcPts val="1200"/>
              </a:spcAft>
            </a:pPr>
            <a:r>
              <a:rPr sz="1600">
                <a:solidFill>
                  <a:srgbClr val="C97B3D"/>
                </a:solidFill>
                <a:latin typeface="Avenir Next"/>
              </a:rPr>
              <a:t>▪  </a:t>
            </a:r>
            <a:r>
              <a:rPr sz="1650">
                <a:solidFill>
                  <a:srgbClr val="1E2A2F"/>
                </a:solidFill>
                <a:latin typeface="Avenir Next"/>
              </a:rPr>
              <a:t>The largest single gap anywhere in the analysis — but a topic mostly encodes what the loan is FOR. Structure again, not persuasion.</a:t>
            </a:r>
          </a:p>
        </p:txBody>
      </p:sp>
      <p:pic>
        <p:nvPicPr>
          <p:cNvPr id="8" name="Picture 7" descr="eda_32.png"/>
          <p:cNvPicPr>
            <a:picLocks noChangeAspect="1"/>
          </p:cNvPicPr>
          <p:nvPr/>
        </p:nvPicPr>
        <p:blipFill>
          <a:blip r:embed="rId2"/>
          <a:stretch>
            <a:fillRect/>
          </a:stretch>
        </p:blipFill>
        <p:spPr>
          <a:xfrm>
            <a:off x="7498079" y="2834639"/>
            <a:ext cx="4069080" cy="2427316"/>
          </a:xfrm>
          <a:prstGeom prst="rect">
            <a:avLst/>
          </a:prstGeom>
        </p:spPr>
      </p:pic>
      <p:sp>
        <p:nvSpPr>
          <p:cNvPr id="9" name="TextBox 8"/>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§8 topic modeling</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DON'T ship writing tips — a platform-wide 'add urgency' nudge would be built on a result that doesn't survive testing.</a:t>
            </a:r>
          </a:p>
          <a:p>
            <a:pPr>
              <a:lnSpc>
                <a:spcPct val="115000"/>
              </a:lnSpc>
              <a:spcAft>
                <a:spcPts val="1200"/>
              </a:spcAft>
            </a:pPr>
            <a:r>
              <a:rPr sz="1600">
                <a:solidFill>
                  <a:srgbClr val="C97B3D"/>
                </a:solidFill>
                <a:latin typeface="Avenir Next"/>
              </a:rPr>
              <a:t>▪  </a:t>
            </a:r>
            <a:r>
              <a:rPr sz="1650">
                <a:solidFill>
                  <a:srgbClr val="1E2A2F"/>
                </a:solidFill>
                <a:latin typeface="Avenir Next"/>
              </a:rPr>
              <a:t>DO run a country-stratified A/B test of family framing in exactly those 4 markets — that's how a hypothesis becomes a decision.</a:t>
            </a:r>
          </a:p>
          <a:p>
            <a:pPr>
              <a:lnSpc>
                <a:spcPct val="115000"/>
              </a:lnSpc>
              <a:spcAft>
                <a:spcPts val="1200"/>
              </a:spcAft>
            </a:pPr>
            <a:r>
              <a:rPr sz="1600">
                <a:solidFill>
                  <a:srgbClr val="C97B3D"/>
                </a:solidFill>
                <a:latin typeface="Avenir Next"/>
              </a:rPr>
              <a:t>▪  </a:t>
            </a:r>
            <a:r>
              <a:rPr sz="1650">
                <a:solidFill>
                  <a:srgbClr val="1E2A2F"/>
                </a:solidFill>
                <a:latin typeface="Avenir Next"/>
              </a:rPr>
              <a:t>DO review the structural gaps (sector / region / gender) — they are ~10x the size of any wording effect.</a:t>
            </a:r>
          </a:p>
          <a:p>
            <a:pPr>
              <a:lnSpc>
                <a:spcPct val="115000"/>
              </a:lnSpc>
              <a:spcAft>
                <a:spcPts val="1200"/>
              </a:spcAft>
            </a:pPr>
            <a:r>
              <a:rPr sz="1600">
                <a:solidFill>
                  <a:srgbClr val="C97B3D"/>
                </a:solidFill>
                <a:latin typeface="Avenir Next"/>
              </a:rPr>
              <a:t>▪  </a:t>
            </a:r>
            <a:r>
              <a:rPr sz="1650">
                <a:solidFill>
                  <a:srgbClr val="1E2A2F"/>
                </a:solidFill>
                <a:latin typeface="Avenir Next"/>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Association, never causation — no borrower was randomly assigned a writing style.</a:t>
            </a:r>
          </a:p>
          <a:p>
            <a:pPr>
              <a:lnSpc>
                <a:spcPct val="115000"/>
              </a:lnSpc>
              <a:spcAft>
                <a:spcPts val="1200"/>
              </a:spcAft>
            </a:pPr>
            <a:r>
              <a:rPr sz="1600">
                <a:solidFill>
                  <a:srgbClr val="C97B3D"/>
                </a:solidFill>
                <a:latin typeface="Avenir Next"/>
              </a:rPr>
              <a:t>▪  </a:t>
            </a:r>
            <a:r>
              <a:rPr sz="1650">
                <a:solidFill>
                  <a:srgbClr val="1E2A2F"/>
                </a:solidFill>
                <a:latin typeface="Avenir Next"/>
              </a:rPr>
              <a:t>Measures how fast a FUNDED loan funds — not whether a loan gets funded at all (expired/withdrawn listings never enter the data).</a:t>
            </a:r>
          </a:p>
          <a:p>
            <a:pPr>
              <a:lnSpc>
                <a:spcPct val="115000"/>
              </a:lnSpc>
              <a:spcAft>
                <a:spcPts val="1200"/>
              </a:spcAft>
            </a:pPr>
            <a:r>
              <a:rPr sz="1600">
                <a:solidFill>
                  <a:srgbClr val="C97B3D"/>
                </a:solidFill>
                <a:latin typeface="Avenir Next"/>
              </a:rPr>
              <a:t>▪  </a:t>
            </a:r>
            <a:r>
              <a:rPr sz="1650">
                <a:solidFill>
                  <a:srgbClr val="1E2A2F"/>
                </a:solidFill>
                <a:latin typeface="Avenir Next"/>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AF7F0"/>
                </a:solidFill>
                <a:latin typeface="Georgia"/>
              </a:defRPr>
            </a:pPr>
            <a:r>
              <a:t>“The story barely registers.</a:t>
            </a:r>
          </a:p>
          <a:p>
            <a:pPr algn="ctr">
              <a:defRPr sz="4200" b="1" i="0">
                <a:solidFill>
                  <a:srgbClr val="FAF7F0"/>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Avenir Next"/>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4E5F"/>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AF7F0"/>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Avenir Next"/>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Pooled categories: Middle East = Palestine + Yemen (14,946 loans); Central America = Honduras + Nicaragua (59,391); North America = Haiti alone.</a:t>
            </a:r>
          </a:p>
          <a:p>
            <a:pPr>
              <a:lnSpc>
                <a:spcPct val="115000"/>
              </a:lnSpc>
              <a:spcAft>
                <a:spcPts val="1200"/>
              </a:spcAft>
            </a:pPr>
            <a:r>
              <a:rPr sz="1600">
                <a:solidFill>
                  <a:srgbClr val="C97B3D"/>
                </a:solidFill>
                <a:latin typeface="Avenir Next"/>
              </a:rPr>
              <a:t>▪  </a:t>
            </a:r>
            <a:r>
              <a:rPr sz="1650">
                <a:solidFill>
                  <a:srgbClr val="1E2A2F"/>
                </a:solidFill>
                <a:latin typeface="Avenir Next"/>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C97B3D"/>
                </a:solidFill>
                <a:latin typeface="Avenir Next"/>
              </a:rPr>
              <a:t>▪  </a:t>
            </a:r>
            <a:r>
              <a:rPr sz="1650">
                <a:solidFill>
                  <a:srgbClr val="1E2A2F"/>
                </a:solidFill>
                <a:latin typeface="Avenir Next"/>
              </a:rPr>
              <a:t>North America: single country — between-country uncertainty not estimable at all.</a:t>
            </a:r>
          </a:p>
          <a:p>
            <a:pPr>
              <a:lnSpc>
                <a:spcPct val="115000"/>
              </a:lnSpc>
              <a:spcAft>
                <a:spcPts val="1200"/>
              </a:spcAft>
            </a:pPr>
            <a:r>
              <a:rPr sz="1600">
                <a:solidFill>
                  <a:srgbClr val="C97B3D"/>
                </a:solidFill>
                <a:latin typeface="Avenir Next"/>
              </a:rPr>
              <a:t>▪  </a:t>
            </a:r>
            <a:r>
              <a:rPr sz="1650">
                <a:solidFill>
                  <a:srgbClr val="1E2A2F"/>
                </a:solidFill>
                <a:latin typeface="Avenir Next"/>
              </a:rPr>
              <a:t>The screen is a conservative heuristic: it can downgrade a claim, never certify one. Next step: country-stratified A/B test in those four markets.</a:t>
            </a:r>
          </a:p>
        </p:txBody>
      </p:sp>
      <p:pic>
        <p:nvPicPr>
          <p:cNvPr id="7" name="Picture 6" descr="eda_23.png"/>
          <p:cNvPicPr>
            <a:picLocks noChangeAspect="1"/>
          </p:cNvPicPr>
          <p:nvPr/>
        </p:nvPicPr>
        <p:blipFill>
          <a:blip r:embed="rId2"/>
          <a:stretch>
            <a:fillRect/>
          </a:stretch>
        </p:blipFill>
        <p:spPr>
          <a:xfrm>
            <a:off x="7498079" y="1783080"/>
            <a:ext cx="4069080" cy="1717011"/>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§5 · regional speed context for the pooled categories</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SHAP importance from the boosted forecasting model: structure fills the top ranks (amount, term, period, size band, sector, gender).</a:t>
            </a:r>
          </a:p>
          <a:p>
            <a:pPr>
              <a:lnSpc>
                <a:spcPct val="115000"/>
              </a:lnSpc>
              <a:spcAft>
                <a:spcPts val="1200"/>
              </a:spcAft>
            </a:pPr>
            <a:r>
              <a:rPr sz="1600">
                <a:solidFill>
                  <a:srgbClr val="C97B3D"/>
                </a:solidFill>
                <a:latin typeface="Avenir Next"/>
              </a:rPr>
              <a:t>▪  </a:t>
            </a:r>
            <a:r>
              <a:rPr sz="1650">
                <a:solidFill>
                  <a:srgbClr val="1E2A2F"/>
                </a:solidFill>
                <a:latin typeface="Avenir Next"/>
              </a:rPr>
              <a:t>No family, agency, or urgency feature reaches the top 15; sentiment is 11th despite its disputed significance.</a:t>
            </a:r>
          </a:p>
          <a:p>
            <a:pPr>
              <a:lnSpc>
                <a:spcPct val="115000"/>
              </a:lnSpc>
              <a:spcAft>
                <a:spcPts val="1200"/>
              </a:spcAft>
            </a:pPr>
            <a:r>
              <a:rPr sz="1600">
                <a:solidFill>
                  <a:srgbClr val="C97B3D"/>
                </a:solidFill>
                <a:latin typeface="Avenir Next"/>
              </a:rPr>
              <a:t>▪  </a:t>
            </a:r>
            <a:r>
              <a:rPr sz="1650">
                <a:solidFill>
                  <a:srgbClr val="1E2A2F"/>
                </a:solidFill>
                <a:latin typeface="Avenir Next"/>
              </a:rPr>
              <a:t>Complementary predictive evidence only — a different model, no region interactions; it cannot confirm or refute any coefficient's sign or uncertainty.</a:t>
            </a:r>
          </a:p>
        </p:txBody>
      </p:sp>
      <p:pic>
        <p:nvPicPr>
          <p:cNvPr id="7" name="Picture 6" descr="mod_39.png"/>
          <p:cNvPicPr>
            <a:picLocks noChangeAspect="1"/>
          </p:cNvPicPr>
          <p:nvPr/>
        </p:nvPicPr>
        <p:blipFill>
          <a:blip r:embed="rId2"/>
          <a:stretch>
            <a:fillRect/>
          </a:stretch>
        </p:blipFill>
        <p:spPr>
          <a:xfrm>
            <a:off x="7498079" y="1783080"/>
            <a:ext cx="4069080" cy="2700514"/>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modeling notebook §8 · SHAP top-15</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Structure, dose-response</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Funding speed rises almost monotonically across loan-amount deciles — small asks fund in ~2 days, the largest in ~18.</a:t>
            </a:r>
          </a:p>
          <a:p>
            <a:pPr>
              <a:lnSpc>
                <a:spcPct val="115000"/>
              </a:lnSpc>
              <a:spcAft>
                <a:spcPts val="1200"/>
              </a:spcAft>
            </a:pPr>
            <a:r>
              <a:rPr sz="1600">
                <a:solidFill>
                  <a:srgbClr val="C97B3D"/>
                </a:solidFill>
                <a:latin typeface="Avenir Next"/>
              </a:rPr>
              <a:t>▪  </a:t>
            </a:r>
            <a:r>
              <a:rPr sz="1650">
                <a:solidFill>
                  <a:srgbClr val="1E2A2F"/>
                </a:solidFill>
                <a:latin typeface="Avenir Next"/>
              </a:rPr>
              <a:t>Gender: female-posted median 2.3 days vs male 7.7 (the duration-model male coefficient +0.430 survives HC3 AND country clustering, p &lt; 0.0001 — still associational).</a:t>
            </a:r>
          </a:p>
          <a:p>
            <a:pPr>
              <a:lnSpc>
                <a:spcPct val="115000"/>
              </a:lnSpc>
              <a:spcAft>
                <a:spcPts val="1200"/>
              </a:spcAft>
            </a:pPr>
            <a:r>
              <a:rPr sz="1600">
                <a:solidFill>
                  <a:srgbClr val="C97B3D"/>
                </a:solidFill>
                <a:latin typeface="Avenir Next"/>
              </a:rPr>
              <a:t>▪  </a:t>
            </a:r>
            <a:r>
              <a:rPr sz="1650">
                <a:solidFill>
                  <a:srgbClr val="1E2A2F"/>
                </a:solidFill>
                <a:latin typeface="Avenir Next"/>
              </a:rPr>
              <a:t>This dose-response pattern is what the '~10x stronger than narrative' comparison rests on.</a:t>
            </a:r>
          </a:p>
        </p:txBody>
      </p:sp>
      <p:pic>
        <p:nvPicPr>
          <p:cNvPr id="7" name="Picture 6" descr="eda_36.png"/>
          <p:cNvPicPr>
            <a:picLocks noChangeAspect="1"/>
          </p:cNvPicPr>
          <p:nvPr/>
        </p:nvPicPr>
        <p:blipFill>
          <a:blip r:embed="rId2"/>
          <a:stretch>
            <a:fillRect/>
          </a:stretch>
        </p:blipFill>
        <p:spPr>
          <a:xfrm>
            <a:off x="7498079" y="1783080"/>
            <a:ext cx="4069080" cy="2266323"/>
          </a:xfrm>
          <a:prstGeom prst="rect">
            <a:avLst/>
          </a:prstGeom>
        </p:spPr>
      </p:pic>
      <p:sp>
        <p:nvSpPr>
          <p:cNvPr id="8" name="TextBox 7"/>
          <p:cNvSpPr txBox="1"/>
          <p:nvPr/>
        </p:nvSpPr>
        <p:spPr>
          <a:xfrm>
            <a:off x="7498079" y="6172200"/>
            <a:ext cx="4206240" cy="274320"/>
          </a:xfrm>
          <a:prstGeom prst="rect">
            <a:avLst/>
          </a:prstGeom>
          <a:noFill/>
        </p:spPr>
        <p:txBody>
          <a:bodyPr wrap="square">
            <a:spAutoFit/>
          </a:bodyPr>
          <a:lstStyle/>
          <a:p>
            <a:pPr>
              <a:defRPr sz="850" b="0" i="0">
                <a:solidFill>
                  <a:srgbClr val="6E6A5E"/>
                </a:solidFill>
                <a:latin typeface="Courier New"/>
              </a:defRPr>
            </a:pPr>
            <a:r>
              <a:t>EDA notebook §9 · speed by loan-amount decile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0"/>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C97B3D"/>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F4E5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AF7F0"/>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E2A2F"/>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C97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C97B3D"/>
                </a:solidFill>
                <a:latin typeface="Avenir Next"/>
              </a:rPr>
              <a:t>▪  </a:t>
            </a:r>
            <a:r>
              <a:rPr sz="1650">
                <a:solidFill>
                  <a:srgbClr val="1E2A2F"/>
                </a:solidFill>
                <a:latin typeface="Avenir Next"/>
              </a:rPr>
              <a:t>Holdout (posted 2024-01-01 onward): 278,887 loans; 87,466 funded within 24h vs 191,421 not.</a:t>
            </a:r>
          </a:p>
          <a:p>
            <a:pPr>
              <a:lnSpc>
                <a:spcPct val="115000"/>
              </a:lnSpc>
              <a:spcAft>
                <a:spcPts val="1200"/>
              </a:spcAft>
            </a:pPr>
            <a:r>
              <a:rPr sz="1600">
                <a:solidFill>
                  <a:srgbClr val="C97B3D"/>
                </a:solidFill>
                <a:latin typeface="Avenir Next"/>
              </a:rPr>
              <a:t>▪  </a:t>
            </a:r>
            <a:r>
              <a:rPr sz="1650">
                <a:solidFill>
                  <a:srgbClr val="1E2A2F"/>
                </a:solidFill>
                <a:latin typeface="Avenir Next"/>
              </a:rPr>
              <a:t>ROC AUC 0.8997 · average precision 0.8301 · Brier 0.1156 · accuracy 0.840 — no narrative features needed.</a:t>
            </a:r>
          </a:p>
          <a:p>
            <a:pPr>
              <a:lnSpc>
                <a:spcPct val="115000"/>
              </a:lnSpc>
              <a:spcAft>
                <a:spcPts val="1200"/>
              </a:spcAft>
            </a:pPr>
            <a:r>
              <a:rPr sz="1600">
                <a:solidFill>
                  <a:srgbClr val="C97B3D"/>
                </a:solidFill>
                <a:latin typeface="Avenir Next"/>
              </a:rPr>
              <a:t>▪  </a:t>
            </a:r>
            <a:r>
              <a:rPr sz="1650">
                <a:solidFill>
                  <a:srgbClr val="1E2A2F"/>
                </a:solidFill>
                <a:latin typeface="Avenir Next"/>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C97B3D"/>
                </a:solidFill>
                <a:latin typeface="Avenir Next"/>
              </a:rPr>
              <a:t>▪  </a:t>
            </a:r>
            <a:r>
              <a:rPr sz="1650">
                <a:solidFill>
                  <a:srgbClr val="1E2A2F"/>
                </a:solidFill>
                <a:latin typeface="Avenir Next"/>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6A5E"/>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