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the appropriate few-cluster bar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show you three trustworthy nulls than one exciting result we can't defend.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itself is predictable: our classifier ranks same-day funding at AUC 0.90 on strictly future data, without any framing features. That's strong enough to pilot an early-warning flag for loans likely to stall — pilot, with calibration, capacity and fairness checks, not a blind rollout.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KNOW that is worth more to a platform than a good-sounding tip.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1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Beyond a Good Story</a:t>
            </a:r>
          </a:p>
        </p:txBody>
      </p:sp>
      <p:sp>
        <p:nvSpPr>
          <p:cNvPr id="4" name="TextBox 3"/>
          <p:cNvSpPr txBox="1"/>
          <p:nvPr/>
        </p:nvSpPr>
        <p:spPr>
          <a:xfrm>
            <a:off x="548640" y="1417320"/>
            <a:ext cx="10515600" cy="731520"/>
          </a:xfrm>
          <a:prstGeom prst="rect">
            <a:avLst/>
          </a:prstGeom>
          <a:noFill/>
        </p:spPr>
        <p:txBody>
          <a:bodyPr wrap="square">
            <a:spAutoFit/>
          </a:bodyPr>
          <a:lstStyle/>
          <a:p>
            <a:pPr>
              <a:defRPr sz="2000">
                <a:solidFill>
                  <a:srgbClr val="6E6A5E"/>
                </a:solidFill>
              </a:defRPr>
            </a:pPr>
            <a:r>
              <a:t>When — and for whom — does persuasive loan language actually speed up funding?</a:t>
            </a:r>
          </a:p>
        </p:txBody>
      </p:sp>
      <p:sp>
        <p:nvSpPr>
          <p:cNvPr id="5" name="TextBox 4"/>
          <p:cNvSpPr txBox="1"/>
          <p:nvPr/>
        </p:nvSpPr>
        <p:spPr>
          <a:xfrm>
            <a:off x="548640" y="2240280"/>
            <a:ext cx="11064240" cy="4069080"/>
          </a:xfrm>
          <a:prstGeom prst="rect">
            <a:avLst/>
          </a:prstGeom>
          <a:noFill/>
        </p:spPr>
        <p:txBody>
          <a:bodyPr wrap="square">
            <a:spAutoFit/>
          </a:bodyPr>
          <a:lstStyle/>
          <a:p>
            <a:pPr>
              <a:spcAft>
                <a:spcPts val="1000"/>
              </a:spcAft>
              <a:defRPr sz="1700">
                <a:solidFill>
                  <a:srgbClr val="1E2A2F"/>
                </a:solidFill>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2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The question</a:t>
            </a:r>
          </a:p>
        </p:txBody>
      </p:sp>
      <p:sp>
        <p:nvSpPr>
          <p:cNvPr id="4" name="TextBox 3"/>
          <p:cNvSpPr txBox="1"/>
          <p:nvPr/>
        </p:nvSpPr>
        <p:spPr>
          <a:xfrm>
            <a:off x="548640" y="1417320"/>
            <a:ext cx="11064240" cy="4892040"/>
          </a:xfrm>
          <a:prstGeom prst="rect">
            <a:avLst/>
          </a:prstGeom>
          <a:noFill/>
        </p:spPr>
        <p:txBody>
          <a:bodyPr wrap="square">
            <a:spAutoFit/>
          </a:bodyPr>
          <a:lstStyle/>
          <a:p>
            <a:pPr>
              <a:spcAft>
                <a:spcPts val="1000"/>
              </a:spcAft>
              <a:defRPr sz="1700">
                <a:solidFill>
                  <a:srgbClr val="1E2A2F"/>
                </a:solidFill>
              </a:defRPr>
            </a:pPr>
            <a:r>
              <a:t>• When a loan's story leans on family, competence, or urgency — does it fund faster?</a:t>
            </a:r>
          </a:p>
          <a:p>
            <a:pPr>
              <a:spcAft>
                <a:spcPts val="1000"/>
              </a:spcAft>
              <a:defRPr sz="1700">
                <a:solidFill>
                  <a:srgbClr val="1E2A2F"/>
                </a:solidFill>
              </a:defRPr>
            </a:pPr>
            <a:r>
              <a:t>• Does the answer depend on WHO is asking and WHEN?</a:t>
            </a:r>
          </a:p>
          <a:p>
            <a:pPr>
              <a:spcAft>
                <a:spcPts val="1000"/>
              </a:spcAft>
              <a:defRPr sz="1700">
                <a:solidFill>
                  <a:srgbClr val="1E2A2F"/>
                </a:solidFill>
              </a:defRPr>
            </a:pPr>
            <a:r>
              <a:t>• Why it matters: framing is the one thing a platform can coach — loan size, sector and geography can't be rewritten after the fact.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3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How we made sure findings are real</a:t>
            </a:r>
          </a:p>
        </p:txBody>
      </p:sp>
      <p:sp>
        <p:nvSpPr>
          <p:cNvPr id="4" name="TextBox 3"/>
          <p:cNvSpPr txBox="1"/>
          <p:nvPr/>
        </p:nvSpPr>
        <p:spPr>
          <a:xfrm>
            <a:off x="548640" y="1417320"/>
            <a:ext cx="7680960" cy="4892040"/>
          </a:xfrm>
          <a:prstGeom prst="rect">
            <a:avLst/>
          </a:prstGeom>
          <a:noFill/>
        </p:spPr>
        <p:txBody>
          <a:bodyPr wrap="square">
            <a:spAutoFit/>
          </a:bodyPr>
          <a:lstStyle/>
          <a:p>
            <a:pPr>
              <a:spcAft>
                <a:spcPts val="1000"/>
              </a:spcAft>
              <a:defRPr sz="1700">
                <a:solidFill>
                  <a:srgbClr val="1E2A2F"/>
                </a:solidFill>
              </a:defRPr>
            </a:pPr>
            <a:r>
              <a:t>• Predictive claims: trained only on the past, tested only on loans posted 2024–2025 — no peeking at the future.</a:t>
            </a:r>
          </a:p>
          <a:p>
            <a:pPr>
              <a:spcAft>
                <a:spcPts val="1000"/>
              </a:spcAft>
              <a:defRPr sz="1700">
                <a:solidFill>
                  <a:srgbClr val="1E2A2F"/>
                </a:solidFill>
              </a:defRPr>
            </a:pPr>
            <a:r>
              <a:t>• Framing claims: every 'significant' result re-tested with country-clustered standard errors, then a harsher few-cluster reference where a result rests on a handful of countries.</a:t>
            </a:r>
          </a:p>
          <a:p>
            <a:pPr>
              <a:spcAft>
                <a:spcPts val="1000"/>
              </a:spcAft>
              <a:defRPr sz="1700">
                <a:solidFill>
                  <a:srgbClr val="1E2A2F"/>
                </a:solidFill>
              </a:defRPr>
            </a:pPr>
            <a:r>
              <a:t>• Most headline-looking results did NOT survive — that is the point of the method.</a:t>
            </a:r>
          </a:p>
          <a:p>
            <a:pPr>
              <a:spcAft>
                <a:spcPts val="1000"/>
              </a:spcAft>
              <a:defRPr sz="1700">
                <a:solidFill>
                  <a:srgbClr val="1E2A2F"/>
                </a:solidFill>
              </a:defRPr>
            </a:pPr>
            <a:r>
              <a:t>• SHAP importance shown as complementary predictive evidence only — it cannot confirm or refute a statistical finding.</a:t>
            </a:r>
          </a:p>
        </p:txBody>
      </p:sp>
      <p:sp>
        <p:nvSpPr>
          <p:cNvPr id="5" name="Rectangle 4"/>
          <p:cNvSpPr/>
          <p:nvPr/>
        </p:nvSpPr>
        <p:spPr>
          <a:xfrm>
            <a:off x="8412480" y="1417320"/>
            <a:ext cx="3200400" cy="5074920"/>
          </a:xfrm>
          <a:prstGeom prst="rect">
            <a:avLst/>
          </a:prstGeom>
          <a:solidFill>
            <a:srgbClr val="EFEADF"/>
          </a:solidFill>
          <a:ln>
            <a:solidFill>
              <a:srgbClr val="6E6A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6E6A5E"/>
                </a:solidFill>
              </a:defRPr>
            </a:pPr>
            <a:r>
              <a:t>CHART PLACEHOLDER</a:t>
            </a:r>
          </a:p>
          <a:p>
            <a:pPr algn="ctr">
              <a:defRPr sz="1200">
                <a:solidFill>
                  <a:srgbClr val="6E6A5E"/>
                </a:solidFill>
              </a:defRPr>
            </a:pPr>
          </a:p>
          <a:p>
            <a:pPr algn="ctr">
              <a:defRPr sz="1200">
                <a:solidFill>
                  <a:srgbClr val="6E6A5E"/>
                </a:solidFill>
              </a:defRPr>
            </a:pPr>
            <a:r>
              <a:t>Screenshot: modeling notebook §4 (data split) + §7.1 (cluster-robust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4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A marketplace that hasn't recovered</a:t>
            </a:r>
          </a:p>
        </p:txBody>
      </p:sp>
      <p:sp>
        <p:nvSpPr>
          <p:cNvPr id="4" name="TextBox 3"/>
          <p:cNvSpPr txBox="1"/>
          <p:nvPr/>
        </p:nvSpPr>
        <p:spPr>
          <a:xfrm>
            <a:off x="548640" y="1417320"/>
            <a:ext cx="11064240" cy="1097280"/>
          </a:xfrm>
          <a:prstGeom prst="rect">
            <a:avLst/>
          </a:prstGeom>
          <a:noFill/>
        </p:spPr>
        <p:txBody>
          <a:bodyPr wrap="square">
            <a:spAutoFit/>
          </a:bodyPr>
          <a:lstStyle/>
          <a:p>
            <a:pPr>
              <a:defRPr sz="3000" b="1">
                <a:solidFill>
                  <a:srgbClr val="C97B3D"/>
                </a:solidFill>
              </a:defRPr>
            </a:pPr>
            <a:r>
              <a:t>46% → 30% → 30%   funded within 24 hours</a:t>
            </a:r>
          </a:p>
        </p:txBody>
      </p:sp>
      <p:sp>
        <p:nvSpPr>
          <p:cNvPr id="5" name="TextBox 4"/>
          <p:cNvSpPr txBox="1"/>
          <p:nvPr/>
        </p:nvSpPr>
        <p:spPr>
          <a:xfrm>
            <a:off x="548640" y="2331720"/>
            <a:ext cx="7680960" cy="3977640"/>
          </a:xfrm>
          <a:prstGeom prst="rect">
            <a:avLst/>
          </a:prstGeom>
          <a:noFill/>
        </p:spPr>
        <p:txBody>
          <a:bodyPr wrap="square">
            <a:spAutoFit/>
          </a:bodyPr>
          <a:lstStyle/>
          <a:p>
            <a:pPr>
              <a:spcAft>
                <a:spcPts val="1000"/>
              </a:spcAft>
              <a:defRPr sz="1700">
                <a:solidFill>
                  <a:srgbClr val="1E2A2F"/>
                </a:solidFill>
              </a:defRPr>
            </a:pPr>
            <a:r>
              <a:t>• Pre-pandemic: almost half of all loans funded within a day.</a:t>
            </a:r>
          </a:p>
          <a:p>
            <a:pPr>
              <a:spcAft>
                <a:spcPts val="1000"/>
              </a:spcAft>
              <a:defRPr sz="1700">
                <a:solidFill>
                  <a:srgbClr val="1E2A2F"/>
                </a:solidFill>
              </a:defRPr>
            </a:pPr>
            <a:r>
              <a:t>• Since 2020: under a third — and through the end of the data (2025) it has NOT recovered. Persistence to date, not proof it never will.</a:t>
            </a:r>
          </a:p>
          <a:p>
            <a:pPr>
              <a:spcAft>
                <a:spcPts val="1000"/>
              </a:spcAft>
              <a:defRPr sz="1700">
                <a:solidFill>
                  <a:srgbClr val="1E2A2F"/>
                </a:solidFill>
              </a:defRPr>
            </a:pPr>
            <a:r>
              <a:t>• 589,823 loans before vs. 565,474 after — not a small, noisy sample.</a:t>
            </a:r>
          </a:p>
        </p:txBody>
      </p:sp>
      <p:sp>
        <p:nvSpPr>
          <p:cNvPr id="6" name="Rectangle 5"/>
          <p:cNvSpPr/>
          <p:nvPr/>
        </p:nvSpPr>
        <p:spPr>
          <a:xfrm>
            <a:off x="8412480" y="2331720"/>
            <a:ext cx="3200400" cy="4160520"/>
          </a:xfrm>
          <a:prstGeom prst="rect">
            <a:avLst/>
          </a:prstGeom>
          <a:solidFill>
            <a:srgbClr val="EFEADF"/>
          </a:solidFill>
          <a:ln>
            <a:solidFill>
              <a:srgbClr val="6E6A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6E6A5E"/>
                </a:solidFill>
              </a:defRPr>
            </a:pPr>
            <a:r>
              <a:t>CHART PLACEHOLDER</a:t>
            </a:r>
          </a:p>
          <a:p>
            <a:pPr algn="ctr">
              <a:defRPr sz="1200">
                <a:solidFill>
                  <a:srgbClr val="6E6A5E"/>
                </a:solidFill>
              </a:defRPr>
            </a:pPr>
          </a:p>
          <a:p>
            <a:pPr algn="ctr">
              <a:defRPr sz="1200">
                <a:solidFill>
                  <a:srgbClr val="6E6A5E"/>
                </a:solidFill>
              </a:defRPr>
            </a:pPr>
            <a:r>
              <a:t>Screenshot: EDA notebook §4 Categorical Trends (period chart)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5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Structure beats story</a:t>
            </a:r>
          </a:p>
        </p:txBody>
      </p:sp>
      <p:sp>
        <p:nvSpPr>
          <p:cNvPr id="4" name="TextBox 3"/>
          <p:cNvSpPr txBox="1"/>
          <p:nvPr/>
        </p:nvSpPr>
        <p:spPr>
          <a:xfrm>
            <a:off x="548640" y="1417320"/>
            <a:ext cx="11064240" cy="1097280"/>
          </a:xfrm>
          <a:prstGeom prst="rect">
            <a:avLst/>
          </a:prstGeom>
          <a:noFill/>
        </p:spPr>
        <p:txBody>
          <a:bodyPr wrap="square">
            <a:spAutoFit/>
          </a:bodyPr>
          <a:lstStyle/>
          <a:p>
            <a:pPr>
              <a:defRPr sz="3000" b="1">
                <a:solidFill>
                  <a:srgbClr val="C97B3D"/>
                </a:solidFill>
              </a:defRPr>
            </a:pPr>
            <a:r>
              <a:t>2.3 vs 7.7 days   median funding, female vs male</a:t>
            </a:r>
          </a:p>
        </p:txBody>
      </p:sp>
      <p:sp>
        <p:nvSpPr>
          <p:cNvPr id="5" name="TextBox 4"/>
          <p:cNvSpPr txBox="1"/>
          <p:nvPr/>
        </p:nvSpPr>
        <p:spPr>
          <a:xfrm>
            <a:off x="548640" y="2331720"/>
            <a:ext cx="7680960" cy="3977640"/>
          </a:xfrm>
          <a:prstGeom prst="rect">
            <a:avLst/>
          </a:prstGeom>
          <a:noFill/>
        </p:spPr>
        <p:txBody>
          <a:bodyPr wrap="square">
            <a:spAutoFit/>
          </a:bodyPr>
          <a:lstStyle/>
          <a:p>
            <a:pPr>
              <a:spcAft>
                <a:spcPts val="1000"/>
              </a:spcAft>
              <a:defRPr sz="1700">
                <a:solidFill>
                  <a:srgbClr val="1E2A2F"/>
                </a:solidFill>
              </a:defRPr>
            </a:pPr>
            <a:r>
              <a:t>• Loan amount + repayment terms: linked to funding speed ~10x more strongly than any single narrative choice.</a:t>
            </a:r>
          </a:p>
          <a:p>
            <a:pPr>
              <a:spcAft>
                <a:spcPts val="1000"/>
              </a:spcAft>
              <a:defRPr sz="1700">
                <a:solidFill>
                  <a:srgbClr val="1E2A2F"/>
                </a:solidFill>
              </a:defRPr>
            </a:pPr>
            <a:r>
              <a:t>• Sector alone spans well over an order of magnitude in speed; region shows similarly large gaps.</a:t>
            </a:r>
          </a:p>
          <a:p>
            <a:pPr>
              <a:spcAft>
                <a:spcPts val="1000"/>
              </a:spcAft>
              <a:defRPr sz="1700">
                <a:solidFill>
                  <a:srgbClr val="1E2A2F"/>
                </a:solidFill>
              </a:defRPr>
            </a:pPr>
            <a:r>
              <a:t>• None of this is causal — but it dwarfs anything the words do.</a:t>
            </a:r>
          </a:p>
        </p:txBody>
      </p:sp>
      <p:sp>
        <p:nvSpPr>
          <p:cNvPr id="6" name="Rectangle 5"/>
          <p:cNvSpPr/>
          <p:nvPr/>
        </p:nvSpPr>
        <p:spPr>
          <a:xfrm>
            <a:off x="8412480" y="2331720"/>
            <a:ext cx="3200400" cy="4160520"/>
          </a:xfrm>
          <a:prstGeom prst="rect">
            <a:avLst/>
          </a:prstGeom>
          <a:solidFill>
            <a:srgbClr val="EFEADF"/>
          </a:solidFill>
          <a:ln>
            <a:solidFill>
              <a:srgbClr val="6E6A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6E6A5E"/>
                </a:solidFill>
              </a:defRPr>
            </a:pPr>
            <a:r>
              <a:t>CHART PLACEHOLDER</a:t>
            </a:r>
          </a:p>
          <a:p>
            <a:pPr algn="ctr">
              <a:defRPr sz="1200">
                <a:solidFill>
                  <a:srgbClr val="6E6A5E"/>
                </a:solidFill>
              </a:defRPr>
            </a:pPr>
          </a:p>
          <a:p>
            <a:pPr algn="ctr">
              <a:defRPr sz="1200">
                <a:solidFill>
                  <a:srgbClr val="6E6A5E"/>
                </a:solidFill>
              </a:defRPr>
            </a:pPr>
            <a:r>
              <a:t>Screenshot: EDA notebook §5 Categorical Features + §9 Feature Correlations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6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What survives scrutiny</a:t>
            </a:r>
          </a:p>
        </p:txBody>
      </p:sp>
      <p:sp>
        <p:nvSpPr>
          <p:cNvPr id="4" name="TextBox 3"/>
          <p:cNvSpPr txBox="1"/>
          <p:nvPr/>
        </p:nvSpPr>
        <p:spPr>
          <a:xfrm>
            <a:off x="548640" y="1417320"/>
            <a:ext cx="11064240" cy="1097280"/>
          </a:xfrm>
          <a:prstGeom prst="rect">
            <a:avLst/>
          </a:prstGeom>
          <a:noFill/>
        </p:spPr>
        <p:txBody>
          <a:bodyPr wrap="square">
            <a:spAutoFit/>
          </a:bodyPr>
          <a:lstStyle/>
          <a:p>
            <a:pPr>
              <a:defRPr sz="3000" b="1">
                <a:solidFill>
                  <a:srgbClr val="C97B3D"/>
                </a:solidFill>
              </a:defRPr>
            </a:pPr>
            <a:r>
              <a:t>Zero narrative-framing results survive a defensible standard</a:t>
            </a:r>
          </a:p>
        </p:txBody>
      </p:sp>
      <p:sp>
        <p:nvSpPr>
          <p:cNvPr id="5" name="TextBox 4"/>
          <p:cNvSpPr txBox="1"/>
          <p:nvPr/>
        </p:nvSpPr>
        <p:spPr>
          <a:xfrm>
            <a:off x="548640" y="2331720"/>
            <a:ext cx="7680960" cy="3977640"/>
          </a:xfrm>
          <a:prstGeom prst="rect">
            <a:avLst/>
          </a:prstGeom>
          <a:noFill/>
        </p:spPr>
        <p:txBody>
          <a:bodyPr wrap="square">
            <a:spAutoFit/>
          </a:bodyPr>
          <a:lstStyle/>
          <a:p>
            <a:pPr>
              <a:spcAft>
                <a:spcPts val="1000"/>
              </a:spcAft>
              <a:defRPr sz="1700">
                <a:solidFill>
                  <a:srgbClr val="1E2A2F"/>
                </a:solidFill>
              </a:defRPr>
            </a:pPr>
            <a:r>
              <a:t>• Urgency: looked universal (p&lt;0.001) — collapses under country clustering (p≈0.44). Not recommended.</a:t>
            </a:r>
          </a:p>
          <a:p>
            <a:pPr>
              <a:spcAft>
                <a:spcPts val="1000"/>
              </a:spcAft>
              <a:defRPr sz="1700">
                <a:solidFill>
                  <a:srgbClr val="1E2A2F"/>
                </a:solidFill>
              </a:defRPr>
            </a:pPr>
            <a:r>
              <a:t>• Family: our first test asked the wrong question (region vs Africa). Corrected: Middle East (Palestine+Yemen) and Central America (Honduras+Nicaragua) show the same direction in every fit — but 2 countries each; few-cluster t(1) bar is 12.7, not 1.96: p≈0.06–0.21. A hypothesis, not a finding.</a:t>
            </a:r>
          </a:p>
          <a:p>
            <a:pPr>
              <a:spcAft>
                <a:spcPts val="1000"/>
              </a:spcAft>
              <a:defRPr sz="1700">
                <a:solidFill>
                  <a:srgbClr val="1E2A2F"/>
                </a:solidFill>
              </a:defRPr>
            </a:pPr>
            <a:r>
              <a:t>• Sentiment: positive tone ↔ slower funding, but significance flips between specifications — genuinely open.</a:t>
            </a:r>
          </a:p>
          <a:p>
            <a:pPr>
              <a:spcAft>
                <a:spcPts val="1000"/>
              </a:spcAft>
              <a:defRPr sz="1700">
                <a:solidFill>
                  <a:srgbClr val="1E2A2F"/>
                </a:solidFill>
              </a:defRPr>
            </a:pPr>
            <a:r>
              <a:t>• SHAP: no family/agency/urgency feature in the model's top 15 — complementary evidence, not confirmation.</a:t>
            </a:r>
          </a:p>
        </p:txBody>
      </p:sp>
      <p:sp>
        <p:nvSpPr>
          <p:cNvPr id="6" name="Rectangle 5"/>
          <p:cNvSpPr/>
          <p:nvPr/>
        </p:nvSpPr>
        <p:spPr>
          <a:xfrm>
            <a:off x="8412480" y="2331720"/>
            <a:ext cx="3200400" cy="4160520"/>
          </a:xfrm>
          <a:prstGeom prst="rect">
            <a:avLst/>
          </a:prstGeom>
          <a:solidFill>
            <a:srgbClr val="EFEADF"/>
          </a:solidFill>
          <a:ln>
            <a:solidFill>
              <a:srgbClr val="6E6A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6E6A5E"/>
                </a:solidFill>
              </a:defRPr>
            </a:pPr>
            <a:r>
              <a:t>CHART PLACEHOLDER</a:t>
            </a:r>
          </a:p>
          <a:p>
            <a:pPr algn="ctr">
              <a:defRPr sz="1200">
                <a:solidFill>
                  <a:srgbClr val="6E6A5E"/>
                </a:solidFill>
              </a:defRPr>
            </a:pPr>
          </a:p>
          <a:p>
            <a:pPr algn="ctr">
              <a:defRPr sz="1200">
                <a:solidFill>
                  <a:srgbClr val="6E6A5E"/>
                </a:solidFill>
              </a:defRPr>
            </a:pPr>
            <a:r>
              <a:t>Screenshot: modeling notebook §7.2 within-region slopes table + §7.1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7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Beyond keywords</a:t>
            </a:r>
          </a:p>
        </p:txBody>
      </p:sp>
      <p:sp>
        <p:nvSpPr>
          <p:cNvPr id="4" name="TextBox 3"/>
          <p:cNvSpPr txBox="1"/>
          <p:nvPr/>
        </p:nvSpPr>
        <p:spPr>
          <a:xfrm>
            <a:off x="548640" y="1417320"/>
            <a:ext cx="11064240" cy="1097280"/>
          </a:xfrm>
          <a:prstGeom prst="rect">
            <a:avLst/>
          </a:prstGeom>
          <a:noFill/>
        </p:spPr>
        <p:txBody>
          <a:bodyPr wrap="square">
            <a:spAutoFit/>
          </a:bodyPr>
          <a:lstStyle/>
          <a:p>
            <a:pPr>
              <a:defRPr sz="3000" b="1">
                <a:solidFill>
                  <a:srgbClr val="C97B3D"/>
                </a:solidFill>
              </a:defRPr>
            </a:pPr>
            <a:r>
              <a:t>1.5 → 13.5 days across story topics (&gt;9x swing)</a:t>
            </a:r>
          </a:p>
        </p:txBody>
      </p:sp>
      <p:sp>
        <p:nvSpPr>
          <p:cNvPr id="5" name="TextBox 4"/>
          <p:cNvSpPr txBox="1"/>
          <p:nvPr/>
        </p:nvSpPr>
        <p:spPr>
          <a:xfrm>
            <a:off x="548640" y="2331720"/>
            <a:ext cx="7680960" cy="3977640"/>
          </a:xfrm>
          <a:prstGeom prst="rect">
            <a:avLst/>
          </a:prstGeom>
          <a:noFill/>
        </p:spPr>
        <p:txBody>
          <a:bodyPr wrap="square">
            <a:spAutoFit/>
          </a:bodyPr>
          <a:lstStyle/>
          <a:p>
            <a:pPr>
              <a:spcAft>
                <a:spcPts val="1000"/>
              </a:spcAft>
              <a:defRPr sz="1700">
                <a:solidFill>
                  <a:srgbClr val="1E2A2F"/>
                </a:solidFill>
              </a:defRPr>
            </a:pPr>
            <a:r>
              <a:t>• Topic modeling (not keyword counts) surfaces coherent themes: livestock, health &amp; sanitation, clean water, farming, retail.</a:t>
            </a:r>
          </a:p>
          <a:p>
            <a:pPr>
              <a:spcAft>
                <a:spcPts val="1000"/>
              </a:spcAft>
              <a:defRPr sz="1700">
                <a:solidFill>
                  <a:srgbClr val="1E2A2F"/>
                </a:solidFill>
              </a:defRPr>
            </a:pPr>
            <a:r>
              <a:t>• The largest single gap anywhere in the analysis — but a topic mostly encodes what the loan is FOR. Structure again, not persuasion.</a:t>
            </a:r>
          </a:p>
        </p:txBody>
      </p:sp>
      <p:sp>
        <p:nvSpPr>
          <p:cNvPr id="6" name="Rectangle 5"/>
          <p:cNvSpPr/>
          <p:nvPr/>
        </p:nvSpPr>
        <p:spPr>
          <a:xfrm>
            <a:off x="8412480" y="2331720"/>
            <a:ext cx="3200400" cy="4160520"/>
          </a:xfrm>
          <a:prstGeom prst="rect">
            <a:avLst/>
          </a:prstGeom>
          <a:solidFill>
            <a:srgbClr val="EFEADF"/>
          </a:solidFill>
          <a:ln>
            <a:solidFill>
              <a:srgbClr val="6E6A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6E6A5E"/>
                </a:solidFill>
              </a:defRPr>
            </a:pPr>
            <a:r>
              <a:t>CHART PLACEHOLDER</a:t>
            </a:r>
          </a:p>
          <a:p>
            <a:pPr algn="ctr">
              <a:defRPr sz="1200">
                <a:solidFill>
                  <a:srgbClr val="6E6A5E"/>
                </a:solidFill>
              </a:defRPr>
            </a:pPr>
          </a:p>
          <a:p>
            <a:pPr algn="ctr">
              <a:defRPr sz="1200">
                <a:solidFill>
                  <a:srgbClr val="6E6A5E"/>
                </a:solidFill>
              </a:defRPr>
            </a:pPr>
            <a:r>
              <a:t>Screenshot: EDA notebook §8 Topic Modeling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8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What this means in practice</a:t>
            </a:r>
          </a:p>
        </p:txBody>
      </p:sp>
      <p:sp>
        <p:nvSpPr>
          <p:cNvPr id="4" name="TextBox 3"/>
          <p:cNvSpPr txBox="1"/>
          <p:nvPr/>
        </p:nvSpPr>
        <p:spPr>
          <a:xfrm>
            <a:off x="548640" y="1417320"/>
            <a:ext cx="11064240" cy="4892040"/>
          </a:xfrm>
          <a:prstGeom prst="rect">
            <a:avLst/>
          </a:prstGeom>
          <a:noFill/>
        </p:spPr>
        <p:txBody>
          <a:bodyPr wrap="square">
            <a:spAutoFit/>
          </a:bodyPr>
          <a:lstStyle/>
          <a:p>
            <a:pPr>
              <a:spcAft>
                <a:spcPts val="1000"/>
              </a:spcAft>
              <a:defRPr sz="1700">
                <a:solidFill>
                  <a:srgbClr val="1E2A2F"/>
                </a:solidFill>
              </a:defRPr>
            </a:pPr>
            <a:r>
              <a:t>• DON'T ship writing tips — a platform-wide 'add urgency' nudge would be built on a result that doesn't survive testing.</a:t>
            </a:r>
          </a:p>
          <a:p>
            <a:pPr>
              <a:spcAft>
                <a:spcPts val="1000"/>
              </a:spcAft>
              <a:defRPr sz="1700">
                <a:solidFill>
                  <a:srgbClr val="1E2A2F"/>
                </a:solidFill>
              </a:defRPr>
            </a:pPr>
            <a:r>
              <a:t>• DO run a country-stratified A/B test of family framing in exactly those 4 markets — that's how a hypothesis becomes a decision.</a:t>
            </a:r>
          </a:p>
          <a:p>
            <a:pPr>
              <a:spcAft>
                <a:spcPts val="1000"/>
              </a:spcAft>
              <a:defRPr sz="1700">
                <a:solidFill>
                  <a:srgbClr val="1E2A2F"/>
                </a:solidFill>
              </a:defRPr>
            </a:pPr>
            <a:r>
              <a:t>• DO review the structural gaps (sector / region / gender) — they are ~10x the size of any wording effect.</a:t>
            </a:r>
          </a:p>
          <a:p>
            <a:pPr>
              <a:spcAft>
                <a:spcPts val="1000"/>
              </a:spcAft>
              <a:defRPr sz="1700">
                <a:solidFill>
                  <a:srgbClr val="1E2A2F"/>
                </a:solidFill>
              </a:defRPr>
            </a:pPr>
            <a:r>
              <a:t>• PILOT a same-day-funding risk flag: holdout ROC AUC ≈ 0.90 on strictly future data — with calibration, capacity and fairness checks first.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9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What this can't tell us</a:t>
            </a:r>
          </a:p>
        </p:txBody>
      </p:sp>
      <p:sp>
        <p:nvSpPr>
          <p:cNvPr id="4" name="TextBox 3"/>
          <p:cNvSpPr txBox="1"/>
          <p:nvPr/>
        </p:nvSpPr>
        <p:spPr>
          <a:xfrm>
            <a:off x="548640" y="1417320"/>
            <a:ext cx="11064240" cy="4892040"/>
          </a:xfrm>
          <a:prstGeom prst="rect">
            <a:avLst/>
          </a:prstGeom>
          <a:noFill/>
        </p:spPr>
        <p:txBody>
          <a:bodyPr wrap="square">
            <a:spAutoFit/>
          </a:bodyPr>
          <a:lstStyle/>
          <a:p>
            <a:pPr>
              <a:spcAft>
                <a:spcPts val="1000"/>
              </a:spcAft>
              <a:defRPr sz="1700">
                <a:solidFill>
                  <a:srgbClr val="1E2A2F"/>
                </a:solidFill>
              </a:defRPr>
            </a:pPr>
            <a:r>
              <a:t>• Association, never causation — no borrower was randomly assigned a writing style.</a:t>
            </a:r>
          </a:p>
          <a:p>
            <a:pPr>
              <a:spcAft>
                <a:spcPts val="1000"/>
              </a:spcAft>
              <a:defRPr sz="1700">
                <a:solidFill>
                  <a:srgbClr val="1E2A2F"/>
                </a:solidFill>
              </a:defRPr>
            </a:pPr>
            <a:r>
              <a:t>• Measures how fast a FUNDED loan funds — not whether a loan gets funded at all.</a:t>
            </a:r>
          </a:p>
          <a:p>
            <a:pPr>
              <a:spcAft>
                <a:spcPts val="1000"/>
              </a:spcAft>
              <a:defRPr sz="1700">
                <a:solidFill>
                  <a:srgbClr val="1E2A2F"/>
                </a:solidFill>
              </a:defRPr>
            </a:pPr>
            <a:r>
              <a:t>• Framing measured with transparent, simple rules — not every nuance of persuasive writing.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292840" y="228600"/>
            <a:ext cx="731520" cy="365760"/>
          </a:xfrm>
          <a:prstGeom prst="rect">
            <a:avLst/>
          </a:prstGeom>
          <a:noFill/>
        </p:spPr>
        <p:txBody>
          <a:bodyPr wrap="none">
            <a:spAutoFit/>
          </a:bodyPr>
          <a:lstStyle/>
          <a:p>
            <a:pPr>
              <a:defRPr sz="1200">
                <a:solidFill>
                  <a:srgbClr val="6E6A5E"/>
                </a:solidFill>
              </a:defRPr>
            </a:pPr>
            <a:r>
              <a:t>10 / 10</a:t>
            </a:r>
          </a:p>
        </p:txBody>
      </p:sp>
      <p:sp>
        <p:nvSpPr>
          <p:cNvPr id="3" name="TextBox 2"/>
          <p:cNvSpPr txBox="1"/>
          <p:nvPr/>
        </p:nvSpPr>
        <p:spPr>
          <a:xfrm>
            <a:off x="548640" y="411480"/>
            <a:ext cx="10515600" cy="1005840"/>
          </a:xfrm>
          <a:prstGeom prst="rect">
            <a:avLst/>
          </a:prstGeom>
          <a:noFill/>
        </p:spPr>
        <p:txBody>
          <a:bodyPr wrap="square">
            <a:spAutoFit/>
          </a:bodyPr>
          <a:lstStyle/>
          <a:p>
            <a:pPr>
              <a:defRPr sz="4000" b="1">
                <a:solidFill>
                  <a:srgbClr val="1F4E5F"/>
                </a:solidFill>
              </a:defRPr>
            </a:pPr>
            <a:r>
              <a:t>Closing</a:t>
            </a:r>
          </a:p>
        </p:txBody>
      </p:sp>
      <p:sp>
        <p:nvSpPr>
          <p:cNvPr id="4" name="TextBox 3"/>
          <p:cNvSpPr txBox="1"/>
          <p:nvPr/>
        </p:nvSpPr>
        <p:spPr>
          <a:xfrm>
            <a:off x="548640" y="1417320"/>
            <a:ext cx="11064240" cy="1097280"/>
          </a:xfrm>
          <a:prstGeom prst="rect">
            <a:avLst/>
          </a:prstGeom>
          <a:noFill/>
        </p:spPr>
        <p:txBody>
          <a:bodyPr wrap="square">
            <a:spAutoFit/>
          </a:bodyPr>
          <a:lstStyle/>
          <a:p>
            <a:pPr>
              <a:defRPr sz="3000" b="1">
                <a:solidFill>
                  <a:srgbClr val="C97B3D"/>
                </a:solidFill>
              </a:defRPr>
            </a:pPr>
            <a:r>
              <a:t>“The story barely registers.</a:t>
            </a:r>
          </a:p>
          <a:p>
            <a:pPr>
              <a:defRPr sz="3000" b="1">
                <a:solidFill>
                  <a:srgbClr val="C97B3D"/>
                </a:solidFill>
              </a:defRPr>
            </a:pPr>
            <a:r>
              <a:t>The structure carries the signal.”</a:t>
            </a:r>
          </a:p>
        </p:txBody>
      </p:sp>
      <p:sp>
        <p:nvSpPr>
          <p:cNvPr id="5" name="TextBox 4"/>
          <p:cNvSpPr txBox="1"/>
          <p:nvPr/>
        </p:nvSpPr>
        <p:spPr>
          <a:xfrm>
            <a:off x="548640" y="2926080"/>
            <a:ext cx="11064240" cy="3383280"/>
          </a:xfrm>
          <a:prstGeom prst="rect">
            <a:avLst/>
          </a:prstGeom>
          <a:noFill/>
        </p:spPr>
        <p:txBody>
          <a:bodyPr wrap="square">
            <a:spAutoFit/>
          </a:bodyPr>
          <a:lstStyle/>
          <a:p>
            <a:pPr>
              <a:spcAft>
                <a:spcPts val="1000"/>
              </a:spcAft>
              <a:defRPr sz="1700">
                <a:solidFill>
                  <a:srgbClr val="1E2A2F"/>
                </a:solidFill>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