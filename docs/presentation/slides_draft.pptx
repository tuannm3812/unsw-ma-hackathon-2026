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a:p/>
          <a:p>
            <a:r>
              <a:t>[Sources] Chart: modeling notebook SS6 (boosted forecast vs actual, chronological holdout). Split sizes: analysis_summary.json.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a:p/>
          <a:p>
            <a:r>
              <a:t>[Sources] Chart: EDA SS5 sector figure (executed notebook). Gender medians: EDA SS4 printout. 10x basis: EDA SS9 correlations.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say, honestly, that there is no robust evidence for the story is worth more to a platform than a good-sounding tip. Thank you — we're happy to take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panel: EDA SS5 figure. Pooled definitions + p-values: association_summary.txt within-region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mod_21.png"/>
          <p:cNvPicPr>
            <a:picLocks noChangeAspect="1"/>
          </p:cNvPicPr>
          <p:nvPr/>
        </p:nvPicPr>
        <p:blipFill>
          <a:blip r:embed="rId2"/>
          <a:stretch>
            <a:fillRect/>
          </a:stretch>
        </p:blipFill>
        <p:spPr>
          <a:xfrm>
            <a:off x="7498079" y="1783080"/>
            <a:ext cx="4069080" cy="4074986"/>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1. </a:t>
            </a:r>
            <a:r>
              <a:rPr sz="900">
                <a:solidFill>
                  <a:srgbClr val="1C2333"/>
                </a:solidFill>
                <a:latin typeface="DM Sans"/>
              </a:rPr>
              <a:t>Predicted vs. actual funding speed on the chronological holdout.</a:t>
            </a:r>
          </a:p>
          <a:p>
            <a:r>
              <a:rPr sz="800">
                <a:solidFill>
                  <a:srgbClr val="6E7278"/>
                </a:solidFill>
                <a:latin typeface="DM Sans"/>
              </a:rPr>
              <a:t>Notes: Boosted model; loans posted 2024-01-01 onward (n = 278,887). Modeling notebook §6.</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498079" y="2834639"/>
            <a:ext cx="4069080" cy="2835091"/>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2. </a:t>
            </a:r>
            <a:r>
              <a:rPr sz="900">
                <a:solidFill>
                  <a:srgbClr val="1C2333"/>
                </a:solidFill>
                <a:latin typeface="DM Sans"/>
              </a:rPr>
              <a:t>Share of loans funded within 24 hours, by analysis period.</a:t>
            </a:r>
          </a:p>
          <a:p>
            <a:r>
              <a:rPr sz="800">
                <a:solidFill>
                  <a:srgbClr val="6E7278"/>
                </a:solidFill>
                <a:latin typeface="DM Sans"/>
              </a:rPr>
              <a:t>Notes: Exact shares 46.0% / 30.3% / 30.0%; period sizes shown in axis labels.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eda_22.png"/>
          <p:cNvPicPr>
            <a:picLocks noChangeAspect="1"/>
          </p:cNvPicPr>
          <p:nvPr/>
        </p:nvPicPr>
        <p:blipFill>
          <a:blip r:embed="rId2"/>
          <a:stretch>
            <a:fillRect/>
          </a:stretch>
        </p:blipFill>
        <p:spPr>
          <a:xfrm>
            <a:off x="7750064" y="2834639"/>
            <a:ext cx="3565109" cy="315468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3. </a:t>
            </a:r>
            <a:r>
              <a:rPr sz="900">
                <a:solidFill>
                  <a:srgbClr val="1C2333"/>
                </a:solidFill>
                <a:latin typeface="DM Sans"/>
              </a:rPr>
              <a:t>Average funding speed by sector.</a:t>
            </a:r>
          </a:p>
          <a:p>
            <a:r>
              <a:rPr sz="800">
                <a:solidFill>
                  <a:srgbClr val="6E7278"/>
                </a:solidFill>
                <a:latin typeface="DM Sans"/>
              </a:rPr>
              <a:t>Notes: Bar annotations give per-sector loan counts; dashed line = overall average. EDA notebook §5.</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2834639"/>
            <a:ext cx="4069080" cy="242316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4. </a:t>
            </a:r>
            <a:r>
              <a:rPr sz="900">
                <a:solidFill>
                  <a:srgbClr val="1C2333"/>
                </a:solidFill>
                <a:latin typeface="DM Sans"/>
              </a:rPr>
              <a:t>Average within-region family-framing slope (duration model).</a:t>
            </a:r>
          </a:p>
          <a:p>
            <a:r>
              <a:rPr sz="800">
                <a:solidFill>
                  <a:srgbClr val="6E7278"/>
                </a:solidFill>
                <a:latin typeface="DM Sans"/>
              </a:rPr>
              <a:t>Notes: Slopes averaged over each region's own moderator mix; few-cluster screen is a conservative heuristic. Executed modeling notebook §7.2.</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2834639"/>
            <a:ext cx="4069080" cy="2312363"/>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5. </a:t>
            </a:r>
            <a:r>
              <a:rPr sz="900">
                <a:solidFill>
                  <a:srgbClr val="1C2333"/>
                </a:solidFill>
                <a:latin typeface="DM Sans"/>
              </a:rPr>
              <a:t>Mean funding speed by story theme.</a:t>
            </a:r>
          </a:p>
          <a:p>
            <a:r>
              <a:rPr sz="800">
                <a:solidFill>
                  <a:srgbClr val="6E7278"/>
                </a:solidFill>
                <a:latin typeface="DM Sans"/>
              </a:rPr>
              <a:t>Notes: TF-IDF + NMF, 8 topics, 20K-description sample; themes named from each topic's top words. EDA notebook §8.</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_speed.png"/>
          <p:cNvPicPr>
            <a:picLocks noChangeAspect="1"/>
          </p:cNvPicPr>
          <p:nvPr/>
        </p:nvPicPr>
        <p:blipFill>
          <a:blip r:embed="rId2"/>
          <a:stretch>
            <a:fillRect/>
          </a:stretch>
        </p:blipFill>
        <p:spPr>
          <a:xfrm>
            <a:off x="7498079" y="1783080"/>
            <a:ext cx="4069080" cy="3259729"/>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6. </a:t>
            </a:r>
            <a:r>
              <a:rPr sz="900">
                <a:solidFill>
                  <a:srgbClr val="1C2333"/>
                </a:solidFill>
                <a:latin typeface="DM Sans"/>
              </a:rPr>
              <a:t>Average funding speed by region.</a:t>
            </a:r>
          </a:p>
          <a:p>
            <a:r>
              <a:rPr sz="800">
                <a:solidFill>
                  <a:srgbClr val="6E7278"/>
                </a:solidFill>
                <a:latin typeface="DM Sans"/>
              </a:rPr>
              <a:t>Notes: Bar annotations give per-region loan counts; dashed line = overall average. EDA notebook §5.</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069080" cy="2386105"/>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7. </a:t>
            </a:r>
            <a:r>
              <a:rPr sz="900">
                <a:solidFill>
                  <a:srgbClr val="1C2333"/>
                </a:solidFill>
                <a:latin typeface="DM Sans"/>
              </a:rPr>
              <a:t>Top 15 features by mean |SHAP| value, boosted model.</a:t>
            </a:r>
          </a:p>
          <a:p>
            <a:r>
              <a:rPr sz="800">
                <a:solidFill>
                  <a:srgbClr val="6E7278"/>
                </a:solidFill>
                <a:latin typeface="DM Sans"/>
              </a:rPr>
              <a:t>Notes: 2,000-loan holdout sample; sentiment (11th) highlighted as the only narrative feature. Modeling notebook §8.</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069080" cy="2099003"/>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8. </a:t>
            </a:r>
            <a:r>
              <a:rPr sz="900">
                <a:solidFill>
                  <a:srgbClr val="1C2333"/>
                </a:solidFill>
                <a:latin typeface="DM Sans"/>
              </a:rPr>
              <a:t>Correlation with funding speed: structural vs narrative features.</a:t>
            </a:r>
          </a:p>
          <a:p>
            <a:r>
              <a:rPr sz="800">
                <a:solidFill>
                  <a:srgbClr val="6E7278"/>
                </a:solidFill>
                <a:latin typeface="DM Sans"/>
              </a:rPr>
              <a:t>Notes: Absolute Pearson correlations from the full valid sample. EDA notebook §9.</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