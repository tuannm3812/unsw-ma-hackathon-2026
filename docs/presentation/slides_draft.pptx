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 we're Cultural Blend. Kiva is built on stories: every loan page leads with one. So we asked a simple question of 1.45 million real loans: does the story actually move the money?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Specifically: when a borrower's story leans on family, on competence, on urgency — does the loan fund faster? And does the answer depend on who's asking, and when? We care because language is the one thing a platform can coach. You can't rewrite a loan's size, sector, or country after the fact — but you could suggest better words. IF words work. That's the claim we set out to test, not assume.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disciplines before any findings. For prediction, we train only on the past and test only on loans posted in 2024–25 — no peeking at the future. For the framing claims, every 'significant' result had to survive re-testing: first with standard errors clustered by country, so ten thousand loans from one country can't masquerade as ten thousand independent pieces of evidence — and where a result rested on just a couple of countries, a deliberately harsher few-cluster reference on top. Most headline-looking results did not survive. That's the point: we'd rather lose a finding than present a fluke.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pandemic, almost half of Kiva loans — 46% — funded within 24 hours. Since 2020, it's been under a third — and through the end of our data in 2025 it has not recovered. That's more than half a million loans on each side of the divide, so this isn't noise. Every result we show next lives inside this slower, tighter marketplace — lenders are more selective now, which makes knowing what actually drives speed more valuable, not less.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does drive speed? Structure. Loan amount and repayment terms are associated with funding speed roughly ten times more strongly than any single narrative choice. Sector alone spans more than an order of magnitude. And the starkest gap in the data: loans posted by women fund in a median of 2.3 days; by men, 7.7 — more than three times longer. None of this is causal — but the pattern is enormous, it's stable, and it dwarfs anything the words 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question we came to answer — and the honest answer is that nothing about the narrative survives our own scrutiny. Urgency language looked like a clean, universal win: significant at p&lt;0.001. Cluster by country, and it collapses to p≈0.44. Gone. Family framing — here our own first version got it wrong: we tested whether regions differ from Africa, which is not the same as whether family framing helps WITHIN a region. Corrected, two pooled categories — Palestine+Yemen, and Honduras+Nicaragua — do show faster funding in every fit we ran. But each rests on exactly two countries, and against the appropriate few-cluster bar — a t distribution with one degree of freedom, where the critical value is 12.7, not 1.96 — neither is significant: p between 0.06 and 0.21. So we report it as a hypothesis worth testing, not a finding. Sentiment tone: more positive language associates with SLOWER funding, but its significance flips between our two specifications — we call it open. We'd rather show you three trustworthy nulls than one exciting result we can't defend.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went beyond keyword counting. Topic modeling finds coherent themes in the stories — livestock, health and sanitation, clean water, farming, retail — and funding speed swings ninefold across them, from a day and a half to nearly two weeks. But notice what a topic mostly encodes: what the loan is FOR. Which is structure again — not persuasion.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should Kiva actually do? Three things. First — don't ship writing tips. A platform-wide 'add urgency' nudge would be built on a result that doesn't survive testing. The family-framing pattern deserves a country-stratified A/B test in exactly those four markets: that's how a hypothesis becomes a decision, and it's cheap to run. Second — the structural gaps are where the real levers are: review how the consistently slower sectors and regions are surfaced, bundled, and supported, because those gaps are ten times the size of any wording effect. Third — speed itself is predictable: our classifier ranks same-day funding at AUC 0.90 on strictly future data, without any framing features. That's strong enough to pilot an early-warning flag for loans likely to stall — pilot, with calibration, capacity and fairness checks, not a blind rollout.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honest limits. This is association, never causation — no borrower was randomly assigned a writing style. We measure how fast funded loans fund — not whether a loan funds at all. And our framing measures are transparent, simple rules — they don't capture every nuance of persuasion. We'd rather you know exactly what this analysis can and cannot say — that's what makes the parts we do claim worth trusting.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data, the story barely registers — the structure carries the signal. And testing hard enough to KNOW that is worth more to a platform than a good-sounding tip. Thank you — we're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4E5F"/>
        </a:solidFill>
        <a:effectLst/>
      </p:bgPr>
    </p:bg>
    <p:spTree>
      <p:nvGrpSpPr>
        <p:cNvPr id="1" name=""/>
        <p:cNvGrpSpPr/>
        <p:nvPr/>
      </p:nvGrpSpPr>
      <p:grpSpPr/>
      <p:sp>
        <p:nvSpPr>
          <p:cNvPr id="2" name="Rectangle 1"/>
          <p:cNvSpPr/>
          <p:nvPr/>
        </p:nvSpPr>
        <p:spPr>
          <a:xfrm>
            <a:off x="822960" y="1874519"/>
            <a:ext cx="1463040" cy="5080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34440"/>
            <a:ext cx="10515600" cy="457200"/>
          </a:xfrm>
          <a:prstGeom prst="rect">
            <a:avLst/>
          </a:prstGeom>
          <a:noFill/>
        </p:spPr>
        <p:txBody>
          <a:bodyPr wrap="square">
            <a:spAutoFit/>
          </a:bodyPr>
          <a:lstStyle/>
          <a:p>
            <a:pPr>
              <a:defRPr sz="1300" b="0" i="0">
                <a:solidFill>
                  <a:srgbClr val="C97B3D"/>
                </a:solidFill>
                <a:latin typeface="Courier New"/>
              </a:defRPr>
            </a:pPr>
            <a:r>
              <a:t>UNSW MARKETING ANALYTICS HACKATHON · FINAL</a:t>
            </a:r>
          </a:p>
        </p:txBody>
      </p:sp>
      <p:sp>
        <p:nvSpPr>
          <p:cNvPr id="4" name="TextBox 3"/>
          <p:cNvSpPr txBox="1"/>
          <p:nvPr/>
        </p:nvSpPr>
        <p:spPr>
          <a:xfrm>
            <a:off x="777240" y="2103120"/>
            <a:ext cx="10789920" cy="2011680"/>
          </a:xfrm>
          <a:prstGeom prst="rect">
            <a:avLst/>
          </a:prstGeom>
          <a:noFill/>
        </p:spPr>
        <p:txBody>
          <a:bodyPr wrap="square">
            <a:spAutoFit/>
          </a:bodyPr>
          <a:lstStyle/>
          <a:p>
            <a:pPr>
              <a:defRPr sz="6600" b="1" i="0">
                <a:solidFill>
                  <a:srgbClr val="FAF7F0"/>
                </a:solidFill>
                <a:latin typeface="Georgia"/>
              </a:defRPr>
            </a:pPr>
            <a:r>
              <a:t>Beyond a Good Story</a:t>
            </a:r>
          </a:p>
        </p:txBody>
      </p:sp>
      <p:sp>
        <p:nvSpPr>
          <p:cNvPr id="5" name="TextBox 4"/>
          <p:cNvSpPr txBox="1"/>
          <p:nvPr/>
        </p:nvSpPr>
        <p:spPr>
          <a:xfrm>
            <a:off x="822960" y="3977639"/>
            <a:ext cx="8961120" cy="1097280"/>
          </a:xfrm>
          <a:prstGeom prst="rect">
            <a:avLst/>
          </a:prstGeom>
          <a:noFill/>
        </p:spPr>
        <p:txBody>
          <a:bodyPr wrap="square">
            <a:spAutoFit/>
          </a:bodyPr>
          <a:lstStyle/>
          <a:p>
            <a:pPr>
              <a:defRPr sz="2200" b="0" i="1">
                <a:solidFill>
                  <a:srgbClr val="B8CED6"/>
                </a:solidFill>
                <a:latin typeface="Avenir Next"/>
              </a:defRPr>
            </a:pPr>
            <a:r>
              <a:t>When — and for whom — does persuasive loan language actually speed up funding?</a:t>
            </a:r>
          </a:p>
        </p:txBody>
      </p:sp>
      <p:sp>
        <p:nvSpPr>
          <p:cNvPr id="6" name="TextBox 5"/>
          <p:cNvSpPr txBox="1"/>
          <p:nvPr/>
        </p:nvSpPr>
        <p:spPr>
          <a:xfrm>
            <a:off x="822960" y="5760720"/>
            <a:ext cx="10515600" cy="548640"/>
          </a:xfrm>
          <a:prstGeom prst="rect">
            <a:avLst/>
          </a:prstGeom>
          <a:noFill/>
        </p:spPr>
        <p:txBody>
          <a:bodyPr wrap="square">
            <a:spAutoFit/>
          </a:bodyPr>
          <a:lstStyle/>
          <a:p>
            <a:pPr>
              <a:defRPr sz="1500" b="0" i="0">
                <a:solidFill>
                  <a:srgbClr val="8FB0BB"/>
                </a:solidFill>
                <a:latin typeface="Courier New"/>
              </a:defRPr>
            </a:pPr>
            <a:r>
              <a:t>Team Cultural Blend  ·  Kiva loan data  ·  1.45 million real loans (2016–2025)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MOTIVATION</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2/10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The question</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0881360" cy="461772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When a loan's story leans on family, competence, or urgency — does it fund faster?</a:t>
            </a:r>
          </a:p>
          <a:p>
            <a:pPr>
              <a:lnSpc>
                <a:spcPct val="115000"/>
              </a:lnSpc>
              <a:spcAft>
                <a:spcPts val="1200"/>
              </a:spcAft>
            </a:pPr>
            <a:r>
              <a:rPr sz="1600">
                <a:solidFill>
                  <a:srgbClr val="C97B3D"/>
                </a:solidFill>
                <a:latin typeface="Avenir Next"/>
              </a:rPr>
              <a:t>▪  </a:t>
            </a:r>
            <a:r>
              <a:rPr sz="1650">
                <a:solidFill>
                  <a:srgbClr val="1E2A2F"/>
                </a:solidFill>
                <a:latin typeface="Avenir Next"/>
              </a:rPr>
              <a:t>Does the answer depend on WHO is asking and WHEN?</a:t>
            </a:r>
          </a:p>
          <a:p>
            <a:pPr>
              <a:lnSpc>
                <a:spcPct val="115000"/>
              </a:lnSpc>
              <a:spcAft>
                <a:spcPts val="1200"/>
              </a:spcAft>
            </a:pPr>
            <a:r>
              <a:rPr sz="1600">
                <a:solidFill>
                  <a:srgbClr val="C97B3D"/>
                </a:solidFill>
                <a:latin typeface="Avenir Next"/>
              </a:rPr>
              <a:t>▪  </a:t>
            </a:r>
            <a:r>
              <a:rPr sz="1650">
                <a:solidFill>
                  <a:srgbClr val="1E2A2F"/>
                </a:solidFill>
                <a:latin typeface="Avenir Next"/>
              </a:rPr>
              <a:t>Why it matters: framing is the one thing a platform can coach — loan size, sector and geography can't be rewritten after the fact.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METHOD</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3/10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How we made sure findings are real</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7498079" cy="461772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Predictive claims: trained only on the past, tested only on loans posted 2024–2025 — no peeking at the future.</a:t>
            </a:r>
          </a:p>
          <a:p>
            <a:pPr>
              <a:lnSpc>
                <a:spcPct val="115000"/>
              </a:lnSpc>
              <a:spcAft>
                <a:spcPts val="1200"/>
              </a:spcAft>
            </a:pPr>
            <a:r>
              <a:rPr sz="1600">
                <a:solidFill>
                  <a:srgbClr val="C97B3D"/>
                </a:solidFill>
                <a:latin typeface="Avenir Next"/>
              </a:rPr>
              <a:t>▪  </a:t>
            </a:r>
            <a:r>
              <a:rPr sz="1650">
                <a:solidFill>
                  <a:srgbClr val="1E2A2F"/>
                </a:solidFill>
                <a:latin typeface="Avenir Next"/>
              </a:rPr>
              <a:t>Framing claims: every ‘significant’ result re-tested with country-clustered standard errors, then a harsher few-cluster reference where a result rests on a handful of countries.</a:t>
            </a:r>
          </a:p>
          <a:p>
            <a:pPr>
              <a:lnSpc>
                <a:spcPct val="115000"/>
              </a:lnSpc>
              <a:spcAft>
                <a:spcPts val="1200"/>
              </a:spcAft>
            </a:pPr>
            <a:r>
              <a:rPr sz="1600">
                <a:solidFill>
                  <a:srgbClr val="C97B3D"/>
                </a:solidFill>
                <a:latin typeface="Avenir Next"/>
              </a:rPr>
              <a:t>▪  </a:t>
            </a:r>
            <a:r>
              <a:rPr sz="1650">
                <a:solidFill>
                  <a:srgbClr val="1E2A2F"/>
                </a:solidFill>
                <a:latin typeface="Avenir Next"/>
              </a:rPr>
              <a:t>Most headline-looking results did NOT survive — that is the point of the method.</a:t>
            </a:r>
          </a:p>
          <a:p>
            <a:pPr>
              <a:lnSpc>
                <a:spcPct val="115000"/>
              </a:lnSpc>
              <a:spcAft>
                <a:spcPts val="1200"/>
              </a:spcAft>
            </a:pPr>
            <a:r>
              <a:rPr sz="1600">
                <a:solidFill>
                  <a:srgbClr val="C97B3D"/>
                </a:solidFill>
                <a:latin typeface="Avenir Next"/>
              </a:rPr>
              <a:t>▪  </a:t>
            </a:r>
            <a:r>
              <a:rPr sz="1650">
                <a:solidFill>
                  <a:srgbClr val="1E2A2F"/>
                </a:solidFill>
                <a:latin typeface="Avenir Next"/>
              </a:rPr>
              <a:t>SHAP importance shown as complementary predictive evidence only — it cannot confirm or refute a statistical finding.</a:t>
            </a:r>
          </a:p>
        </p:txBody>
      </p:sp>
      <p:sp>
        <p:nvSpPr>
          <p:cNvPr id="7" name="Rounded Rectangle 6"/>
          <p:cNvSpPr/>
          <p:nvPr/>
        </p:nvSpPr>
        <p:spPr>
          <a:xfrm>
            <a:off x="8458200" y="1783080"/>
            <a:ext cx="3108960" cy="4206240"/>
          </a:xfrm>
          <a:prstGeom prst="roundRect">
            <a:avLst/>
          </a:prstGeom>
          <a:solidFill>
            <a:srgbClr val="F1EBDF"/>
          </a:solidFill>
          <a:ln w="9525">
            <a:solidFill>
              <a:srgbClr val="DCD3C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i="0">
                <a:solidFill>
                  <a:srgbClr val="1F4E5F"/>
                </a:solidFill>
                <a:latin typeface="Courier New"/>
              </a:defRPr>
            </a:pPr>
            <a:r>
              <a:t>CHART GOES HERE</a:t>
            </a:r>
          </a:p>
          <a:p>
            <a:br/>
            <a:pPr algn="ctr">
              <a:defRPr sz="1100" b="0" i="0">
                <a:solidFill>
                  <a:srgbClr val="6E6A5E"/>
                </a:solidFill>
                <a:latin typeface="Avenir Next"/>
              </a:defRPr>
            </a:pPr>
            <a:r>
              <a:t>screenshot from:</a:t>
            </a:r>
            <a:br/>
            <a:r>
              <a:t>modeling notebook §4 data split · §7.1 cluster-robust check</a:t>
            </a:r>
          </a:p>
        </p:txBody>
      </p:sp>
      <p:sp>
        <p:nvSpPr>
          <p:cNvPr id="8" name="TextBox 7"/>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FINDING 1 · THE MARKET</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4/10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A marketplace that hasn't recovered</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0972800" cy="914400"/>
          </a:xfrm>
          <a:prstGeom prst="rect">
            <a:avLst/>
          </a:prstGeom>
          <a:noFill/>
        </p:spPr>
        <p:txBody>
          <a:bodyPr wrap="square">
            <a:spAutoFit/>
          </a:bodyPr>
          <a:lstStyle/>
          <a:p>
            <a:pPr>
              <a:defRPr sz="4000" b="1" i="0">
                <a:solidFill>
                  <a:srgbClr val="C97B3D"/>
                </a:solidFill>
                <a:latin typeface="Georgia"/>
              </a:defRPr>
            </a:pPr>
            <a:r>
              <a:t>46%  →  30%  →  30%  </a:t>
            </a:r>
            <a:r>
              <a:rPr sz="1600" b="0">
                <a:solidFill>
                  <a:srgbClr val="6E6A5E"/>
                </a:solidFill>
                <a:latin typeface="Avenir Next"/>
              </a:rPr>
              <a:t>funded within 24 hours</a:t>
            </a:r>
          </a:p>
        </p:txBody>
      </p:sp>
      <p:sp>
        <p:nvSpPr>
          <p:cNvPr id="7" name="TextBox 6"/>
          <p:cNvSpPr txBox="1"/>
          <p:nvPr/>
        </p:nvSpPr>
        <p:spPr>
          <a:xfrm>
            <a:off x="685800" y="2834639"/>
            <a:ext cx="7498079" cy="356616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Pre-pandemic, almost half of all loans funded within a day.</a:t>
            </a:r>
          </a:p>
          <a:p>
            <a:pPr>
              <a:lnSpc>
                <a:spcPct val="115000"/>
              </a:lnSpc>
              <a:spcAft>
                <a:spcPts val="1200"/>
              </a:spcAft>
            </a:pPr>
            <a:r>
              <a:rPr sz="1600">
                <a:solidFill>
                  <a:srgbClr val="C97B3D"/>
                </a:solidFill>
                <a:latin typeface="Avenir Next"/>
              </a:rPr>
              <a:t>▪  </a:t>
            </a:r>
            <a:r>
              <a:rPr sz="1650">
                <a:solidFill>
                  <a:srgbClr val="1E2A2F"/>
                </a:solidFill>
                <a:latin typeface="Avenir Next"/>
              </a:rPr>
              <a:t>Since 2020: under a third — and through the end of the data (2025) it has NOT recovered. Persistence to date, not proof it never will.</a:t>
            </a:r>
          </a:p>
          <a:p>
            <a:pPr>
              <a:lnSpc>
                <a:spcPct val="115000"/>
              </a:lnSpc>
              <a:spcAft>
                <a:spcPts val="1200"/>
              </a:spcAft>
            </a:pPr>
            <a:r>
              <a:rPr sz="1600">
                <a:solidFill>
                  <a:srgbClr val="C97B3D"/>
                </a:solidFill>
                <a:latin typeface="Avenir Next"/>
              </a:rPr>
              <a:t>▪  </a:t>
            </a:r>
            <a:r>
              <a:rPr sz="1650">
                <a:solidFill>
                  <a:srgbClr val="1E2A2F"/>
                </a:solidFill>
                <a:latin typeface="Avenir Next"/>
              </a:rPr>
              <a:t>589,823 loans before vs. 565,474 after — not a small, noisy sample.</a:t>
            </a:r>
          </a:p>
        </p:txBody>
      </p:sp>
      <p:sp>
        <p:nvSpPr>
          <p:cNvPr id="8" name="Rounded Rectangle 7"/>
          <p:cNvSpPr/>
          <p:nvPr/>
        </p:nvSpPr>
        <p:spPr>
          <a:xfrm>
            <a:off x="8458200" y="2834639"/>
            <a:ext cx="3108960" cy="3154680"/>
          </a:xfrm>
          <a:prstGeom prst="roundRect">
            <a:avLst/>
          </a:prstGeom>
          <a:solidFill>
            <a:srgbClr val="F1EBDF"/>
          </a:solidFill>
          <a:ln w="9525">
            <a:solidFill>
              <a:srgbClr val="DCD3C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i="0">
                <a:solidFill>
                  <a:srgbClr val="1F4E5F"/>
                </a:solidFill>
                <a:latin typeface="Courier New"/>
              </a:defRPr>
            </a:pPr>
            <a:r>
              <a:t>CHART GOES HERE</a:t>
            </a:r>
          </a:p>
          <a:p>
            <a:br/>
            <a:pPr algn="ctr">
              <a:defRPr sz="1100" b="0" i="0">
                <a:solidFill>
                  <a:srgbClr val="6E6A5E"/>
                </a:solidFill>
                <a:latin typeface="Avenir Next"/>
              </a:defRPr>
            </a:pPr>
            <a:r>
              <a:t>screenshot from:</a:t>
            </a:r>
            <a:br/>
            <a:r>
              <a:t>EDA notebook §4 categorical trends (period chart)</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FINDING 2 · STRUCTURE</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5/10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Structure beats story</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0972800" cy="914400"/>
          </a:xfrm>
          <a:prstGeom prst="rect">
            <a:avLst/>
          </a:prstGeom>
          <a:noFill/>
        </p:spPr>
        <p:txBody>
          <a:bodyPr wrap="square">
            <a:spAutoFit/>
          </a:bodyPr>
          <a:lstStyle/>
          <a:p>
            <a:pPr>
              <a:defRPr sz="4000" b="1" i="0">
                <a:solidFill>
                  <a:srgbClr val="C97B3D"/>
                </a:solidFill>
                <a:latin typeface="Georgia"/>
              </a:defRPr>
            </a:pPr>
            <a:r>
              <a:t>2.3 vs 7.7 days  </a:t>
            </a:r>
            <a:r>
              <a:rPr sz="1600" b="0">
                <a:solidFill>
                  <a:srgbClr val="6E6A5E"/>
                </a:solidFill>
                <a:latin typeface="Avenir Next"/>
              </a:rPr>
              <a:t>median funding speed — female- vs male-posted loans</a:t>
            </a:r>
          </a:p>
        </p:txBody>
      </p:sp>
      <p:sp>
        <p:nvSpPr>
          <p:cNvPr id="7" name="TextBox 6"/>
          <p:cNvSpPr txBox="1"/>
          <p:nvPr/>
        </p:nvSpPr>
        <p:spPr>
          <a:xfrm>
            <a:off x="685800" y="2834639"/>
            <a:ext cx="7498079" cy="356616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Loan amount + repayment terms: linked to funding speed ~10× more strongly than any single narrative choice.</a:t>
            </a:r>
          </a:p>
          <a:p>
            <a:pPr>
              <a:lnSpc>
                <a:spcPct val="115000"/>
              </a:lnSpc>
              <a:spcAft>
                <a:spcPts val="1200"/>
              </a:spcAft>
            </a:pPr>
            <a:r>
              <a:rPr sz="1600">
                <a:solidFill>
                  <a:srgbClr val="C97B3D"/>
                </a:solidFill>
                <a:latin typeface="Avenir Next"/>
              </a:rPr>
              <a:t>▪  </a:t>
            </a:r>
            <a:r>
              <a:rPr sz="1650">
                <a:solidFill>
                  <a:srgbClr val="1E2A2F"/>
                </a:solidFill>
                <a:latin typeface="Avenir Next"/>
              </a:rPr>
              <a:t>Sector alone spans well over an order of magnitude in speed; region shows similarly large gaps.</a:t>
            </a:r>
          </a:p>
          <a:p>
            <a:pPr>
              <a:lnSpc>
                <a:spcPct val="115000"/>
              </a:lnSpc>
              <a:spcAft>
                <a:spcPts val="1200"/>
              </a:spcAft>
            </a:pPr>
            <a:r>
              <a:rPr sz="1600">
                <a:solidFill>
                  <a:srgbClr val="C97B3D"/>
                </a:solidFill>
                <a:latin typeface="Avenir Next"/>
              </a:rPr>
              <a:t>▪  </a:t>
            </a:r>
            <a:r>
              <a:rPr sz="1650">
                <a:solidFill>
                  <a:srgbClr val="1E2A2F"/>
                </a:solidFill>
                <a:latin typeface="Avenir Next"/>
              </a:rPr>
              <a:t>None of this is causal — but it dwarfs anything the words do.</a:t>
            </a:r>
          </a:p>
        </p:txBody>
      </p:sp>
      <p:sp>
        <p:nvSpPr>
          <p:cNvPr id="8" name="Rounded Rectangle 7"/>
          <p:cNvSpPr/>
          <p:nvPr/>
        </p:nvSpPr>
        <p:spPr>
          <a:xfrm>
            <a:off x="8458200" y="2834639"/>
            <a:ext cx="3108960" cy="3154680"/>
          </a:xfrm>
          <a:prstGeom prst="roundRect">
            <a:avLst/>
          </a:prstGeom>
          <a:solidFill>
            <a:srgbClr val="F1EBDF"/>
          </a:solidFill>
          <a:ln w="9525">
            <a:solidFill>
              <a:srgbClr val="DCD3C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i="0">
                <a:solidFill>
                  <a:srgbClr val="1F4E5F"/>
                </a:solidFill>
                <a:latin typeface="Courier New"/>
              </a:defRPr>
            </a:pPr>
            <a:r>
              <a:t>CHART GOES HERE</a:t>
            </a:r>
          </a:p>
          <a:p>
            <a:br/>
            <a:pPr algn="ctr">
              <a:defRPr sz="1100" b="0" i="0">
                <a:solidFill>
                  <a:srgbClr val="6E6A5E"/>
                </a:solidFill>
                <a:latin typeface="Avenir Next"/>
              </a:defRPr>
            </a:pPr>
            <a:r>
              <a:t>screenshot from:</a:t>
            </a:r>
            <a:br/>
            <a:r>
              <a:t>EDA notebook §5 categorical features · §9 feature correlations</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FINDING 3 · THE HEADLINE</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6/10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What survives scrutiny</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0972800" cy="914400"/>
          </a:xfrm>
          <a:prstGeom prst="rect">
            <a:avLst/>
          </a:prstGeom>
          <a:noFill/>
        </p:spPr>
        <p:txBody>
          <a:bodyPr wrap="square">
            <a:spAutoFit/>
          </a:bodyPr>
          <a:lstStyle/>
          <a:p>
            <a:pPr>
              <a:defRPr sz="4000" b="1" i="0">
                <a:solidFill>
                  <a:srgbClr val="C97B3D"/>
                </a:solidFill>
                <a:latin typeface="Georgia"/>
              </a:defRPr>
            </a:pPr>
            <a:r>
              <a:t>Zero  </a:t>
            </a:r>
            <a:r>
              <a:rPr sz="1600" b="0">
                <a:solidFill>
                  <a:srgbClr val="6E6A5E"/>
                </a:solidFill>
                <a:latin typeface="Avenir Next"/>
              </a:rPr>
              <a:t>narrative-framing results survive a defensible standard</a:t>
            </a:r>
          </a:p>
        </p:txBody>
      </p:sp>
      <p:sp>
        <p:nvSpPr>
          <p:cNvPr id="7" name="TextBox 6"/>
          <p:cNvSpPr txBox="1"/>
          <p:nvPr/>
        </p:nvSpPr>
        <p:spPr>
          <a:xfrm>
            <a:off x="685800" y="2834639"/>
            <a:ext cx="7498079" cy="356616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Urgency: looked universal (p&lt;0.001) — collapses under country clustering (p≈0.44). Not recommended.</a:t>
            </a:r>
          </a:p>
          <a:p>
            <a:pPr>
              <a:lnSpc>
                <a:spcPct val="115000"/>
              </a:lnSpc>
              <a:spcAft>
                <a:spcPts val="1200"/>
              </a:spcAft>
            </a:pPr>
            <a:r>
              <a:rPr sz="1600">
                <a:solidFill>
                  <a:srgbClr val="C97B3D"/>
                </a:solidFill>
                <a:latin typeface="Avenir Next"/>
              </a:rPr>
              <a:t>▪  </a:t>
            </a:r>
            <a:r>
              <a:rPr sz="1650">
                <a:solidFill>
                  <a:srgbClr val="1E2A2F"/>
                </a:solidFill>
                <a:latin typeface="Avenir Next"/>
              </a:rPr>
              <a:t>Family: corrected test → Middle East (Palestine+Yemen) &amp; Central America (Honduras+Nicaragua) same direction in every fit — but 2 countries each; few-cluster t(1) bar is 12.7, not 1.96: p≈0.06–0.21. A hypothesis, not a finding.</a:t>
            </a:r>
          </a:p>
          <a:p>
            <a:pPr>
              <a:lnSpc>
                <a:spcPct val="115000"/>
              </a:lnSpc>
              <a:spcAft>
                <a:spcPts val="1200"/>
              </a:spcAft>
            </a:pPr>
            <a:r>
              <a:rPr sz="1600">
                <a:solidFill>
                  <a:srgbClr val="C97B3D"/>
                </a:solidFill>
                <a:latin typeface="Avenir Next"/>
              </a:rPr>
              <a:t>▪  </a:t>
            </a:r>
            <a:r>
              <a:rPr sz="1650">
                <a:solidFill>
                  <a:srgbClr val="1E2A2F"/>
                </a:solidFill>
                <a:latin typeface="Avenir Next"/>
              </a:rPr>
              <a:t>Sentiment: positive tone ↔ slower funding, but significance flips between specifications — genuinely open.</a:t>
            </a:r>
          </a:p>
          <a:p>
            <a:pPr>
              <a:lnSpc>
                <a:spcPct val="115000"/>
              </a:lnSpc>
              <a:spcAft>
                <a:spcPts val="1200"/>
              </a:spcAft>
            </a:pPr>
            <a:r>
              <a:rPr sz="1600">
                <a:solidFill>
                  <a:srgbClr val="C97B3D"/>
                </a:solidFill>
                <a:latin typeface="Avenir Next"/>
              </a:rPr>
              <a:t>▪  </a:t>
            </a:r>
            <a:r>
              <a:rPr sz="1650">
                <a:solidFill>
                  <a:srgbClr val="1E2A2F"/>
                </a:solidFill>
                <a:latin typeface="Avenir Next"/>
              </a:rPr>
              <a:t>SHAP: no family / agency / urgency feature in the model's top 15 — complementary evidence, not confirmation.</a:t>
            </a:r>
          </a:p>
        </p:txBody>
      </p:sp>
      <p:sp>
        <p:nvSpPr>
          <p:cNvPr id="8" name="Rounded Rectangle 7"/>
          <p:cNvSpPr/>
          <p:nvPr/>
        </p:nvSpPr>
        <p:spPr>
          <a:xfrm>
            <a:off x="8458200" y="2834639"/>
            <a:ext cx="3108960" cy="3154680"/>
          </a:xfrm>
          <a:prstGeom prst="roundRect">
            <a:avLst/>
          </a:prstGeom>
          <a:solidFill>
            <a:srgbClr val="F1EBDF"/>
          </a:solidFill>
          <a:ln w="9525">
            <a:solidFill>
              <a:srgbClr val="DCD3C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i="0">
                <a:solidFill>
                  <a:srgbClr val="1F4E5F"/>
                </a:solidFill>
                <a:latin typeface="Courier New"/>
              </a:defRPr>
            </a:pPr>
            <a:r>
              <a:t>CHART GOES HERE</a:t>
            </a:r>
          </a:p>
          <a:p>
            <a:br/>
            <a:pPr algn="ctr">
              <a:defRPr sz="1100" b="0" i="0">
                <a:solidFill>
                  <a:srgbClr val="6E6A5E"/>
                </a:solidFill>
                <a:latin typeface="Avenir Next"/>
              </a:defRPr>
            </a:pPr>
            <a:r>
              <a:t>screenshot from:</a:t>
            </a:r>
            <a:br/>
            <a:r>
              <a:t>modeling notebook §7.2 within-region slopes · §7.1 check</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FINDING 4 · TOPICS</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7/10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Beyond keywords</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0972800" cy="914400"/>
          </a:xfrm>
          <a:prstGeom prst="rect">
            <a:avLst/>
          </a:prstGeom>
          <a:noFill/>
        </p:spPr>
        <p:txBody>
          <a:bodyPr wrap="square">
            <a:spAutoFit/>
          </a:bodyPr>
          <a:lstStyle/>
          <a:p>
            <a:pPr>
              <a:defRPr sz="4000" b="1" i="0">
                <a:solidFill>
                  <a:srgbClr val="C97B3D"/>
                </a:solidFill>
                <a:latin typeface="Georgia"/>
              </a:defRPr>
            </a:pPr>
            <a:r>
              <a:t>1.5 → 13.5 days  </a:t>
            </a:r>
            <a:r>
              <a:rPr sz="1600" b="0">
                <a:solidFill>
                  <a:srgbClr val="6E6A5E"/>
                </a:solidFill>
                <a:latin typeface="Avenir Next"/>
              </a:rPr>
              <a:t>across story topics — a &gt;9× swing</a:t>
            </a:r>
          </a:p>
        </p:txBody>
      </p:sp>
      <p:sp>
        <p:nvSpPr>
          <p:cNvPr id="7" name="TextBox 6"/>
          <p:cNvSpPr txBox="1"/>
          <p:nvPr/>
        </p:nvSpPr>
        <p:spPr>
          <a:xfrm>
            <a:off x="685800" y="2834639"/>
            <a:ext cx="7498079" cy="356616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Topic modeling (NMF, 5 topics — not keyword counts) surfaces coherent themes: livestock, health &amp; sanitation, clean water, farming, retail.</a:t>
            </a:r>
          </a:p>
          <a:p>
            <a:pPr>
              <a:lnSpc>
                <a:spcPct val="115000"/>
              </a:lnSpc>
              <a:spcAft>
                <a:spcPts val="1200"/>
              </a:spcAft>
            </a:pPr>
            <a:r>
              <a:rPr sz="1600">
                <a:solidFill>
                  <a:srgbClr val="C97B3D"/>
                </a:solidFill>
                <a:latin typeface="Avenir Next"/>
              </a:rPr>
              <a:t>▪  </a:t>
            </a:r>
            <a:r>
              <a:rPr sz="1650">
                <a:solidFill>
                  <a:srgbClr val="1E2A2F"/>
                </a:solidFill>
                <a:latin typeface="Avenir Next"/>
              </a:rPr>
              <a:t>The largest single gap anywhere in the analysis — but a topic mostly encodes what the loan is FOR. Structure again, not persuasion.</a:t>
            </a:r>
          </a:p>
        </p:txBody>
      </p:sp>
      <p:sp>
        <p:nvSpPr>
          <p:cNvPr id="8" name="Rounded Rectangle 7"/>
          <p:cNvSpPr/>
          <p:nvPr/>
        </p:nvSpPr>
        <p:spPr>
          <a:xfrm>
            <a:off x="8458200" y="2834639"/>
            <a:ext cx="3108960" cy="3154680"/>
          </a:xfrm>
          <a:prstGeom prst="roundRect">
            <a:avLst/>
          </a:prstGeom>
          <a:solidFill>
            <a:srgbClr val="F1EBDF"/>
          </a:solidFill>
          <a:ln w="9525">
            <a:solidFill>
              <a:srgbClr val="DCD3C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i="0">
                <a:solidFill>
                  <a:srgbClr val="1F4E5F"/>
                </a:solidFill>
                <a:latin typeface="Courier New"/>
              </a:defRPr>
            </a:pPr>
            <a:r>
              <a:t>CHART GOES HERE</a:t>
            </a:r>
          </a:p>
          <a:p>
            <a:br/>
            <a:pPr algn="ctr">
              <a:defRPr sz="1100" b="0" i="0">
                <a:solidFill>
                  <a:srgbClr val="6E6A5E"/>
                </a:solidFill>
                <a:latin typeface="Avenir Next"/>
              </a:defRPr>
            </a:pPr>
            <a:r>
              <a:t>screenshot from:</a:t>
            </a:r>
            <a:br/>
            <a:r>
              <a:t>EDA notebook §8 topic modeling</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RECOMMENDATIONS</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8/10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What this means in practice</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0881360" cy="461772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DON'T ship writing tips — a platform-wide ‘add urgency’ nudge would be built on a result that doesn't survive testing.</a:t>
            </a:r>
          </a:p>
          <a:p>
            <a:pPr>
              <a:lnSpc>
                <a:spcPct val="115000"/>
              </a:lnSpc>
              <a:spcAft>
                <a:spcPts val="1200"/>
              </a:spcAft>
            </a:pPr>
            <a:r>
              <a:rPr sz="1600">
                <a:solidFill>
                  <a:srgbClr val="C97B3D"/>
                </a:solidFill>
                <a:latin typeface="Avenir Next"/>
              </a:rPr>
              <a:t>▪  </a:t>
            </a:r>
            <a:r>
              <a:rPr sz="1650">
                <a:solidFill>
                  <a:srgbClr val="1E2A2F"/>
                </a:solidFill>
                <a:latin typeface="Avenir Next"/>
              </a:rPr>
              <a:t>DO run a country-stratified A/B test of family framing in exactly those 4 markets — that's how a hypothesis becomes a decision.</a:t>
            </a:r>
          </a:p>
          <a:p>
            <a:pPr>
              <a:lnSpc>
                <a:spcPct val="115000"/>
              </a:lnSpc>
              <a:spcAft>
                <a:spcPts val="1200"/>
              </a:spcAft>
            </a:pPr>
            <a:r>
              <a:rPr sz="1600">
                <a:solidFill>
                  <a:srgbClr val="C97B3D"/>
                </a:solidFill>
                <a:latin typeface="Avenir Next"/>
              </a:rPr>
              <a:t>▪  </a:t>
            </a:r>
            <a:r>
              <a:rPr sz="1650">
                <a:solidFill>
                  <a:srgbClr val="1E2A2F"/>
                </a:solidFill>
                <a:latin typeface="Avenir Next"/>
              </a:rPr>
              <a:t>DO review the structural gaps (sector / region / gender) — they are ~10× the size of any wording effect.</a:t>
            </a:r>
          </a:p>
          <a:p>
            <a:pPr>
              <a:lnSpc>
                <a:spcPct val="115000"/>
              </a:lnSpc>
              <a:spcAft>
                <a:spcPts val="1200"/>
              </a:spcAft>
            </a:pPr>
            <a:r>
              <a:rPr sz="1600">
                <a:solidFill>
                  <a:srgbClr val="C97B3D"/>
                </a:solidFill>
                <a:latin typeface="Avenir Next"/>
              </a:rPr>
              <a:t>▪  </a:t>
            </a:r>
            <a:r>
              <a:rPr sz="1650">
                <a:solidFill>
                  <a:srgbClr val="1E2A2F"/>
                </a:solidFill>
                <a:latin typeface="Avenir Next"/>
              </a:rPr>
              <a:t>PILOT a same-day-funding risk flag: holdout ROC AUC ≈ 0.90 on strictly future data — with calibration, capacity and fairness checks first.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LIMITS</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9/10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What this can't tell us</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0881360" cy="461772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Association, never causation — no borrower was randomly assigned a writing style.</a:t>
            </a:r>
          </a:p>
          <a:p>
            <a:pPr>
              <a:lnSpc>
                <a:spcPct val="115000"/>
              </a:lnSpc>
              <a:spcAft>
                <a:spcPts val="1200"/>
              </a:spcAft>
            </a:pPr>
            <a:r>
              <a:rPr sz="1600">
                <a:solidFill>
                  <a:srgbClr val="C97B3D"/>
                </a:solidFill>
                <a:latin typeface="Avenir Next"/>
              </a:rPr>
              <a:t>▪  </a:t>
            </a:r>
            <a:r>
              <a:rPr sz="1650">
                <a:solidFill>
                  <a:srgbClr val="1E2A2F"/>
                </a:solidFill>
                <a:latin typeface="Avenir Next"/>
              </a:rPr>
              <a:t>Measures how fast a FUNDED loan funds — not whether a loan gets funded at all.</a:t>
            </a:r>
          </a:p>
          <a:p>
            <a:pPr>
              <a:lnSpc>
                <a:spcPct val="115000"/>
              </a:lnSpc>
              <a:spcAft>
                <a:spcPts val="1200"/>
              </a:spcAft>
            </a:pPr>
            <a:r>
              <a:rPr sz="1600">
                <a:solidFill>
                  <a:srgbClr val="C97B3D"/>
                </a:solidFill>
                <a:latin typeface="Avenir Next"/>
              </a:rPr>
              <a:t>▪  </a:t>
            </a:r>
            <a:r>
              <a:rPr sz="1650">
                <a:solidFill>
                  <a:srgbClr val="1E2A2F"/>
                </a:solidFill>
                <a:latin typeface="Avenir Next"/>
              </a:rPr>
              <a:t>Framing measured with transparent, simple rules — not every nuance of persuasive writing.</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F4E5F"/>
        </a:solidFill>
        <a:effectLst/>
      </p:bgPr>
    </p:bg>
    <p:spTree>
      <p:nvGrpSpPr>
        <p:cNvPr id="1" name=""/>
        <p:cNvGrpSpPr/>
        <p:nvPr/>
      </p:nvGrpSpPr>
      <p:grpSpPr/>
      <p:sp>
        <p:nvSpPr>
          <p:cNvPr id="2" name="Rectangle 1"/>
          <p:cNvSpPr/>
          <p:nvPr/>
        </p:nvSpPr>
        <p:spPr>
          <a:xfrm>
            <a:off x="5367528" y="1554480"/>
            <a:ext cx="1463040" cy="5080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286000"/>
            <a:ext cx="9966960" cy="2377440"/>
          </a:xfrm>
          <a:prstGeom prst="rect">
            <a:avLst/>
          </a:prstGeom>
          <a:noFill/>
        </p:spPr>
        <p:txBody>
          <a:bodyPr wrap="square">
            <a:spAutoFit/>
          </a:bodyPr>
          <a:lstStyle/>
          <a:p>
            <a:pPr algn="ctr">
              <a:defRPr sz="4200" b="1" i="0">
                <a:solidFill>
                  <a:srgbClr val="FAF7F0"/>
                </a:solidFill>
                <a:latin typeface="Georgia"/>
              </a:defRPr>
            </a:pPr>
            <a:r>
              <a:t>“The story barely registers.</a:t>
            </a:r>
          </a:p>
          <a:p>
            <a:pPr algn="ctr">
              <a:defRPr sz="4200" b="1" i="0">
                <a:solidFill>
                  <a:srgbClr val="FAF7F0"/>
                </a:solidFill>
                <a:latin typeface="Georgia"/>
              </a:defRPr>
            </a:pPr>
            <a:r>
              <a:t>The structure carries the signal.”</a:t>
            </a:r>
          </a:p>
        </p:txBody>
      </p:sp>
      <p:sp>
        <p:nvSpPr>
          <p:cNvPr id="4" name="TextBox 3"/>
          <p:cNvSpPr txBox="1"/>
          <p:nvPr/>
        </p:nvSpPr>
        <p:spPr>
          <a:xfrm>
            <a:off x="1097280" y="4846320"/>
            <a:ext cx="9966960" cy="640080"/>
          </a:xfrm>
          <a:prstGeom prst="rect">
            <a:avLst/>
          </a:prstGeom>
          <a:noFill/>
        </p:spPr>
        <p:txBody>
          <a:bodyPr wrap="square">
            <a:spAutoFit/>
          </a:bodyPr>
          <a:lstStyle/>
          <a:p>
            <a:pPr algn="ctr">
              <a:defRPr sz="2000" b="0" i="0">
                <a:solidFill>
                  <a:srgbClr val="B8CED6"/>
                </a:solidFill>
                <a:latin typeface="Avenir Next"/>
              </a:defRPr>
            </a:pPr>
            <a:r>
              <a:t>Thank you — questions.</a:t>
            </a:r>
          </a:p>
        </p:txBody>
      </p:sp>
      <p:sp>
        <p:nvSpPr>
          <p:cNvPr id="5" name="TextBox 4"/>
          <p:cNvSpPr txBox="1"/>
          <p:nvPr/>
        </p:nvSpPr>
        <p:spPr>
          <a:xfrm>
            <a:off x="1097280" y="6309360"/>
            <a:ext cx="9966960" cy="365760"/>
          </a:xfrm>
          <a:prstGeom prst="rect">
            <a:avLst/>
          </a:prstGeom>
          <a:noFill/>
        </p:spPr>
        <p:txBody>
          <a:bodyPr wrap="square">
            <a:spAutoFit/>
          </a:bodyPr>
          <a:lstStyle/>
          <a:p>
            <a:pPr algn="ctr">
              <a:defRPr sz="1200" b="0" i="0">
                <a:solidFill>
                  <a:srgbClr val="8FB0BB"/>
                </a:solidFill>
                <a:latin typeface="Courier New"/>
              </a:defRPr>
            </a:pPr>
            <a:r>
              <a:t>Team Cultural Blend · UNSW Marketing Analytics Hackathon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