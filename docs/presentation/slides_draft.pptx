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a:p/>
          <a:p>
            <a:r>
              <a:t>[Sources] Chart: modeling notebook SS6 (boosted forecast vs actual, chronological holdout). Split sizes: analysis_summary.json.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a:p/>
          <a:p>
            <a:r>
              <a:t>[Sources] Chart: EDA SS5 sector figure (executed notebook). Gender medians: EDA SS4 printout. 10x basis: EDA SS9 correlations.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say, honestly, that there is no robust evidence for the story is worth more to a platform than a good-sounding tip. Thank you — we're happy to take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panel: EDA SS5 figure. Pooled definitions + p-values: association_summary.txt within-region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C97B3D"/>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AF7F0"/>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Avenir Next"/>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question</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When a loan's story leans on family, competence, or urgency — does it fund faster?</a:t>
            </a:r>
          </a:p>
          <a:p>
            <a:pPr>
              <a:lnSpc>
                <a:spcPct val="115000"/>
              </a:lnSpc>
              <a:spcAft>
                <a:spcPts val="1200"/>
              </a:spcAft>
            </a:pPr>
            <a:r>
              <a:rPr sz="1600">
                <a:solidFill>
                  <a:srgbClr val="C97B3D"/>
                </a:solidFill>
                <a:latin typeface="Avenir Next"/>
              </a:rPr>
              <a:t>▪  </a:t>
            </a:r>
            <a:r>
              <a:rPr sz="1650">
                <a:solidFill>
                  <a:srgbClr val="1E2A2F"/>
                </a:solidFill>
                <a:latin typeface="Avenir Next"/>
              </a:rPr>
              <a:t>Does the answer depend on WHO is asking and WHEN?</a:t>
            </a:r>
          </a:p>
          <a:p>
            <a:pPr>
              <a:lnSpc>
                <a:spcPct val="115000"/>
              </a:lnSpc>
              <a:spcAft>
                <a:spcPts val="1200"/>
              </a:spcAft>
            </a:pPr>
            <a:r>
              <a:rPr sz="1600">
                <a:solidFill>
                  <a:srgbClr val="C97B3D"/>
                </a:solidFill>
                <a:latin typeface="Avenir Next"/>
              </a:rPr>
              <a:t>▪  </a:t>
            </a:r>
            <a:r>
              <a:rPr sz="1650">
                <a:solidFill>
                  <a:srgbClr val="1E2A2F"/>
                </a:solidFill>
                <a:latin typeface="Avenir Next"/>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Predictive claims: trained only on the past, tested only on loans posted 2024–2025 — no peeking at the future.</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C97B3D"/>
                </a:solidFill>
                <a:latin typeface="Avenir Next"/>
              </a:rPr>
              <a:t>▪  </a:t>
            </a:r>
            <a:r>
              <a:rPr sz="1650">
                <a:solidFill>
                  <a:srgbClr val="1E2A2F"/>
                </a:solidFill>
                <a:latin typeface="Avenir Next"/>
              </a:rPr>
              <a:t>Most headline-looking results did NOT survive — that is the point of the method.</a:t>
            </a:r>
          </a:p>
          <a:p>
            <a:pPr>
              <a:lnSpc>
                <a:spcPct val="115000"/>
              </a:lnSpc>
              <a:spcAft>
                <a:spcPts val="1200"/>
              </a:spcAft>
            </a:pPr>
            <a:r>
              <a:rPr sz="1600">
                <a:solidFill>
                  <a:srgbClr val="C97B3D"/>
                </a:solidFill>
                <a:latin typeface="Avenir Next"/>
              </a:rPr>
              <a:t>▪  </a:t>
            </a:r>
            <a:r>
              <a:rPr sz="1650">
                <a:solidFill>
                  <a:srgbClr val="1E2A2F"/>
                </a:solidFill>
                <a:latin typeface="Avenir Next"/>
              </a:rPr>
              <a:t>SHAP importance shown as complementary predictive evidence only — it cannot confirm or refute a statistical finding.</a:t>
            </a:r>
          </a:p>
        </p:txBody>
      </p:sp>
      <p:pic>
        <p:nvPicPr>
          <p:cNvPr id="7" name="Picture 6" descr="mod_21.png"/>
          <p:cNvPicPr>
            <a:picLocks noChangeAspect="1"/>
          </p:cNvPicPr>
          <p:nvPr/>
        </p:nvPicPr>
        <p:blipFill>
          <a:blip r:embed="rId2"/>
          <a:stretch>
            <a:fillRect/>
          </a:stretch>
        </p:blipFill>
        <p:spPr>
          <a:xfrm>
            <a:off x="7498079" y="1783080"/>
            <a:ext cx="4069080" cy="4074986"/>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§6 · boosted forecast vs actual on the chronological holdout</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46% → 30% → 30%  </a:t>
            </a:r>
            <a:r>
              <a:rPr sz="1600" b="0">
                <a:solidFill>
                  <a:srgbClr val="6E6A5E"/>
                </a:solidFill>
                <a:latin typeface="Avenir Next"/>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Pre-pandemic, almost half of all loans funded within a day.</a:t>
            </a:r>
          </a:p>
          <a:p>
            <a:pPr>
              <a:lnSpc>
                <a:spcPct val="115000"/>
              </a:lnSpc>
              <a:spcAft>
                <a:spcPts val="1200"/>
              </a:spcAft>
            </a:pPr>
            <a:r>
              <a:rPr sz="1600">
                <a:solidFill>
                  <a:srgbClr val="C97B3D"/>
                </a:solidFill>
                <a:latin typeface="Avenir Next"/>
              </a:rPr>
              <a:t>▪  </a:t>
            </a:r>
            <a:r>
              <a:rPr sz="1650">
                <a:solidFill>
                  <a:srgbClr val="1E2A2F"/>
                </a:solidFill>
                <a:latin typeface="Avenir Next"/>
              </a:rPr>
              <a:t>Since 2020: under a third — and through the end of the data (2025) it has NOT recovered. Persistence to date, not proof it never will.</a:t>
            </a:r>
          </a:p>
          <a:p>
            <a:pPr>
              <a:lnSpc>
                <a:spcPct val="115000"/>
              </a:lnSpc>
              <a:spcAft>
                <a:spcPts val="1200"/>
              </a:spcAft>
            </a:pPr>
            <a:r>
              <a:rPr sz="1600">
                <a:solidFill>
                  <a:srgbClr val="C97B3D"/>
                </a:solidFill>
                <a:latin typeface="Avenir Next"/>
              </a:rPr>
              <a:t>▪  </a:t>
            </a:r>
            <a:r>
              <a:rPr sz="1650">
                <a:solidFill>
                  <a:srgbClr val="1E2A2F"/>
                </a:solidFill>
                <a:latin typeface="Avenir Next"/>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498079" y="2834639"/>
            <a:ext cx="4069080" cy="2801311"/>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§4 categorical trends (period chart)</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Structure beats story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2.3 vs 7.7 days  </a:t>
            </a:r>
            <a:r>
              <a:rPr sz="1600" b="0">
                <a:solidFill>
                  <a:srgbClr val="6E6A5E"/>
                </a:solidFill>
                <a:latin typeface="Avenir Next"/>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Loan amount + repayment terms: linked to funding speed ~10x more strongly than any single narrative choice.</a:t>
            </a:r>
          </a:p>
          <a:p>
            <a:pPr>
              <a:lnSpc>
                <a:spcPct val="115000"/>
              </a:lnSpc>
              <a:spcAft>
                <a:spcPts val="1200"/>
              </a:spcAft>
            </a:pPr>
            <a:r>
              <a:rPr sz="1600">
                <a:solidFill>
                  <a:srgbClr val="C97B3D"/>
                </a:solidFill>
                <a:latin typeface="Avenir Next"/>
              </a:rPr>
              <a:t>▪  </a:t>
            </a:r>
            <a:r>
              <a:rPr sz="1650">
                <a:solidFill>
                  <a:srgbClr val="1E2A2F"/>
                </a:solidFill>
                <a:latin typeface="Avenir Next"/>
              </a:rPr>
              <a:t>Sector alone spans well over an order of magnitude in speed; region shows similarly large gaps.</a:t>
            </a:r>
          </a:p>
          <a:p>
            <a:pPr>
              <a:lnSpc>
                <a:spcPct val="115000"/>
              </a:lnSpc>
              <a:spcAft>
                <a:spcPts val="1200"/>
              </a:spcAft>
            </a:pPr>
            <a:r>
              <a:rPr sz="1600">
                <a:solidFill>
                  <a:srgbClr val="C97B3D"/>
                </a:solidFill>
                <a:latin typeface="Avenir Next"/>
              </a:rPr>
              <a:t>▪  </a:t>
            </a:r>
            <a:r>
              <a:rPr sz="1650">
                <a:solidFill>
                  <a:srgbClr val="1E2A2F"/>
                </a:solidFill>
                <a:latin typeface="Avenir Next"/>
              </a:rPr>
              <a:t>None of this is causal — but it dwarfs anything the words do.</a:t>
            </a:r>
          </a:p>
        </p:txBody>
      </p:sp>
      <p:pic>
        <p:nvPicPr>
          <p:cNvPr id="8" name="Picture 7" descr="eda_22.png"/>
          <p:cNvPicPr>
            <a:picLocks noChangeAspect="1"/>
          </p:cNvPicPr>
          <p:nvPr/>
        </p:nvPicPr>
        <p:blipFill>
          <a:blip r:embed="rId2"/>
          <a:stretch>
            <a:fillRect/>
          </a:stretch>
        </p:blipFill>
        <p:spPr>
          <a:xfrm>
            <a:off x="7672562" y="2834639"/>
            <a:ext cx="3720114" cy="3291840"/>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§5 categorical features · §9 feature correlations</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No narrative result  </a:t>
            </a:r>
            <a:r>
              <a:rPr sz="1600" b="0">
                <a:solidFill>
                  <a:srgbClr val="6E6A5E"/>
                </a:solidFill>
                <a:latin typeface="Avenir Next"/>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Urgency: looked universal (p&lt;0.001) — collapses under country clustering (p≈0.44). Not recommended.</a:t>
            </a:r>
          </a:p>
          <a:p>
            <a:pPr>
              <a:lnSpc>
                <a:spcPct val="115000"/>
              </a:lnSpc>
              <a:spcAft>
                <a:spcPts val="1200"/>
              </a:spcAft>
            </a:pPr>
            <a:r>
              <a:rPr sz="1600">
                <a:solidFill>
                  <a:srgbClr val="C97B3D"/>
                </a:solidFill>
                <a:latin typeface="Avenir Next"/>
              </a:rPr>
              <a:t>▪  </a:t>
            </a:r>
            <a:r>
              <a:rPr sz="1650">
                <a:solidFill>
                  <a:srgbClr val="1E2A2F"/>
                </a:solidFill>
                <a:latin typeface="Avenir Next"/>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C97B3D"/>
                </a:solidFill>
                <a:latin typeface="Avenir Next"/>
              </a:rPr>
              <a:t>▪  </a:t>
            </a:r>
            <a:r>
              <a:rPr sz="1650">
                <a:solidFill>
                  <a:srgbClr val="1E2A2F"/>
                </a:solidFill>
                <a:latin typeface="Avenir Next"/>
              </a:rPr>
              <a:t>Sentiment: positive tone &lt;-&gt; slower funding, but significance flips between specifications — genuinely open.</a:t>
            </a:r>
          </a:p>
          <a:p>
            <a:pPr>
              <a:lnSpc>
                <a:spcPct val="115000"/>
              </a:lnSpc>
              <a:spcAft>
                <a:spcPts val="1200"/>
              </a:spcAft>
            </a:pPr>
            <a:r>
              <a:rPr sz="1600">
                <a:solidFill>
                  <a:srgbClr val="C97B3D"/>
                </a:solidFill>
                <a:latin typeface="Avenir Next"/>
              </a:rPr>
              <a:t>▪  </a:t>
            </a:r>
            <a:r>
              <a:rPr sz="1650">
                <a:solidFill>
                  <a:srgbClr val="1E2A2F"/>
                </a:solidFill>
                <a:latin typeface="Avenir Next"/>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2834639"/>
            <a:ext cx="4069080" cy="2264914"/>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§7.2 within-region slopes · §7.1 check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Beyond keywords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1.5 → 13.5 days  </a:t>
            </a:r>
            <a:r>
              <a:rPr sz="1600" b="0">
                <a:solidFill>
                  <a:srgbClr val="6E6A5E"/>
                </a:solidFill>
                <a:latin typeface="Avenir Next"/>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C97B3D"/>
                </a:solidFill>
                <a:latin typeface="Avenir Next"/>
              </a:rPr>
              <a:t>▪  </a:t>
            </a:r>
            <a:r>
              <a:rPr sz="1650">
                <a:solidFill>
                  <a:srgbClr val="1E2A2F"/>
                </a:solidFill>
                <a:latin typeface="Avenir Next"/>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2834639"/>
            <a:ext cx="4069080" cy="2255841"/>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§8 topic modeling</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DON'T ship writing tips — a platform-wide 'add urgency' nudge would be built on a result that doesn't survive testing.</a:t>
            </a:r>
          </a:p>
          <a:p>
            <a:pPr>
              <a:lnSpc>
                <a:spcPct val="115000"/>
              </a:lnSpc>
              <a:spcAft>
                <a:spcPts val="1200"/>
              </a:spcAft>
            </a:pPr>
            <a:r>
              <a:rPr sz="1600">
                <a:solidFill>
                  <a:srgbClr val="C97B3D"/>
                </a:solidFill>
                <a:latin typeface="Avenir Next"/>
              </a:rPr>
              <a:t>▪  </a:t>
            </a:r>
            <a:r>
              <a:rPr sz="1650">
                <a:solidFill>
                  <a:srgbClr val="1E2A2F"/>
                </a:solidFill>
                <a:latin typeface="Avenir Next"/>
              </a:rPr>
              <a:t>DO run a country-stratified A/B test of family framing in exactly those 4 markets — that's how a hypothesis becomes a decision.</a:t>
            </a:r>
          </a:p>
          <a:p>
            <a:pPr>
              <a:lnSpc>
                <a:spcPct val="115000"/>
              </a:lnSpc>
              <a:spcAft>
                <a:spcPts val="1200"/>
              </a:spcAft>
            </a:pPr>
            <a:r>
              <a:rPr sz="1600">
                <a:solidFill>
                  <a:srgbClr val="C97B3D"/>
                </a:solidFill>
                <a:latin typeface="Avenir Next"/>
              </a:rPr>
              <a:t>▪  </a:t>
            </a:r>
            <a:r>
              <a:rPr sz="1650">
                <a:solidFill>
                  <a:srgbClr val="1E2A2F"/>
                </a:solidFill>
                <a:latin typeface="Avenir Next"/>
              </a:rPr>
              <a:t>DO review the structural gaps (sector / region / gender) — they are ~10x the size of any wording effect.</a:t>
            </a:r>
          </a:p>
          <a:p>
            <a:pPr>
              <a:lnSpc>
                <a:spcPct val="115000"/>
              </a:lnSpc>
              <a:spcAft>
                <a:spcPts val="1200"/>
              </a:spcAft>
            </a:pPr>
            <a:r>
              <a:rPr sz="1600">
                <a:solidFill>
                  <a:srgbClr val="C97B3D"/>
                </a:solidFill>
                <a:latin typeface="Avenir Next"/>
              </a:rPr>
              <a:t>▪  </a:t>
            </a:r>
            <a:r>
              <a:rPr sz="1650">
                <a:solidFill>
                  <a:srgbClr val="1E2A2F"/>
                </a:solidFill>
                <a:latin typeface="Avenir Next"/>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Association, never causation — no borrower was randomly assigned a writing style.</a:t>
            </a:r>
          </a:p>
          <a:p>
            <a:pPr>
              <a:lnSpc>
                <a:spcPct val="115000"/>
              </a:lnSpc>
              <a:spcAft>
                <a:spcPts val="1200"/>
              </a:spcAft>
            </a:pPr>
            <a:r>
              <a:rPr sz="1600">
                <a:solidFill>
                  <a:srgbClr val="C97B3D"/>
                </a:solidFill>
                <a:latin typeface="Avenir Next"/>
              </a:rPr>
              <a:t>▪  </a:t>
            </a:r>
            <a:r>
              <a:rPr sz="1650">
                <a:solidFill>
                  <a:srgbClr val="1E2A2F"/>
                </a:solidFill>
                <a:latin typeface="Avenir Next"/>
              </a:rPr>
              <a:t>Measures how fast a FUNDED loan funds — not whether a loan gets funded at all (expired/withdrawn listings never enter the data).</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AF7F0"/>
                </a:solidFill>
                <a:latin typeface="Georgia"/>
              </a:defRPr>
            </a:pPr>
            <a:r>
              <a:t>“The story barely registers.</a:t>
            </a:r>
          </a:p>
          <a:p>
            <a:pPr algn="ctr">
              <a:defRPr sz="4200" b="1" i="0">
                <a:solidFill>
                  <a:srgbClr val="FAF7F0"/>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Avenir Next"/>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AF7F0"/>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Avenir Next"/>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Pooled categories: Middle East = Palestine + Yemen (14,946 loans); Central America = Honduras + Nicaragua (59,391); North America = Haiti alone.</a:t>
            </a:r>
          </a:p>
          <a:p>
            <a:pPr>
              <a:lnSpc>
                <a:spcPct val="115000"/>
              </a:lnSpc>
              <a:spcAft>
                <a:spcPts val="1200"/>
              </a:spcAft>
            </a:pPr>
            <a:r>
              <a:rPr sz="1600">
                <a:solidFill>
                  <a:srgbClr val="C97B3D"/>
                </a:solidFill>
                <a:latin typeface="Avenir Next"/>
              </a:rPr>
              <a:t>▪  </a:t>
            </a:r>
            <a:r>
              <a:rPr sz="1650">
                <a:solidFill>
                  <a:srgbClr val="1E2A2F"/>
                </a:solidFill>
                <a:latin typeface="Avenir Next"/>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C97B3D"/>
                </a:solidFill>
                <a:latin typeface="Avenir Next"/>
              </a:rPr>
              <a:t>▪  </a:t>
            </a:r>
            <a:r>
              <a:rPr sz="1650">
                <a:solidFill>
                  <a:srgbClr val="1E2A2F"/>
                </a:solidFill>
                <a:latin typeface="Avenir Next"/>
              </a:rPr>
              <a:t>North America: single country — between-country uncertainty not estimable at all.</a:t>
            </a:r>
          </a:p>
          <a:p>
            <a:pPr>
              <a:lnSpc>
                <a:spcPct val="115000"/>
              </a:lnSpc>
              <a:spcAft>
                <a:spcPts val="1200"/>
              </a:spcAft>
            </a:pPr>
            <a:r>
              <a:rPr sz="1600">
                <a:solidFill>
                  <a:srgbClr val="C97B3D"/>
                </a:solidFill>
                <a:latin typeface="Avenir Next"/>
              </a:rPr>
              <a:t>▪  </a:t>
            </a:r>
            <a:r>
              <a:rPr sz="1650">
                <a:solidFill>
                  <a:srgbClr val="1E2A2F"/>
                </a:solidFill>
                <a:latin typeface="Avenir Next"/>
              </a:rPr>
              <a:t>The screen is a conservative heuristic: it can downgrade a claim, never certify one. Next step: country-stratified A/B test in those four markets.</a:t>
            </a:r>
          </a:p>
        </p:txBody>
      </p:sp>
      <p:pic>
        <p:nvPicPr>
          <p:cNvPr id="7" name="Picture 6" descr="region_speed.png"/>
          <p:cNvPicPr>
            <a:picLocks noChangeAspect="1"/>
          </p:cNvPicPr>
          <p:nvPr/>
        </p:nvPicPr>
        <p:blipFill>
          <a:blip r:embed="rId2"/>
          <a:stretch>
            <a:fillRect/>
          </a:stretch>
        </p:blipFill>
        <p:spPr>
          <a:xfrm>
            <a:off x="7498079" y="1783080"/>
            <a:ext cx="4069080" cy="3434021"/>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§5 · regional speed context for the pooled categories</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SHAP importance from the boosted forecasting model: structure fills the top ranks (amount, term, period, size band, sector, gender).</a:t>
            </a:r>
          </a:p>
          <a:p>
            <a:pPr>
              <a:lnSpc>
                <a:spcPct val="115000"/>
              </a:lnSpc>
              <a:spcAft>
                <a:spcPts val="1200"/>
              </a:spcAft>
            </a:pPr>
            <a:r>
              <a:rPr sz="1600">
                <a:solidFill>
                  <a:srgbClr val="C97B3D"/>
                </a:solidFill>
                <a:latin typeface="Avenir Next"/>
              </a:rPr>
              <a:t>▪  </a:t>
            </a:r>
            <a:r>
              <a:rPr sz="1650">
                <a:solidFill>
                  <a:srgbClr val="1E2A2F"/>
                </a:solidFill>
                <a:latin typeface="Avenir Next"/>
              </a:rPr>
              <a:t>No family, agency, or urgency feature reaches the top 15; sentiment is 11th despite its disputed significance.</a:t>
            </a:r>
          </a:p>
          <a:p>
            <a:pPr>
              <a:lnSpc>
                <a:spcPct val="115000"/>
              </a:lnSpc>
              <a:spcAft>
                <a:spcPts val="1200"/>
              </a:spcAft>
            </a:pPr>
            <a:r>
              <a:rPr sz="1600">
                <a:solidFill>
                  <a:srgbClr val="C97B3D"/>
                </a:solidFill>
                <a:latin typeface="Avenir Next"/>
              </a:rPr>
              <a:t>▪  </a:t>
            </a:r>
            <a:r>
              <a:rPr sz="1650">
                <a:solidFill>
                  <a:srgbClr val="1E2A2F"/>
                </a:solidFill>
                <a:latin typeface="Avenir Next"/>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069080" cy="2335995"/>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§8 · SHAP top-15</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Correlation with funding speed: loan amount (log) r = 0.43, repayment term r = 0.28 — vs competence 0.058, family 0.019, urgency 0.010.</a:t>
            </a:r>
          </a:p>
          <a:p>
            <a:pPr>
              <a:lnSpc>
                <a:spcPct val="115000"/>
              </a:lnSpc>
              <a:spcAft>
                <a:spcPts val="1200"/>
              </a:spcAft>
            </a:pPr>
            <a:r>
              <a:rPr sz="1600">
                <a:solidFill>
                  <a:srgbClr val="C97B3D"/>
                </a:solidFill>
                <a:latin typeface="Avenir Next"/>
              </a:rPr>
              <a:t>▪  </a:t>
            </a:r>
            <a:r>
              <a:rPr sz="1650">
                <a:solidFill>
                  <a:srgbClr val="1E2A2F"/>
                </a:solidFill>
                <a:latin typeface="Avenir Next"/>
              </a:rPr>
              <a:t>Loan-amount deciles also rise almost monotonically (~2 days for the smallest asks, ~18 for the largest) — monotonicity, not the 10x basis itself.</a:t>
            </a:r>
          </a:p>
          <a:p>
            <a:pPr>
              <a:lnSpc>
                <a:spcPct val="115000"/>
              </a:lnSpc>
              <a:spcAft>
                <a:spcPts val="1200"/>
              </a:spcAft>
            </a:pPr>
            <a:r>
              <a:rPr sz="1600">
                <a:solidFill>
                  <a:srgbClr val="C97B3D"/>
                </a:solidFill>
                <a:latin typeface="Avenir Next"/>
              </a:rPr>
              <a:t>▪  </a:t>
            </a:r>
            <a:r>
              <a:rPr sz="1650">
                <a:solidFill>
                  <a:srgbClr val="1E2A2F"/>
                </a:solidFill>
                <a:latin typeface="Avenir Next"/>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069080" cy="2062319"/>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§9 · correlation table (the 10x basis)</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Holdout (posted 2024-01-01 onward): 278,887 loans; 87,466 funded within 24h vs 191,421 not.</a:t>
            </a:r>
          </a:p>
          <a:p>
            <a:pPr>
              <a:lnSpc>
                <a:spcPct val="115000"/>
              </a:lnSpc>
              <a:spcAft>
                <a:spcPts val="1200"/>
              </a:spcAft>
            </a:pPr>
            <a:r>
              <a:rPr sz="1600">
                <a:solidFill>
                  <a:srgbClr val="C97B3D"/>
                </a:solidFill>
                <a:latin typeface="Avenir Next"/>
              </a:rPr>
              <a:t>▪  </a:t>
            </a:r>
            <a:r>
              <a:rPr sz="1650">
                <a:solidFill>
                  <a:srgbClr val="1E2A2F"/>
                </a:solidFill>
                <a:latin typeface="Avenir Next"/>
              </a:rPr>
              <a:t>ROC AUC 0.8997 · average precision 0.8301 · Brier 0.1156 · accuracy 0.840 — no narrative features needed.</a:t>
            </a:r>
          </a:p>
          <a:p>
            <a:pPr>
              <a:lnSpc>
                <a:spcPct val="115000"/>
              </a:lnSpc>
              <a:spcAft>
                <a:spcPts val="1200"/>
              </a:spcAft>
            </a:pPr>
            <a:r>
              <a:rPr sz="1600">
                <a:solidFill>
                  <a:srgbClr val="C97B3D"/>
                </a:solidFill>
                <a:latin typeface="Avenir Next"/>
              </a:rPr>
              <a:t>▪  </a:t>
            </a:r>
            <a:r>
              <a:rPr sz="1650">
                <a:solidFill>
                  <a:srgbClr val="1E2A2F"/>
                </a:solidFill>
                <a:latin typeface="Avenir Next"/>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C97B3D"/>
                </a:solidFill>
                <a:latin typeface="Avenir Next"/>
              </a:rPr>
              <a:t>▪  </a:t>
            </a:r>
            <a:r>
              <a:rPr sz="1650">
                <a:solidFill>
                  <a:srgbClr val="1E2A2F"/>
                </a:solidFill>
                <a:latin typeface="Avenir Next"/>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