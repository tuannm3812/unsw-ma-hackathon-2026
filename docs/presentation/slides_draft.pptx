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 we're Cultural Blend. Kiva is built on stories: every loan page leads with one. So we asked a simple question of 1.45 million real loans: does the story actually move the money?</a:t>
            </a:r>
          </a:p>
          <a:p/>
          <a:p>
            <a:r>
              <a:t>[Sources] reports/generated_full_dataset/association_summary.txt (authoritative numbers); docs/presentation/deck_content.md SS2 numbers table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Specifically: when a borrower's story leans on family, on competence, on urgency — does the loan fund faster? And does the answer depend on who's asking, and when? We care because language is the one thing a platform can coach. You can't rewrite a loan's size, sector, or country after the fact — but you could suggest better words. IF words work. That's the claim we set out to test, not assume.</a:t>
            </a:r>
          </a:p>
          <a:p/>
          <a:p>
            <a:r>
              <a:t>[Sources] reports/generated_full_dataset/association_summary.txt (authoritative numbers); docs/presentation/deck_content.md SS2 numbers table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disciplines before any findings. For prediction, we train only on the past and test only on loans posted in 2024–25 — no peeking at the future. For the framing claims, every 'significant' result had to survive re-testing: first with standard errors clustered by country, so ten thousand loans from one country can't masquerade as ten thousand independent pieces of evidence — and where a result rested on just a couple of countries, a deliberately harsher few-cluster reference on top. Most headline-looking results did not survive. That's the point: we'd rather lose a finding than present a fluke.</a:t>
            </a:r>
          </a:p>
          <a:p/>
          <a:p>
            <a:r>
              <a:t>[Sources] Split schematic drawn from analysis_summary.json split sizes (train 1,174,953 / holdout 278,887; boundary 2024-01-01).</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pandemic, almost half of Kiva loans — 46% — funded within 24 hours. Since 2020, it's been under a third — and through the end of our data in 2025 it has not recovered. That's more than half a million loans on each side of the divide, so this isn't noise. Every result we show next lives inside this slower, tighter marketplace — lenders are more selective now, which makes knowing what actually drives speed more valuable, not less.</a:t>
            </a:r>
          </a:p>
          <a:p/>
          <a:p>
            <a:r>
              <a:t>[Sources] Chart rebuilt from EDA SS4 printed shares (0.460/0.303/0.300) and period counts; association_summary.txt audit trail.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does drive speed? Structure. Loan amount and repayment terms are associated with funding speed roughly ten times more strongly than any single narrative choice. Sector alone spans more than an order of magnitude. And the starkest gap in the data: loans posted by women fund in a median of 2.3 days; by men, 7.7 — more than three times longer. None of this is causal — but the pattern is enormous, it's stable, and it dwarfs anything the words do.</a:t>
            </a:r>
          </a:p>
          <a:p/>
          <a:p>
            <a:r>
              <a:t>[Sources] Sector means computed from data/Kiva_Loans.pkl replicating EDA SS5 grouping (counts verified vs executed notebook). Gender medians: EDA SS4 printout.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question we came to answer — and the honest answer is that nothing about the narrative survives our own scrutiny. Urgency language looked like a clean, universal win: significant at p&lt;0.001. Cluster by country, and it collapses to p≈0.44. Gone. Family framing — here our own first version got it wrong: we tested whether regions differ from Africa, which is not the same as whether family framing helps WITHIN a region. Corrected, two pooled categories — Palestine+Yemen, and Honduras+Nicaragua — do show faster funding in every fit we ran. But each rests on exactly two countries, and against a deliberately harsh few-cluster screen — a t distribution with one degree of freedom, where the critical value is 12.7, not 1.96 — neither is significant: p between 0.06 and 0.21. So we report it as a hypothesis worth testing, not a finding. Sentiment tone: more positive language associates with SLOWER funding, but its significance flips between our two specifications — we call it open. We'd rather report no robust evidence than one exciting result we can't defend.</a:t>
            </a:r>
          </a:p>
          <a:p/>
          <a:p>
            <a:r>
              <a:t>[Sources] Table typeset from the executed modeling notebook SS7.2 printout (v15); authoritative few-cluster values: analysis_summary.json within_region_slopes.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also went beyond keyword counting. Topic modeling finds coherent themes in the stories — livestock, health and sanitation, clean water, farming, retail — and funding speed swings ninefold across them, from a day and a half to nearly two weeks. But notice what a topic mostly encodes: what the loan is FOR. Which is structure again — not persuasion.</a:t>
            </a:r>
          </a:p>
          <a:p/>
          <a:p>
            <a:r>
              <a:t>[Sources] Chart rebuilt from EDA SS8 printed topic means and top-words (8 NMF topics).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should Kiva actually do? Three things. First — don't ship writing tips. A platform-wide 'add urgency' nudge would be built on a result that doesn't survive testing. The family-framing pattern deserves a country-stratified A/B test in exactly those four markets: that's how a hypothesis becomes a decision, and it's cheap to run. Second — the structural gaps are where the real levers are: review how the consistently slower sectors and regions are surfaced, bundled, and supported, because those gaps are ten times the size of any wording effect. Third — speed is predictable in retrospect: among loans that eventually funded, our classifier ranks same-day funding at AUC 0.90 on strictly future data, without any framing features. One honest boundary: expired or withdrawn listings never enter this data, so that is a ranking prototype among eventual funders — not yet an early-warning system. To build one, Kiva should pull all posted listings including expired and withdrawn outcomes, define the operational target, and retrain and validate on that population — before any pilot.</a:t>
            </a:r>
          </a:p>
          <a:p/>
          <a:p>
            <a:r>
              <a:t>[Sources] Classifier metrics: analysis_summary.json binary_classifier. Few-cluster screen: SS7.2 / within_region_slopes.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honest limits. This is association, never causation — no borrower was randomly assigned a writing style. We measure how fast funded loans fund — not whether a loan funds at all. And our framing measures are transparent, simple rules — they don't capture every nuance of persuasion. We'd rather you know exactly what this analysis can and cannot say — that's what makes the parts we do claim worth trusting.</a:t>
            </a:r>
          </a:p>
          <a:p/>
          <a:p>
            <a:r>
              <a:t>[Sources] reports/generated_full_dataset/association_summary.txt (authoritative numbers); docs/presentation/deck_content.md SS2 numbers table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this data, the story barely registers — the structure carries the signal. And testing hard enough to say, honestly, that there is no robust evidence for the story is worth more to a platform than a good-sounding tip. Thank you — we're happy to take questions.</a:t>
            </a:r>
          </a:p>
          <a:p/>
          <a:p>
            <a:r>
              <a:t>[Sources] reports/generated_full_dataset/association_summary.txt (authoritative numbers); docs/presentation/deck_content.md SS2 numbers table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Divider only. Everything after this slide exists to be pulled up during Q&amp;A if a question calls for it.</a:t>
            </a:r>
          </a:p>
          <a:p/>
          <a:p>
            <a:r>
              <a:t>[Sources] reports/generated_full_dataset/association_summary.txt (authoritative numbers); docs/presentation/deck_content.md SS2 numbers table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Slide 6 probes: exact pooled definitions, all p-values, the single-country boundary, and the honest status of the screen.</a:t>
            </a:r>
          </a:p>
          <a:p/>
          <a:p>
            <a:r>
              <a:t>[Sources] Region means computed from data/Kiva_Loans.pkl replicating EDA SS5 grouping (counts verified). Pooled definitions + p-values: association_summary.txt.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SHAP questions: what the ranking shows, and exactly what it cannot corroborate.</a:t>
            </a:r>
          </a:p>
          <a:p/>
          <a:p>
            <a:r>
              <a:t>[Sources] Chart rebuilt from modeling SS8 printed SHAP top-15 values (v14/v15 runs).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Slide 5 probes: the amount gradient and the gender gap's robustness status.</a:t>
            </a:r>
          </a:p>
          <a:p/>
          <a:p>
            <a:r>
              <a:t>[Sources] Chart rebuilt from EDA SS9 printed correlation table; decile curve: EDA SS9 figure.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for classifier questions: exact metrics, class balance, and the population boundary stated before anyone asks.</a:t>
            </a:r>
          </a:p>
          <a:p/>
          <a:p>
            <a:r>
              <a:t>[Sources] reports/generated_full_dataset/association_summary.txt (authoritative numbers); docs/presentation/deck_content.md SS2 numbers table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C2333"/>
        </a:solidFill>
        <a:effectLst/>
      </p:bgPr>
    </p:bg>
    <p:spTree>
      <p:nvGrpSpPr>
        <p:cNvPr id="1" name=""/>
        <p:cNvGrpSpPr/>
        <p:nvPr/>
      </p:nvGrpSpPr>
      <p:grpSpPr/>
      <p:sp>
        <p:nvSpPr>
          <p:cNvPr id="2" name="Rectangle 1"/>
          <p:cNvSpPr/>
          <p:nvPr/>
        </p:nvSpPr>
        <p:spPr>
          <a:xfrm>
            <a:off x="822960" y="1874519"/>
            <a:ext cx="1463040" cy="50800"/>
          </a:xfrm>
          <a:prstGeom prst="rect">
            <a:avLst/>
          </a:prstGeom>
          <a:solidFill>
            <a:srgbClr val="FFDD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234440"/>
            <a:ext cx="10515600" cy="457200"/>
          </a:xfrm>
          <a:prstGeom prst="rect">
            <a:avLst/>
          </a:prstGeom>
          <a:noFill/>
        </p:spPr>
        <p:txBody>
          <a:bodyPr wrap="square">
            <a:spAutoFit/>
          </a:bodyPr>
          <a:lstStyle/>
          <a:p>
            <a:pPr>
              <a:defRPr sz="1300" b="0" i="0">
                <a:solidFill>
                  <a:srgbClr val="FFDD04"/>
                </a:solidFill>
                <a:latin typeface="Courier New"/>
              </a:defRPr>
            </a:pPr>
            <a:r>
              <a:t>UNSW MARKETING ANALYTICS HACKATHON · FINAL</a:t>
            </a:r>
          </a:p>
        </p:txBody>
      </p:sp>
      <p:sp>
        <p:nvSpPr>
          <p:cNvPr id="4" name="TextBox 3"/>
          <p:cNvSpPr txBox="1"/>
          <p:nvPr/>
        </p:nvSpPr>
        <p:spPr>
          <a:xfrm>
            <a:off x="777240" y="2103120"/>
            <a:ext cx="10789920" cy="2011680"/>
          </a:xfrm>
          <a:prstGeom prst="rect">
            <a:avLst/>
          </a:prstGeom>
          <a:noFill/>
        </p:spPr>
        <p:txBody>
          <a:bodyPr wrap="square">
            <a:spAutoFit/>
          </a:bodyPr>
          <a:lstStyle/>
          <a:p>
            <a:pPr>
              <a:defRPr sz="6600" b="1" i="0">
                <a:solidFill>
                  <a:srgbClr val="FBFAF6"/>
                </a:solidFill>
                <a:latin typeface="Georgia"/>
              </a:defRPr>
            </a:pPr>
            <a:r>
              <a:t>Beyond a Good Story</a:t>
            </a:r>
          </a:p>
        </p:txBody>
      </p:sp>
      <p:sp>
        <p:nvSpPr>
          <p:cNvPr id="5" name="TextBox 4"/>
          <p:cNvSpPr txBox="1"/>
          <p:nvPr/>
        </p:nvSpPr>
        <p:spPr>
          <a:xfrm>
            <a:off x="822960" y="3977639"/>
            <a:ext cx="8961120" cy="1097280"/>
          </a:xfrm>
          <a:prstGeom prst="rect">
            <a:avLst/>
          </a:prstGeom>
          <a:noFill/>
        </p:spPr>
        <p:txBody>
          <a:bodyPr wrap="square">
            <a:spAutoFit/>
          </a:bodyPr>
          <a:lstStyle/>
          <a:p>
            <a:pPr>
              <a:defRPr sz="2200" b="0" i="1">
                <a:solidFill>
                  <a:srgbClr val="B8CED6"/>
                </a:solidFill>
                <a:latin typeface="DM Sans"/>
              </a:defRPr>
            </a:pPr>
            <a:r>
              <a:t>When — and for whom — does persuasive loan language actually speed up funding?</a:t>
            </a:r>
          </a:p>
        </p:txBody>
      </p:sp>
      <p:sp>
        <p:nvSpPr>
          <p:cNvPr id="6" name="TextBox 5"/>
          <p:cNvSpPr txBox="1"/>
          <p:nvPr/>
        </p:nvSpPr>
        <p:spPr>
          <a:xfrm>
            <a:off x="822960" y="5760720"/>
            <a:ext cx="10515600" cy="548640"/>
          </a:xfrm>
          <a:prstGeom prst="rect">
            <a:avLst/>
          </a:prstGeom>
          <a:noFill/>
        </p:spPr>
        <p:txBody>
          <a:bodyPr wrap="square">
            <a:spAutoFit/>
          </a:bodyPr>
          <a:lstStyle/>
          <a:p>
            <a:pPr>
              <a:defRPr sz="1500" b="0" i="0">
                <a:solidFill>
                  <a:srgbClr val="8FB0BB"/>
                </a:solidFill>
                <a:latin typeface="Courier New"/>
              </a:defRPr>
            </a:pPr>
            <a:r>
              <a:t>Team Cultural Blend  ·  Kiva loan data  ·  1.45 million real loans (2016–2025)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TextBox 1"/>
          <p:cNvSpPr txBox="1"/>
          <p:nvPr/>
        </p:nvSpPr>
        <p:spPr>
          <a:xfrm>
            <a:off x="685800" y="384048"/>
            <a:ext cx="8229600" cy="320040"/>
          </a:xfrm>
          <a:prstGeom prst="rect">
            <a:avLst/>
          </a:prstGeom>
          <a:noFill/>
        </p:spPr>
        <p:txBody>
          <a:bodyPr wrap="square">
            <a:spAutoFit/>
          </a:bodyPr>
          <a:lstStyle/>
          <a:p>
            <a:pPr>
              <a:defRPr sz="1150" b="0" i="0">
                <a:solidFill>
                  <a:srgbClr val="31688E"/>
                </a:solidFill>
                <a:latin typeface="Courier New"/>
              </a:defRPr>
            </a:pPr>
            <a:r>
              <a:t>MOTIVATION</a:t>
            </a:r>
          </a:p>
        </p:txBody>
      </p:sp>
      <p:sp>
        <p:nvSpPr>
          <p:cNvPr id="3" name="Rounded Rectangle 2"/>
          <p:cNvSpPr/>
          <p:nvPr/>
        </p:nvSpPr>
        <p:spPr>
          <a:xfrm>
            <a:off x="11109960" y="365760"/>
            <a:ext cx="658368" cy="347472"/>
          </a:xfrm>
          <a:prstGeom prst="roundRect">
            <a:avLst/>
          </a:prstGeom>
          <a:solidFill>
            <a:srgbClr val="1C233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200" b="0" i="0">
                <a:solidFill>
                  <a:srgbClr val="FFDD04"/>
                </a:solidFill>
                <a:latin typeface="Courier New"/>
              </a:defRPr>
            </a:pPr>
            <a:r>
              <a:t>2/10</a:t>
            </a:r>
          </a:p>
        </p:txBody>
      </p:sp>
      <p:sp>
        <p:nvSpPr>
          <p:cNvPr id="4" name="TextBox 3"/>
          <p:cNvSpPr txBox="1"/>
          <p:nvPr/>
        </p:nvSpPr>
        <p:spPr>
          <a:xfrm>
            <a:off x="640080" y="713232"/>
            <a:ext cx="10332720" cy="914400"/>
          </a:xfrm>
          <a:prstGeom prst="rect">
            <a:avLst/>
          </a:prstGeom>
          <a:noFill/>
        </p:spPr>
        <p:txBody>
          <a:bodyPr wrap="square">
            <a:spAutoFit/>
          </a:bodyPr>
          <a:lstStyle/>
          <a:p>
            <a:pPr>
              <a:defRPr sz="3600" b="1" i="0">
                <a:solidFill>
                  <a:srgbClr val="1C2333"/>
                </a:solidFill>
                <a:latin typeface="Georgia"/>
              </a:defRPr>
            </a:pPr>
            <a:r>
              <a:t>The question</a:t>
            </a:r>
          </a:p>
        </p:txBody>
      </p:sp>
      <p:sp>
        <p:nvSpPr>
          <p:cNvPr id="5" name="Rectangle 4"/>
          <p:cNvSpPr/>
          <p:nvPr/>
        </p:nvSpPr>
        <p:spPr>
          <a:xfrm>
            <a:off x="685800" y="1481328"/>
            <a:ext cx="1234440" cy="44450"/>
          </a:xfrm>
          <a:prstGeom prst="rect">
            <a:avLst/>
          </a:prstGeom>
          <a:solidFill>
            <a:srgbClr val="FFDD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783080"/>
            <a:ext cx="11064240" cy="4526280"/>
          </a:xfrm>
          <a:prstGeom prst="rect">
            <a:avLst/>
          </a:prstGeom>
          <a:noFill/>
        </p:spPr>
        <p:txBody>
          <a:bodyPr wrap="square">
            <a:spAutoFit/>
          </a:bodyPr>
          <a:lstStyle/>
          <a:p>
            <a:pPr>
              <a:lnSpc>
                <a:spcPct val="115000"/>
              </a:lnSpc>
              <a:spcAft>
                <a:spcPts val="1200"/>
              </a:spcAft>
            </a:pPr>
            <a:r>
              <a:rPr sz="1600">
                <a:solidFill>
                  <a:srgbClr val="FFDD04"/>
                </a:solidFill>
                <a:latin typeface="DM Sans"/>
              </a:rPr>
              <a:t>▪  </a:t>
            </a:r>
            <a:r>
              <a:rPr sz="1650">
                <a:solidFill>
                  <a:srgbClr val="1C2333"/>
                </a:solidFill>
                <a:latin typeface="DM Sans"/>
              </a:rPr>
              <a:t>When a loan's story leans on family, competence, or urgency — does it fund faster?</a:t>
            </a:r>
          </a:p>
          <a:p>
            <a:pPr>
              <a:lnSpc>
                <a:spcPct val="115000"/>
              </a:lnSpc>
              <a:spcAft>
                <a:spcPts val="1200"/>
              </a:spcAft>
            </a:pPr>
            <a:r>
              <a:rPr sz="1600">
                <a:solidFill>
                  <a:srgbClr val="FFDD04"/>
                </a:solidFill>
                <a:latin typeface="DM Sans"/>
              </a:rPr>
              <a:t>▪  </a:t>
            </a:r>
            <a:r>
              <a:rPr sz="1650">
                <a:solidFill>
                  <a:srgbClr val="1C2333"/>
                </a:solidFill>
                <a:latin typeface="DM Sans"/>
              </a:rPr>
              <a:t>Does the answer depend on WHO is asking and WHEN?</a:t>
            </a:r>
          </a:p>
          <a:p>
            <a:pPr>
              <a:lnSpc>
                <a:spcPct val="115000"/>
              </a:lnSpc>
              <a:spcAft>
                <a:spcPts val="1200"/>
              </a:spcAft>
            </a:pPr>
            <a:r>
              <a:rPr sz="1600">
                <a:solidFill>
                  <a:srgbClr val="FFDD04"/>
                </a:solidFill>
                <a:latin typeface="DM Sans"/>
              </a:rPr>
              <a:t>▪  </a:t>
            </a:r>
            <a:r>
              <a:rPr sz="1650">
                <a:solidFill>
                  <a:srgbClr val="1C2333"/>
                </a:solidFill>
                <a:latin typeface="DM Sans"/>
              </a:rPr>
              <a:t>Why it matters: framing is the one thing a platform can coach — loan size, sector and geography can't be rewritten after the fact.</a:t>
            </a:r>
          </a:p>
        </p:txBody>
      </p:sp>
      <p:sp>
        <p:nvSpPr>
          <p:cNvPr id="7" name="TextBox 6"/>
          <p:cNvSpPr txBox="1"/>
          <p:nvPr/>
        </p:nvSpPr>
        <p:spPr>
          <a:xfrm>
            <a:off x="685800" y="6446520"/>
            <a:ext cx="8229600" cy="320040"/>
          </a:xfrm>
          <a:prstGeom prst="rect">
            <a:avLst/>
          </a:prstGeom>
          <a:noFill/>
        </p:spPr>
        <p:txBody>
          <a:bodyPr wrap="square">
            <a:spAutoFit/>
          </a:bodyPr>
          <a:lstStyle/>
          <a:p>
            <a:pPr>
              <a:defRPr sz="1000" b="0" i="0">
                <a:solidFill>
                  <a:srgbClr val="6E7278"/>
                </a:solidFill>
                <a:latin typeface="Courier New"/>
              </a:defRPr>
            </a:pPr>
            <a:r>
              <a:t>Cultural Blend · Kiva 2016–2025 · 1.45M loans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TextBox 1"/>
          <p:cNvSpPr txBox="1"/>
          <p:nvPr/>
        </p:nvSpPr>
        <p:spPr>
          <a:xfrm>
            <a:off x="685800" y="384048"/>
            <a:ext cx="8229600" cy="320040"/>
          </a:xfrm>
          <a:prstGeom prst="rect">
            <a:avLst/>
          </a:prstGeom>
          <a:noFill/>
        </p:spPr>
        <p:txBody>
          <a:bodyPr wrap="square">
            <a:spAutoFit/>
          </a:bodyPr>
          <a:lstStyle/>
          <a:p>
            <a:pPr>
              <a:defRPr sz="1150" b="0" i="0">
                <a:solidFill>
                  <a:srgbClr val="31688E"/>
                </a:solidFill>
                <a:latin typeface="Courier New"/>
              </a:defRPr>
            </a:pPr>
            <a:r>
              <a:t>METHOD</a:t>
            </a:r>
          </a:p>
        </p:txBody>
      </p:sp>
      <p:sp>
        <p:nvSpPr>
          <p:cNvPr id="3" name="Rounded Rectangle 2"/>
          <p:cNvSpPr/>
          <p:nvPr/>
        </p:nvSpPr>
        <p:spPr>
          <a:xfrm>
            <a:off x="11109960" y="365760"/>
            <a:ext cx="658368" cy="347472"/>
          </a:xfrm>
          <a:prstGeom prst="roundRect">
            <a:avLst/>
          </a:prstGeom>
          <a:solidFill>
            <a:srgbClr val="1C233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200" b="0" i="0">
                <a:solidFill>
                  <a:srgbClr val="FFDD04"/>
                </a:solidFill>
                <a:latin typeface="Courier New"/>
              </a:defRPr>
            </a:pPr>
            <a:r>
              <a:t>3/10</a:t>
            </a:r>
          </a:p>
        </p:txBody>
      </p:sp>
      <p:sp>
        <p:nvSpPr>
          <p:cNvPr id="4" name="TextBox 3"/>
          <p:cNvSpPr txBox="1"/>
          <p:nvPr/>
        </p:nvSpPr>
        <p:spPr>
          <a:xfrm>
            <a:off x="640080" y="713232"/>
            <a:ext cx="10332720" cy="914400"/>
          </a:xfrm>
          <a:prstGeom prst="rect">
            <a:avLst/>
          </a:prstGeom>
          <a:noFill/>
        </p:spPr>
        <p:txBody>
          <a:bodyPr wrap="square">
            <a:spAutoFit/>
          </a:bodyPr>
          <a:lstStyle/>
          <a:p>
            <a:pPr>
              <a:defRPr sz="3600" b="1" i="0">
                <a:solidFill>
                  <a:srgbClr val="1C2333"/>
                </a:solidFill>
                <a:latin typeface="Georgia"/>
              </a:defRPr>
            </a:pPr>
            <a:r>
              <a:t>How we stress-tested our findings</a:t>
            </a:r>
          </a:p>
        </p:txBody>
      </p:sp>
      <p:sp>
        <p:nvSpPr>
          <p:cNvPr id="5" name="Rectangle 4"/>
          <p:cNvSpPr/>
          <p:nvPr/>
        </p:nvSpPr>
        <p:spPr>
          <a:xfrm>
            <a:off x="685800" y="1481328"/>
            <a:ext cx="1234440" cy="44450"/>
          </a:xfrm>
          <a:prstGeom prst="rect">
            <a:avLst/>
          </a:prstGeom>
          <a:solidFill>
            <a:srgbClr val="FFDD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783080"/>
            <a:ext cx="6720840" cy="4526280"/>
          </a:xfrm>
          <a:prstGeom prst="rect">
            <a:avLst/>
          </a:prstGeom>
          <a:noFill/>
        </p:spPr>
        <p:txBody>
          <a:bodyPr wrap="square">
            <a:spAutoFit/>
          </a:bodyPr>
          <a:lstStyle/>
          <a:p>
            <a:pPr>
              <a:lnSpc>
                <a:spcPct val="115000"/>
              </a:lnSpc>
              <a:spcAft>
                <a:spcPts val="1200"/>
              </a:spcAft>
            </a:pPr>
            <a:r>
              <a:rPr sz="1600">
                <a:solidFill>
                  <a:srgbClr val="FFDD04"/>
                </a:solidFill>
                <a:latin typeface="DM Sans"/>
              </a:rPr>
              <a:t>▪  </a:t>
            </a:r>
            <a:r>
              <a:rPr sz="1650">
                <a:solidFill>
                  <a:srgbClr val="1C2333"/>
                </a:solidFill>
                <a:latin typeface="DM Sans"/>
              </a:rPr>
              <a:t>Predictive claims: trained only on the past, tested only on loans posted 2024–2025 — no peeking at the future.</a:t>
            </a:r>
          </a:p>
          <a:p>
            <a:pPr>
              <a:lnSpc>
                <a:spcPct val="115000"/>
              </a:lnSpc>
              <a:spcAft>
                <a:spcPts val="1200"/>
              </a:spcAft>
            </a:pPr>
            <a:r>
              <a:rPr sz="1600">
                <a:solidFill>
                  <a:srgbClr val="FFDD04"/>
                </a:solidFill>
                <a:latin typeface="DM Sans"/>
              </a:rPr>
              <a:t>▪  </a:t>
            </a:r>
            <a:r>
              <a:rPr sz="1650">
                <a:solidFill>
                  <a:srgbClr val="1C2333"/>
                </a:solidFill>
                <a:latin typeface="DM Sans"/>
              </a:rPr>
              <a:t>Framing claims: every 'significant' result re-tested with country-clustered standard errors, then a harsher few-cluster reference where a result rests on a handful of countries.</a:t>
            </a:r>
          </a:p>
          <a:p>
            <a:pPr>
              <a:lnSpc>
                <a:spcPct val="115000"/>
              </a:lnSpc>
              <a:spcAft>
                <a:spcPts val="1200"/>
              </a:spcAft>
            </a:pPr>
            <a:r>
              <a:rPr sz="1600">
                <a:solidFill>
                  <a:srgbClr val="FFDD04"/>
                </a:solidFill>
                <a:latin typeface="DM Sans"/>
              </a:rPr>
              <a:t>▪  </a:t>
            </a:r>
            <a:r>
              <a:rPr sz="1650">
                <a:solidFill>
                  <a:srgbClr val="1C2333"/>
                </a:solidFill>
                <a:latin typeface="DM Sans"/>
              </a:rPr>
              <a:t>Most headline-looking results did NOT survive — that is the point of the method.</a:t>
            </a:r>
          </a:p>
          <a:p>
            <a:pPr>
              <a:lnSpc>
                <a:spcPct val="115000"/>
              </a:lnSpc>
              <a:spcAft>
                <a:spcPts val="1200"/>
              </a:spcAft>
            </a:pPr>
            <a:r>
              <a:rPr sz="1600">
                <a:solidFill>
                  <a:srgbClr val="FFDD04"/>
                </a:solidFill>
                <a:latin typeface="DM Sans"/>
              </a:rPr>
              <a:t>▪  </a:t>
            </a:r>
            <a:r>
              <a:rPr sz="1650">
                <a:solidFill>
                  <a:srgbClr val="1C2333"/>
                </a:solidFill>
                <a:latin typeface="DM Sans"/>
              </a:rPr>
              <a:t>SHAP importance shown as complementary predictive evidence only — it cannot confirm or refute a statistical finding.</a:t>
            </a:r>
          </a:p>
        </p:txBody>
      </p:sp>
      <p:pic>
        <p:nvPicPr>
          <p:cNvPr id="7" name="Picture 6" descr="data_split.png"/>
          <p:cNvPicPr>
            <a:picLocks noChangeAspect="1"/>
          </p:cNvPicPr>
          <p:nvPr/>
        </p:nvPicPr>
        <p:blipFill>
          <a:blip r:embed="rId2"/>
          <a:stretch>
            <a:fillRect/>
          </a:stretch>
        </p:blipFill>
        <p:spPr>
          <a:xfrm>
            <a:off x="7892795" y="1783080"/>
            <a:ext cx="3371088" cy="2206752"/>
          </a:xfrm>
          <a:prstGeom prst="rect">
            <a:avLst/>
          </a:prstGeom>
        </p:spPr>
      </p:pic>
      <p:sp>
        <p:nvSpPr>
          <p:cNvPr id="8" name="TextBox 7"/>
          <p:cNvSpPr txBox="1"/>
          <p:nvPr/>
        </p:nvSpPr>
        <p:spPr>
          <a:xfrm>
            <a:off x="7498079" y="6053328"/>
            <a:ext cx="4297680" cy="685800"/>
          </a:xfrm>
          <a:prstGeom prst="rect">
            <a:avLst/>
          </a:prstGeom>
          <a:noFill/>
        </p:spPr>
        <p:txBody>
          <a:bodyPr wrap="square">
            <a:spAutoFit/>
          </a:bodyPr>
          <a:lstStyle/>
          <a:p>
            <a:r>
              <a:rPr sz="900" b="1">
                <a:solidFill>
                  <a:srgbClr val="1C2333"/>
                </a:solidFill>
                <a:latin typeface="DM Sans"/>
              </a:rPr>
              <a:t>Figure 1. </a:t>
            </a:r>
            <a:r>
              <a:rPr sz="900">
                <a:solidFill>
                  <a:srgbClr val="1C2333"/>
                </a:solidFill>
                <a:latin typeface="DM Sans"/>
              </a:rPr>
              <a:t>Chronological train/test split.</a:t>
            </a:r>
          </a:p>
          <a:p>
            <a:r>
              <a:rPr sz="800">
                <a:solidFill>
                  <a:srgbClr val="6E7278"/>
                </a:solidFill>
                <a:latin typeface="DM Sans"/>
              </a:rPr>
              <a:t>Notes: Train 1,174,953 loans (2016-2023); test 278,887 (posted 2024-01-01 onward). Counts from the authoritative snapshot.</a:t>
            </a:r>
          </a:p>
        </p:txBody>
      </p:sp>
      <p:sp>
        <p:nvSpPr>
          <p:cNvPr id="9" name="TextBox 8"/>
          <p:cNvSpPr txBox="1"/>
          <p:nvPr/>
        </p:nvSpPr>
        <p:spPr>
          <a:xfrm>
            <a:off x="685800" y="6446520"/>
            <a:ext cx="8229600" cy="320040"/>
          </a:xfrm>
          <a:prstGeom prst="rect">
            <a:avLst/>
          </a:prstGeom>
          <a:noFill/>
        </p:spPr>
        <p:txBody>
          <a:bodyPr wrap="square">
            <a:spAutoFit/>
          </a:bodyPr>
          <a:lstStyle/>
          <a:p>
            <a:pPr>
              <a:defRPr sz="1000" b="0" i="0">
                <a:solidFill>
                  <a:srgbClr val="6E7278"/>
                </a:solidFill>
                <a:latin typeface="Courier New"/>
              </a:defRPr>
            </a:pPr>
            <a:r>
              <a:t>Cultural Blend · Kiva 2016–2025 · 1.45M loans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TextBox 1"/>
          <p:cNvSpPr txBox="1"/>
          <p:nvPr/>
        </p:nvSpPr>
        <p:spPr>
          <a:xfrm>
            <a:off x="685800" y="384048"/>
            <a:ext cx="8229600" cy="320040"/>
          </a:xfrm>
          <a:prstGeom prst="rect">
            <a:avLst/>
          </a:prstGeom>
          <a:noFill/>
        </p:spPr>
        <p:txBody>
          <a:bodyPr wrap="square">
            <a:spAutoFit/>
          </a:bodyPr>
          <a:lstStyle/>
          <a:p>
            <a:pPr>
              <a:defRPr sz="1150" b="0" i="0">
                <a:solidFill>
                  <a:srgbClr val="31688E"/>
                </a:solidFill>
                <a:latin typeface="Courier New"/>
              </a:defRPr>
            </a:pPr>
            <a:r>
              <a:t>FINDING 1 · THE MARKET</a:t>
            </a:r>
          </a:p>
        </p:txBody>
      </p:sp>
      <p:sp>
        <p:nvSpPr>
          <p:cNvPr id="3" name="Rounded Rectangle 2"/>
          <p:cNvSpPr/>
          <p:nvPr/>
        </p:nvSpPr>
        <p:spPr>
          <a:xfrm>
            <a:off x="11109960" y="365760"/>
            <a:ext cx="658368" cy="347472"/>
          </a:xfrm>
          <a:prstGeom prst="roundRect">
            <a:avLst/>
          </a:prstGeom>
          <a:solidFill>
            <a:srgbClr val="1C233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200" b="0" i="0">
                <a:solidFill>
                  <a:srgbClr val="FFDD04"/>
                </a:solidFill>
                <a:latin typeface="Courier New"/>
              </a:defRPr>
            </a:pPr>
            <a:r>
              <a:t>4/10</a:t>
            </a:r>
          </a:p>
        </p:txBody>
      </p:sp>
      <p:sp>
        <p:nvSpPr>
          <p:cNvPr id="4" name="TextBox 3"/>
          <p:cNvSpPr txBox="1"/>
          <p:nvPr/>
        </p:nvSpPr>
        <p:spPr>
          <a:xfrm>
            <a:off x="640080" y="713232"/>
            <a:ext cx="10332720" cy="914400"/>
          </a:xfrm>
          <a:prstGeom prst="rect">
            <a:avLst/>
          </a:prstGeom>
          <a:noFill/>
        </p:spPr>
        <p:txBody>
          <a:bodyPr wrap="square">
            <a:spAutoFit/>
          </a:bodyPr>
          <a:lstStyle/>
          <a:p>
            <a:pPr>
              <a:defRPr sz="3600" b="1" i="0">
                <a:solidFill>
                  <a:srgbClr val="1C2333"/>
                </a:solidFill>
                <a:latin typeface="Georgia"/>
              </a:defRPr>
            </a:pPr>
            <a:r>
              <a:t>A marketplace that hasn't recovered</a:t>
            </a:r>
          </a:p>
        </p:txBody>
      </p:sp>
      <p:sp>
        <p:nvSpPr>
          <p:cNvPr id="5" name="Rectangle 4"/>
          <p:cNvSpPr/>
          <p:nvPr/>
        </p:nvSpPr>
        <p:spPr>
          <a:xfrm>
            <a:off x="685800" y="1481328"/>
            <a:ext cx="1234440" cy="44450"/>
          </a:xfrm>
          <a:prstGeom prst="rect">
            <a:avLst/>
          </a:prstGeom>
          <a:solidFill>
            <a:srgbClr val="FFDD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783080"/>
            <a:ext cx="11064240" cy="914400"/>
          </a:xfrm>
          <a:prstGeom prst="rect">
            <a:avLst/>
          </a:prstGeom>
          <a:noFill/>
        </p:spPr>
        <p:txBody>
          <a:bodyPr wrap="square">
            <a:spAutoFit/>
          </a:bodyPr>
          <a:lstStyle/>
          <a:p>
            <a:pPr>
              <a:defRPr sz="4000" b="1" i="0">
                <a:solidFill>
                  <a:srgbClr val="1C2333"/>
                </a:solidFill>
                <a:latin typeface="Georgia"/>
              </a:defRPr>
            </a:pPr>
            <a:r>
              <a:t>46% → 30% → 30%  </a:t>
            </a:r>
            <a:r>
              <a:rPr sz="1600" b="0">
                <a:solidFill>
                  <a:srgbClr val="6E7278"/>
                </a:solidFill>
                <a:latin typeface="DM Sans"/>
              </a:rPr>
              <a:t>funded within 24 hours</a:t>
            </a:r>
          </a:p>
        </p:txBody>
      </p:sp>
      <p:sp>
        <p:nvSpPr>
          <p:cNvPr id="7" name="TextBox 6"/>
          <p:cNvSpPr txBox="1"/>
          <p:nvPr/>
        </p:nvSpPr>
        <p:spPr>
          <a:xfrm>
            <a:off x="685800" y="2834639"/>
            <a:ext cx="6720840" cy="3474720"/>
          </a:xfrm>
          <a:prstGeom prst="rect">
            <a:avLst/>
          </a:prstGeom>
          <a:noFill/>
        </p:spPr>
        <p:txBody>
          <a:bodyPr wrap="square">
            <a:spAutoFit/>
          </a:bodyPr>
          <a:lstStyle/>
          <a:p>
            <a:pPr>
              <a:lnSpc>
                <a:spcPct val="115000"/>
              </a:lnSpc>
              <a:spcAft>
                <a:spcPts val="1200"/>
              </a:spcAft>
            </a:pPr>
            <a:r>
              <a:rPr sz="1600">
                <a:solidFill>
                  <a:srgbClr val="FFDD04"/>
                </a:solidFill>
                <a:latin typeface="DM Sans"/>
              </a:rPr>
              <a:t>▪  </a:t>
            </a:r>
            <a:r>
              <a:rPr sz="1650">
                <a:solidFill>
                  <a:srgbClr val="1C2333"/>
                </a:solidFill>
                <a:latin typeface="DM Sans"/>
              </a:rPr>
              <a:t>Pre-pandemic, almost half of all loans funded within a day.</a:t>
            </a:r>
          </a:p>
          <a:p>
            <a:pPr>
              <a:lnSpc>
                <a:spcPct val="115000"/>
              </a:lnSpc>
              <a:spcAft>
                <a:spcPts val="1200"/>
              </a:spcAft>
            </a:pPr>
            <a:r>
              <a:rPr sz="1600">
                <a:solidFill>
                  <a:srgbClr val="FFDD04"/>
                </a:solidFill>
                <a:latin typeface="DM Sans"/>
              </a:rPr>
              <a:t>▪  </a:t>
            </a:r>
            <a:r>
              <a:rPr sz="1650">
                <a:solidFill>
                  <a:srgbClr val="1C2333"/>
                </a:solidFill>
                <a:latin typeface="DM Sans"/>
              </a:rPr>
              <a:t>Since 2020: under a third — and through the end of the data (2025) it has NOT recovered. Persistence to date, not proof it never will.</a:t>
            </a:r>
          </a:p>
          <a:p>
            <a:pPr>
              <a:lnSpc>
                <a:spcPct val="115000"/>
              </a:lnSpc>
              <a:spcAft>
                <a:spcPts val="1200"/>
              </a:spcAft>
            </a:pPr>
            <a:r>
              <a:rPr sz="1600">
                <a:solidFill>
                  <a:srgbClr val="FFDD04"/>
                </a:solidFill>
                <a:latin typeface="DM Sans"/>
              </a:rPr>
              <a:t>▪  </a:t>
            </a:r>
            <a:r>
              <a:rPr sz="1650">
                <a:solidFill>
                  <a:srgbClr val="1C2333"/>
                </a:solidFill>
                <a:latin typeface="DM Sans"/>
              </a:rPr>
              <a:t>589,823 loans before vs. 565,474 after — not a small, noisy sample.</a:t>
            </a:r>
          </a:p>
        </p:txBody>
      </p:sp>
      <p:pic>
        <p:nvPicPr>
          <p:cNvPr id="8" name="Picture 7" descr="period_24h.png"/>
          <p:cNvPicPr>
            <a:picLocks noChangeAspect="1"/>
          </p:cNvPicPr>
          <p:nvPr/>
        </p:nvPicPr>
        <p:blipFill>
          <a:blip r:embed="rId2"/>
          <a:stretch>
            <a:fillRect/>
          </a:stretch>
        </p:blipFill>
        <p:spPr>
          <a:xfrm>
            <a:off x="7676387" y="2834639"/>
            <a:ext cx="3803904" cy="3112008"/>
          </a:xfrm>
          <a:prstGeom prst="rect">
            <a:avLst/>
          </a:prstGeom>
        </p:spPr>
      </p:pic>
      <p:sp>
        <p:nvSpPr>
          <p:cNvPr id="9" name="TextBox 8"/>
          <p:cNvSpPr txBox="1"/>
          <p:nvPr/>
        </p:nvSpPr>
        <p:spPr>
          <a:xfrm>
            <a:off x="7498079" y="6053328"/>
            <a:ext cx="4297680" cy="685800"/>
          </a:xfrm>
          <a:prstGeom prst="rect">
            <a:avLst/>
          </a:prstGeom>
          <a:noFill/>
        </p:spPr>
        <p:txBody>
          <a:bodyPr wrap="square">
            <a:spAutoFit/>
          </a:bodyPr>
          <a:lstStyle/>
          <a:p>
            <a:r>
              <a:rPr sz="900" b="1">
                <a:solidFill>
                  <a:srgbClr val="1C2333"/>
                </a:solidFill>
                <a:latin typeface="DM Sans"/>
              </a:rPr>
              <a:t>Figure 2. </a:t>
            </a:r>
            <a:r>
              <a:rPr sz="900">
                <a:solidFill>
                  <a:srgbClr val="1C2333"/>
                </a:solidFill>
                <a:latin typeface="DM Sans"/>
              </a:rPr>
              <a:t>Share of loans funded within 24 hours, by analysis period.</a:t>
            </a:r>
          </a:p>
          <a:p>
            <a:r>
              <a:rPr sz="800">
                <a:solidFill>
                  <a:srgbClr val="6E7278"/>
                </a:solidFill>
                <a:latin typeface="DM Sans"/>
              </a:rPr>
              <a:t>Notes: Exact shares 46.0% / 30.3% / 30.0%; period sizes 589,823 / 298,549 / 565,474 loans. EDA notebook §4.</a:t>
            </a:r>
          </a:p>
        </p:txBody>
      </p:sp>
      <p:sp>
        <p:nvSpPr>
          <p:cNvPr id="10" name="TextBox 9"/>
          <p:cNvSpPr txBox="1"/>
          <p:nvPr/>
        </p:nvSpPr>
        <p:spPr>
          <a:xfrm>
            <a:off x="685800" y="6446520"/>
            <a:ext cx="8229600" cy="320040"/>
          </a:xfrm>
          <a:prstGeom prst="rect">
            <a:avLst/>
          </a:prstGeom>
          <a:noFill/>
        </p:spPr>
        <p:txBody>
          <a:bodyPr wrap="square">
            <a:spAutoFit/>
          </a:bodyPr>
          <a:lstStyle/>
          <a:p>
            <a:pPr>
              <a:defRPr sz="1000" b="0" i="0">
                <a:solidFill>
                  <a:srgbClr val="6E7278"/>
                </a:solidFill>
                <a:latin typeface="Courier New"/>
              </a:defRPr>
            </a:pPr>
            <a:r>
              <a:t>Cultural Blend · Kiva 2016–2025 · 1.45M loans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TextBox 1"/>
          <p:cNvSpPr txBox="1"/>
          <p:nvPr/>
        </p:nvSpPr>
        <p:spPr>
          <a:xfrm>
            <a:off x="685800" y="384048"/>
            <a:ext cx="8229600" cy="320040"/>
          </a:xfrm>
          <a:prstGeom prst="rect">
            <a:avLst/>
          </a:prstGeom>
          <a:noFill/>
        </p:spPr>
        <p:txBody>
          <a:bodyPr wrap="square">
            <a:spAutoFit/>
          </a:bodyPr>
          <a:lstStyle/>
          <a:p>
            <a:pPr>
              <a:defRPr sz="1150" b="0" i="0">
                <a:solidFill>
                  <a:srgbClr val="31688E"/>
                </a:solidFill>
                <a:latin typeface="Courier New"/>
              </a:defRPr>
            </a:pPr>
            <a:r>
              <a:t>FINDING 2 · STRUCTURE</a:t>
            </a:r>
          </a:p>
        </p:txBody>
      </p:sp>
      <p:sp>
        <p:nvSpPr>
          <p:cNvPr id="3" name="Rounded Rectangle 2"/>
          <p:cNvSpPr/>
          <p:nvPr/>
        </p:nvSpPr>
        <p:spPr>
          <a:xfrm>
            <a:off x="11109960" y="365760"/>
            <a:ext cx="658368" cy="347472"/>
          </a:xfrm>
          <a:prstGeom prst="roundRect">
            <a:avLst/>
          </a:prstGeom>
          <a:solidFill>
            <a:srgbClr val="1C233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200" b="0" i="0">
                <a:solidFill>
                  <a:srgbClr val="FFDD04"/>
                </a:solidFill>
                <a:latin typeface="Courier New"/>
              </a:defRPr>
            </a:pPr>
            <a:r>
              <a:t>5/10</a:t>
            </a:r>
          </a:p>
        </p:txBody>
      </p:sp>
      <p:sp>
        <p:nvSpPr>
          <p:cNvPr id="4" name="TextBox 3"/>
          <p:cNvSpPr txBox="1"/>
          <p:nvPr/>
        </p:nvSpPr>
        <p:spPr>
          <a:xfrm>
            <a:off x="640080" y="713232"/>
            <a:ext cx="10332720" cy="914400"/>
          </a:xfrm>
          <a:prstGeom prst="rect">
            <a:avLst/>
          </a:prstGeom>
          <a:noFill/>
        </p:spPr>
        <p:txBody>
          <a:bodyPr wrap="square">
            <a:spAutoFit/>
          </a:bodyPr>
          <a:lstStyle/>
          <a:p>
            <a:pPr>
              <a:defRPr sz="3600" b="1" i="0">
                <a:solidFill>
                  <a:srgbClr val="1C2333"/>
                </a:solidFill>
                <a:latin typeface="Georgia"/>
              </a:defRPr>
            </a:pPr>
            <a:r>
              <a:t>Structure beats story</a:t>
            </a:r>
          </a:p>
        </p:txBody>
      </p:sp>
      <p:sp>
        <p:nvSpPr>
          <p:cNvPr id="5" name="Rectangle 4"/>
          <p:cNvSpPr/>
          <p:nvPr/>
        </p:nvSpPr>
        <p:spPr>
          <a:xfrm>
            <a:off x="685800" y="1481328"/>
            <a:ext cx="1234440" cy="44450"/>
          </a:xfrm>
          <a:prstGeom prst="rect">
            <a:avLst/>
          </a:prstGeom>
          <a:solidFill>
            <a:srgbClr val="FFDD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783080"/>
            <a:ext cx="11064240" cy="914400"/>
          </a:xfrm>
          <a:prstGeom prst="rect">
            <a:avLst/>
          </a:prstGeom>
          <a:noFill/>
        </p:spPr>
        <p:txBody>
          <a:bodyPr wrap="square">
            <a:spAutoFit/>
          </a:bodyPr>
          <a:lstStyle/>
          <a:p>
            <a:pPr>
              <a:defRPr sz="4000" b="1" i="0">
                <a:solidFill>
                  <a:srgbClr val="1C2333"/>
                </a:solidFill>
                <a:latin typeface="Georgia"/>
              </a:defRPr>
            </a:pPr>
            <a:r>
              <a:t>2.3 vs 7.7 days  </a:t>
            </a:r>
            <a:r>
              <a:rPr sz="1600" b="0">
                <a:solidFill>
                  <a:srgbClr val="6E7278"/>
                </a:solidFill>
                <a:latin typeface="DM Sans"/>
              </a:rPr>
              <a:t>median funding speed — female- vs male-posted loans</a:t>
            </a:r>
          </a:p>
        </p:txBody>
      </p:sp>
      <p:sp>
        <p:nvSpPr>
          <p:cNvPr id="7" name="TextBox 6"/>
          <p:cNvSpPr txBox="1"/>
          <p:nvPr/>
        </p:nvSpPr>
        <p:spPr>
          <a:xfrm>
            <a:off x="685800" y="2834639"/>
            <a:ext cx="6720840" cy="3474720"/>
          </a:xfrm>
          <a:prstGeom prst="rect">
            <a:avLst/>
          </a:prstGeom>
          <a:noFill/>
        </p:spPr>
        <p:txBody>
          <a:bodyPr wrap="square">
            <a:spAutoFit/>
          </a:bodyPr>
          <a:lstStyle/>
          <a:p>
            <a:pPr>
              <a:lnSpc>
                <a:spcPct val="115000"/>
              </a:lnSpc>
              <a:spcAft>
                <a:spcPts val="1200"/>
              </a:spcAft>
            </a:pPr>
            <a:r>
              <a:rPr sz="1600">
                <a:solidFill>
                  <a:srgbClr val="FFDD04"/>
                </a:solidFill>
                <a:latin typeface="DM Sans"/>
              </a:rPr>
              <a:t>▪  </a:t>
            </a:r>
            <a:r>
              <a:rPr sz="1650">
                <a:solidFill>
                  <a:srgbClr val="1C2333"/>
                </a:solidFill>
                <a:latin typeface="DM Sans"/>
              </a:rPr>
              <a:t>Loan amount + repayment terms: linked to funding speed ~10x more strongly than any single narrative choice.</a:t>
            </a:r>
          </a:p>
          <a:p>
            <a:pPr>
              <a:lnSpc>
                <a:spcPct val="115000"/>
              </a:lnSpc>
              <a:spcAft>
                <a:spcPts val="1200"/>
              </a:spcAft>
            </a:pPr>
            <a:r>
              <a:rPr sz="1600">
                <a:solidFill>
                  <a:srgbClr val="FFDD04"/>
                </a:solidFill>
                <a:latin typeface="DM Sans"/>
              </a:rPr>
              <a:t>▪  </a:t>
            </a:r>
            <a:r>
              <a:rPr sz="1650">
                <a:solidFill>
                  <a:srgbClr val="1C2333"/>
                </a:solidFill>
                <a:latin typeface="DM Sans"/>
              </a:rPr>
              <a:t>Sector alone spans well over an order of magnitude in speed; region shows similarly large gaps.</a:t>
            </a:r>
          </a:p>
          <a:p>
            <a:pPr>
              <a:lnSpc>
                <a:spcPct val="115000"/>
              </a:lnSpc>
              <a:spcAft>
                <a:spcPts val="1200"/>
              </a:spcAft>
            </a:pPr>
            <a:r>
              <a:rPr sz="1600">
                <a:solidFill>
                  <a:srgbClr val="FFDD04"/>
                </a:solidFill>
                <a:latin typeface="DM Sans"/>
              </a:rPr>
              <a:t>▪  </a:t>
            </a:r>
            <a:r>
              <a:rPr sz="1650">
                <a:solidFill>
                  <a:srgbClr val="1C2333"/>
                </a:solidFill>
                <a:latin typeface="DM Sans"/>
              </a:rPr>
              <a:t>None of this is causal — but it dwarfs anything the words do.</a:t>
            </a:r>
          </a:p>
        </p:txBody>
      </p:sp>
      <p:pic>
        <p:nvPicPr>
          <p:cNvPr id="8" name="Picture 7" descr="sector.png"/>
          <p:cNvPicPr>
            <a:picLocks noChangeAspect="1"/>
          </p:cNvPicPr>
          <p:nvPr/>
        </p:nvPicPr>
        <p:blipFill>
          <a:blip r:embed="rId2"/>
          <a:stretch>
            <a:fillRect/>
          </a:stretch>
        </p:blipFill>
        <p:spPr>
          <a:xfrm>
            <a:off x="7808916" y="2834639"/>
            <a:ext cx="3538845" cy="3154680"/>
          </a:xfrm>
          <a:prstGeom prst="rect">
            <a:avLst/>
          </a:prstGeom>
        </p:spPr>
      </p:pic>
      <p:sp>
        <p:nvSpPr>
          <p:cNvPr id="9" name="TextBox 8"/>
          <p:cNvSpPr txBox="1"/>
          <p:nvPr/>
        </p:nvSpPr>
        <p:spPr>
          <a:xfrm>
            <a:off x="7498079" y="6053328"/>
            <a:ext cx="4297680" cy="685800"/>
          </a:xfrm>
          <a:prstGeom prst="rect">
            <a:avLst/>
          </a:prstGeom>
          <a:noFill/>
        </p:spPr>
        <p:txBody>
          <a:bodyPr wrap="square">
            <a:spAutoFit/>
          </a:bodyPr>
          <a:lstStyle/>
          <a:p>
            <a:r>
              <a:rPr sz="900" b="1">
                <a:solidFill>
                  <a:srgbClr val="1C2333"/>
                </a:solidFill>
                <a:latin typeface="DM Sans"/>
              </a:rPr>
              <a:t>Figure 3. </a:t>
            </a:r>
            <a:r>
              <a:rPr sz="900">
                <a:solidFill>
                  <a:srgbClr val="1C2333"/>
                </a:solidFill>
                <a:latin typeface="DM Sans"/>
              </a:rPr>
              <a:t>Mean funding speed by sector.</a:t>
            </a:r>
          </a:p>
          <a:p>
            <a:r>
              <a:rPr sz="800">
                <a:solidFill>
                  <a:srgbClr val="6E7278"/>
                </a:solidFill>
                <a:latin typeface="DM Sans"/>
              </a:rPr>
              <a:t>Notes: Computed from the raw data replicating EDA §5 grouping (sectors under 1,000 loans folded into Other); all counts match the executed notebook.</a:t>
            </a:r>
          </a:p>
        </p:txBody>
      </p:sp>
      <p:sp>
        <p:nvSpPr>
          <p:cNvPr id="10" name="TextBox 9"/>
          <p:cNvSpPr txBox="1"/>
          <p:nvPr/>
        </p:nvSpPr>
        <p:spPr>
          <a:xfrm>
            <a:off x="685800" y="6446520"/>
            <a:ext cx="8229600" cy="320040"/>
          </a:xfrm>
          <a:prstGeom prst="rect">
            <a:avLst/>
          </a:prstGeom>
          <a:noFill/>
        </p:spPr>
        <p:txBody>
          <a:bodyPr wrap="square">
            <a:spAutoFit/>
          </a:bodyPr>
          <a:lstStyle/>
          <a:p>
            <a:pPr>
              <a:defRPr sz="1000" b="0" i="0">
                <a:solidFill>
                  <a:srgbClr val="6E7278"/>
                </a:solidFill>
                <a:latin typeface="Courier New"/>
              </a:defRPr>
            </a:pPr>
            <a:r>
              <a:t>Cultural Blend · Kiva 2016–2025 · 1.45M loans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TextBox 1"/>
          <p:cNvSpPr txBox="1"/>
          <p:nvPr/>
        </p:nvSpPr>
        <p:spPr>
          <a:xfrm>
            <a:off x="685800" y="384048"/>
            <a:ext cx="8229600" cy="320040"/>
          </a:xfrm>
          <a:prstGeom prst="rect">
            <a:avLst/>
          </a:prstGeom>
          <a:noFill/>
        </p:spPr>
        <p:txBody>
          <a:bodyPr wrap="square">
            <a:spAutoFit/>
          </a:bodyPr>
          <a:lstStyle/>
          <a:p>
            <a:pPr>
              <a:defRPr sz="1150" b="0" i="0">
                <a:solidFill>
                  <a:srgbClr val="31688E"/>
                </a:solidFill>
                <a:latin typeface="Courier New"/>
              </a:defRPr>
            </a:pPr>
            <a:r>
              <a:t>FINDING 3 · THE HEADLINE</a:t>
            </a:r>
          </a:p>
        </p:txBody>
      </p:sp>
      <p:sp>
        <p:nvSpPr>
          <p:cNvPr id="3" name="Rounded Rectangle 2"/>
          <p:cNvSpPr/>
          <p:nvPr/>
        </p:nvSpPr>
        <p:spPr>
          <a:xfrm>
            <a:off x="11109960" y="365760"/>
            <a:ext cx="658368" cy="347472"/>
          </a:xfrm>
          <a:prstGeom prst="roundRect">
            <a:avLst/>
          </a:prstGeom>
          <a:solidFill>
            <a:srgbClr val="1C233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200" b="0" i="0">
                <a:solidFill>
                  <a:srgbClr val="FFDD04"/>
                </a:solidFill>
                <a:latin typeface="Courier New"/>
              </a:defRPr>
            </a:pPr>
            <a:r>
              <a:t>6/10</a:t>
            </a:r>
          </a:p>
        </p:txBody>
      </p:sp>
      <p:sp>
        <p:nvSpPr>
          <p:cNvPr id="4" name="TextBox 3"/>
          <p:cNvSpPr txBox="1"/>
          <p:nvPr/>
        </p:nvSpPr>
        <p:spPr>
          <a:xfrm>
            <a:off x="640080" y="713232"/>
            <a:ext cx="10332720" cy="914400"/>
          </a:xfrm>
          <a:prstGeom prst="rect">
            <a:avLst/>
          </a:prstGeom>
          <a:noFill/>
        </p:spPr>
        <p:txBody>
          <a:bodyPr wrap="square">
            <a:spAutoFit/>
          </a:bodyPr>
          <a:lstStyle/>
          <a:p>
            <a:pPr>
              <a:defRPr sz="3600" b="1" i="0">
                <a:solidFill>
                  <a:srgbClr val="1C2333"/>
                </a:solidFill>
                <a:latin typeface="Georgia"/>
              </a:defRPr>
            </a:pPr>
            <a:r>
              <a:t>What survives scrutiny</a:t>
            </a:r>
          </a:p>
        </p:txBody>
      </p:sp>
      <p:sp>
        <p:nvSpPr>
          <p:cNvPr id="5" name="Rectangle 4"/>
          <p:cNvSpPr/>
          <p:nvPr/>
        </p:nvSpPr>
        <p:spPr>
          <a:xfrm>
            <a:off x="685800" y="1481328"/>
            <a:ext cx="1234440" cy="44450"/>
          </a:xfrm>
          <a:prstGeom prst="rect">
            <a:avLst/>
          </a:prstGeom>
          <a:solidFill>
            <a:srgbClr val="FFDD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783080"/>
            <a:ext cx="11064240" cy="914400"/>
          </a:xfrm>
          <a:prstGeom prst="rect">
            <a:avLst/>
          </a:prstGeom>
          <a:noFill/>
        </p:spPr>
        <p:txBody>
          <a:bodyPr wrap="square">
            <a:spAutoFit/>
          </a:bodyPr>
          <a:lstStyle/>
          <a:p>
            <a:pPr>
              <a:defRPr sz="4000" b="1" i="0">
                <a:solidFill>
                  <a:srgbClr val="1C2333"/>
                </a:solidFill>
                <a:latin typeface="Georgia"/>
              </a:defRPr>
            </a:pPr>
            <a:r>
              <a:t>No narrative result  </a:t>
            </a:r>
            <a:r>
              <a:rPr sz="1600" b="0">
                <a:solidFill>
                  <a:srgbClr val="6E7278"/>
                </a:solidFill>
                <a:latin typeface="DM Sans"/>
              </a:rPr>
              <a:t>is robust enough to support a recommendation</a:t>
            </a:r>
          </a:p>
        </p:txBody>
      </p:sp>
      <p:sp>
        <p:nvSpPr>
          <p:cNvPr id="7" name="TextBox 6"/>
          <p:cNvSpPr txBox="1"/>
          <p:nvPr/>
        </p:nvSpPr>
        <p:spPr>
          <a:xfrm>
            <a:off x="685800" y="2834639"/>
            <a:ext cx="6720840" cy="3474720"/>
          </a:xfrm>
          <a:prstGeom prst="rect">
            <a:avLst/>
          </a:prstGeom>
          <a:noFill/>
        </p:spPr>
        <p:txBody>
          <a:bodyPr wrap="square">
            <a:spAutoFit/>
          </a:bodyPr>
          <a:lstStyle/>
          <a:p>
            <a:pPr>
              <a:lnSpc>
                <a:spcPct val="115000"/>
              </a:lnSpc>
              <a:spcAft>
                <a:spcPts val="1200"/>
              </a:spcAft>
            </a:pPr>
            <a:r>
              <a:rPr sz="1600">
                <a:solidFill>
                  <a:srgbClr val="FFDD04"/>
                </a:solidFill>
                <a:latin typeface="DM Sans"/>
              </a:rPr>
              <a:t>▪  </a:t>
            </a:r>
            <a:r>
              <a:rPr sz="1650">
                <a:solidFill>
                  <a:srgbClr val="1C2333"/>
                </a:solidFill>
                <a:latin typeface="DM Sans"/>
              </a:rPr>
              <a:t>Urgency: looked universal (p&lt;0.001) — collapses under country clustering (p≈0.44). Not recommended.</a:t>
            </a:r>
          </a:p>
          <a:p>
            <a:pPr>
              <a:lnSpc>
                <a:spcPct val="115000"/>
              </a:lnSpc>
              <a:spcAft>
                <a:spcPts val="1200"/>
              </a:spcAft>
            </a:pPr>
            <a:r>
              <a:rPr sz="1600">
                <a:solidFill>
                  <a:srgbClr val="FFDD04"/>
                </a:solidFill>
                <a:latin typeface="DM Sans"/>
              </a:rPr>
              <a:t>▪  </a:t>
            </a:r>
            <a:r>
              <a:rPr sz="1650">
                <a:solidFill>
                  <a:srgbClr val="1C2333"/>
                </a:solidFill>
                <a:latin typeface="DM Sans"/>
              </a:rPr>
              <a:t>Family: corrected test → Middle East (Palestine+Yemen) &amp; Central America (Honduras+Nicaragua) same direction in every fit — but 2 countries each; few-cluster t(1) screen bar is 12.7, not 1.96: p≈0.06–0.21. A hypothesis, not a finding.</a:t>
            </a:r>
          </a:p>
          <a:p>
            <a:pPr>
              <a:lnSpc>
                <a:spcPct val="115000"/>
              </a:lnSpc>
              <a:spcAft>
                <a:spcPts val="1200"/>
              </a:spcAft>
            </a:pPr>
            <a:r>
              <a:rPr sz="1600">
                <a:solidFill>
                  <a:srgbClr val="FFDD04"/>
                </a:solidFill>
                <a:latin typeface="DM Sans"/>
              </a:rPr>
              <a:t>▪  </a:t>
            </a:r>
            <a:r>
              <a:rPr sz="1650">
                <a:solidFill>
                  <a:srgbClr val="1C2333"/>
                </a:solidFill>
                <a:latin typeface="DM Sans"/>
              </a:rPr>
              <a:t>Sentiment: positive tone &lt;-&gt; slower funding, but significance flips between specifications — genuinely open.</a:t>
            </a:r>
          </a:p>
          <a:p>
            <a:pPr>
              <a:lnSpc>
                <a:spcPct val="115000"/>
              </a:lnSpc>
              <a:spcAft>
                <a:spcPts val="1200"/>
              </a:spcAft>
            </a:pPr>
            <a:r>
              <a:rPr sz="1600">
                <a:solidFill>
                  <a:srgbClr val="FFDD04"/>
                </a:solidFill>
                <a:latin typeface="DM Sans"/>
              </a:rPr>
              <a:t>▪  </a:t>
            </a:r>
            <a:r>
              <a:rPr sz="1650">
                <a:solidFill>
                  <a:srgbClr val="1C2333"/>
                </a:solidFill>
                <a:latin typeface="DM Sans"/>
              </a:rPr>
              <a:t>SHAP: no family / agency / urgency feature in the model's top 15 — complementary evidence, not confirmation.</a:t>
            </a:r>
          </a:p>
        </p:txBody>
      </p:sp>
      <p:pic>
        <p:nvPicPr>
          <p:cNvPr id="8" name="Picture 7" descr="few_cluster_table.png"/>
          <p:cNvPicPr>
            <a:picLocks noChangeAspect="1"/>
          </p:cNvPicPr>
          <p:nvPr/>
        </p:nvPicPr>
        <p:blipFill>
          <a:blip r:embed="rId2"/>
          <a:stretch>
            <a:fillRect/>
          </a:stretch>
        </p:blipFill>
        <p:spPr>
          <a:xfrm>
            <a:off x="7498079" y="2834639"/>
            <a:ext cx="4160520" cy="2017503"/>
          </a:xfrm>
          <a:prstGeom prst="rect">
            <a:avLst/>
          </a:prstGeom>
        </p:spPr>
      </p:pic>
      <p:sp>
        <p:nvSpPr>
          <p:cNvPr id="9" name="TextBox 8"/>
          <p:cNvSpPr txBox="1"/>
          <p:nvPr/>
        </p:nvSpPr>
        <p:spPr>
          <a:xfrm>
            <a:off x="7498079" y="6053328"/>
            <a:ext cx="4297680" cy="685800"/>
          </a:xfrm>
          <a:prstGeom prst="rect">
            <a:avLst/>
          </a:prstGeom>
          <a:noFill/>
        </p:spPr>
        <p:txBody>
          <a:bodyPr wrap="square">
            <a:spAutoFit/>
          </a:bodyPr>
          <a:lstStyle/>
          <a:p>
            <a:r>
              <a:rPr sz="900" b="1">
                <a:solidFill>
                  <a:srgbClr val="1C2333"/>
                </a:solidFill>
                <a:latin typeface="DM Sans"/>
              </a:rPr>
              <a:t>Figure 4. </a:t>
            </a:r>
            <a:r>
              <a:rPr sz="900">
                <a:solidFill>
                  <a:srgbClr val="1C2333"/>
                </a:solidFill>
                <a:latin typeface="DM Sans"/>
              </a:rPr>
              <a:t>Average within-region family-framing slope (duration model).</a:t>
            </a:r>
          </a:p>
          <a:p>
            <a:r>
              <a:rPr sz="800">
                <a:solidFill>
                  <a:srgbClr val="6E7278"/>
                </a:solidFill>
                <a:latin typeface="DM Sans"/>
              </a:rPr>
              <a:t>Notes: Slopes averaged over each region's own moderator mix; few-cluster screen is a conservative heuristic. Executed modeling notebook §7.2.</a:t>
            </a:r>
          </a:p>
        </p:txBody>
      </p:sp>
      <p:sp>
        <p:nvSpPr>
          <p:cNvPr id="10" name="TextBox 9"/>
          <p:cNvSpPr txBox="1"/>
          <p:nvPr/>
        </p:nvSpPr>
        <p:spPr>
          <a:xfrm>
            <a:off x="685800" y="6446520"/>
            <a:ext cx="8229600" cy="320040"/>
          </a:xfrm>
          <a:prstGeom prst="rect">
            <a:avLst/>
          </a:prstGeom>
          <a:noFill/>
        </p:spPr>
        <p:txBody>
          <a:bodyPr wrap="square">
            <a:spAutoFit/>
          </a:bodyPr>
          <a:lstStyle/>
          <a:p>
            <a:pPr>
              <a:defRPr sz="1000" b="0" i="0">
                <a:solidFill>
                  <a:srgbClr val="6E7278"/>
                </a:solidFill>
                <a:latin typeface="Courier New"/>
              </a:defRPr>
            </a:pPr>
            <a:r>
              <a:t>Cultural Blend · Kiva 2016–2025 · 1.45M loans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TextBox 1"/>
          <p:cNvSpPr txBox="1"/>
          <p:nvPr/>
        </p:nvSpPr>
        <p:spPr>
          <a:xfrm>
            <a:off x="685800" y="384048"/>
            <a:ext cx="8229600" cy="320040"/>
          </a:xfrm>
          <a:prstGeom prst="rect">
            <a:avLst/>
          </a:prstGeom>
          <a:noFill/>
        </p:spPr>
        <p:txBody>
          <a:bodyPr wrap="square">
            <a:spAutoFit/>
          </a:bodyPr>
          <a:lstStyle/>
          <a:p>
            <a:pPr>
              <a:defRPr sz="1150" b="0" i="0">
                <a:solidFill>
                  <a:srgbClr val="31688E"/>
                </a:solidFill>
                <a:latin typeface="Courier New"/>
              </a:defRPr>
            </a:pPr>
            <a:r>
              <a:t>FINDING 4 · TOPICS</a:t>
            </a:r>
          </a:p>
        </p:txBody>
      </p:sp>
      <p:sp>
        <p:nvSpPr>
          <p:cNvPr id="3" name="Rounded Rectangle 2"/>
          <p:cNvSpPr/>
          <p:nvPr/>
        </p:nvSpPr>
        <p:spPr>
          <a:xfrm>
            <a:off x="11109960" y="365760"/>
            <a:ext cx="658368" cy="347472"/>
          </a:xfrm>
          <a:prstGeom prst="roundRect">
            <a:avLst/>
          </a:prstGeom>
          <a:solidFill>
            <a:srgbClr val="1C233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200" b="0" i="0">
                <a:solidFill>
                  <a:srgbClr val="FFDD04"/>
                </a:solidFill>
                <a:latin typeface="Courier New"/>
              </a:defRPr>
            </a:pPr>
            <a:r>
              <a:t>7/10</a:t>
            </a:r>
          </a:p>
        </p:txBody>
      </p:sp>
      <p:sp>
        <p:nvSpPr>
          <p:cNvPr id="4" name="TextBox 3"/>
          <p:cNvSpPr txBox="1"/>
          <p:nvPr/>
        </p:nvSpPr>
        <p:spPr>
          <a:xfrm>
            <a:off x="640080" y="713232"/>
            <a:ext cx="10332720" cy="914400"/>
          </a:xfrm>
          <a:prstGeom prst="rect">
            <a:avLst/>
          </a:prstGeom>
          <a:noFill/>
        </p:spPr>
        <p:txBody>
          <a:bodyPr wrap="square">
            <a:spAutoFit/>
          </a:bodyPr>
          <a:lstStyle/>
          <a:p>
            <a:pPr>
              <a:defRPr sz="3600" b="1" i="0">
                <a:solidFill>
                  <a:srgbClr val="1C2333"/>
                </a:solidFill>
                <a:latin typeface="Georgia"/>
              </a:defRPr>
            </a:pPr>
            <a:r>
              <a:t>Beyond keywords</a:t>
            </a:r>
          </a:p>
        </p:txBody>
      </p:sp>
      <p:sp>
        <p:nvSpPr>
          <p:cNvPr id="5" name="Rectangle 4"/>
          <p:cNvSpPr/>
          <p:nvPr/>
        </p:nvSpPr>
        <p:spPr>
          <a:xfrm>
            <a:off x="685800" y="1481328"/>
            <a:ext cx="1234440" cy="44450"/>
          </a:xfrm>
          <a:prstGeom prst="rect">
            <a:avLst/>
          </a:prstGeom>
          <a:solidFill>
            <a:srgbClr val="FFDD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783080"/>
            <a:ext cx="11064240" cy="914400"/>
          </a:xfrm>
          <a:prstGeom prst="rect">
            <a:avLst/>
          </a:prstGeom>
          <a:noFill/>
        </p:spPr>
        <p:txBody>
          <a:bodyPr wrap="square">
            <a:spAutoFit/>
          </a:bodyPr>
          <a:lstStyle/>
          <a:p>
            <a:pPr>
              <a:defRPr sz="4000" b="1" i="0">
                <a:solidFill>
                  <a:srgbClr val="1C2333"/>
                </a:solidFill>
                <a:latin typeface="Georgia"/>
              </a:defRPr>
            </a:pPr>
            <a:r>
              <a:t>1.5 → 13.5 days  </a:t>
            </a:r>
            <a:r>
              <a:rPr sz="1600" b="0">
                <a:solidFill>
                  <a:srgbClr val="6E7278"/>
                </a:solidFill>
                <a:latin typeface="DM Sans"/>
              </a:rPr>
              <a:t>mean funding speed across story topics — a &gt;9x swing</a:t>
            </a:r>
          </a:p>
        </p:txBody>
      </p:sp>
      <p:sp>
        <p:nvSpPr>
          <p:cNvPr id="7" name="TextBox 6"/>
          <p:cNvSpPr txBox="1"/>
          <p:nvPr/>
        </p:nvSpPr>
        <p:spPr>
          <a:xfrm>
            <a:off x="685800" y="2834639"/>
            <a:ext cx="6720840" cy="3474720"/>
          </a:xfrm>
          <a:prstGeom prst="rect">
            <a:avLst/>
          </a:prstGeom>
          <a:noFill/>
        </p:spPr>
        <p:txBody>
          <a:bodyPr wrap="square">
            <a:spAutoFit/>
          </a:bodyPr>
          <a:lstStyle/>
          <a:p>
            <a:pPr>
              <a:lnSpc>
                <a:spcPct val="115000"/>
              </a:lnSpc>
              <a:spcAft>
                <a:spcPts val="1200"/>
              </a:spcAft>
            </a:pPr>
            <a:r>
              <a:rPr sz="1600">
                <a:solidFill>
                  <a:srgbClr val="FFDD04"/>
                </a:solidFill>
                <a:latin typeface="DM Sans"/>
              </a:rPr>
              <a:t>▪  </a:t>
            </a:r>
            <a:r>
              <a:rPr sz="1650">
                <a:solidFill>
                  <a:srgbClr val="1C2333"/>
                </a:solidFill>
                <a:latin typeface="DM Sans"/>
              </a:rPr>
              <a:t>Topic modeling on the descriptions (TF-IDF + NMF, 8 topics — not keyword counts) surfaces coherent themes: sanitation, clean water, pig raising, family business, smallholder farming.</a:t>
            </a:r>
          </a:p>
          <a:p>
            <a:pPr>
              <a:lnSpc>
                <a:spcPct val="115000"/>
              </a:lnSpc>
              <a:spcAft>
                <a:spcPts val="1200"/>
              </a:spcAft>
            </a:pPr>
            <a:r>
              <a:rPr sz="1600">
                <a:solidFill>
                  <a:srgbClr val="FFDD04"/>
                </a:solidFill>
                <a:latin typeface="DM Sans"/>
              </a:rPr>
              <a:t>▪  </a:t>
            </a:r>
            <a:r>
              <a:rPr sz="1650">
                <a:solidFill>
                  <a:srgbClr val="1C2333"/>
                </a:solidFill>
                <a:latin typeface="DM Sans"/>
              </a:rPr>
              <a:t>The largest single gap anywhere in the analysis — but a topic mostly encodes what the loan is FOR. Structure again, not persuasion.</a:t>
            </a:r>
          </a:p>
        </p:txBody>
      </p:sp>
      <p:pic>
        <p:nvPicPr>
          <p:cNvPr id="8" name="Picture 7" descr="topics.png"/>
          <p:cNvPicPr>
            <a:picLocks noChangeAspect="1"/>
          </p:cNvPicPr>
          <p:nvPr/>
        </p:nvPicPr>
        <p:blipFill>
          <a:blip r:embed="rId2"/>
          <a:stretch>
            <a:fillRect/>
          </a:stretch>
        </p:blipFill>
        <p:spPr>
          <a:xfrm>
            <a:off x="7498079" y="2834639"/>
            <a:ext cx="4160519" cy="2696957"/>
          </a:xfrm>
          <a:prstGeom prst="rect">
            <a:avLst/>
          </a:prstGeom>
        </p:spPr>
      </p:pic>
      <p:sp>
        <p:nvSpPr>
          <p:cNvPr id="9" name="TextBox 8"/>
          <p:cNvSpPr txBox="1"/>
          <p:nvPr/>
        </p:nvSpPr>
        <p:spPr>
          <a:xfrm>
            <a:off x="7498079" y="6053328"/>
            <a:ext cx="4297680" cy="685800"/>
          </a:xfrm>
          <a:prstGeom prst="rect">
            <a:avLst/>
          </a:prstGeom>
          <a:noFill/>
        </p:spPr>
        <p:txBody>
          <a:bodyPr wrap="square">
            <a:spAutoFit/>
          </a:bodyPr>
          <a:lstStyle/>
          <a:p>
            <a:r>
              <a:rPr sz="900" b="1">
                <a:solidFill>
                  <a:srgbClr val="1C2333"/>
                </a:solidFill>
                <a:latin typeface="DM Sans"/>
              </a:rPr>
              <a:t>Figure 5. </a:t>
            </a:r>
            <a:r>
              <a:rPr sz="900">
                <a:solidFill>
                  <a:srgbClr val="1C2333"/>
                </a:solidFill>
                <a:latin typeface="DM Sans"/>
              </a:rPr>
              <a:t>Mean funding speed by story theme.</a:t>
            </a:r>
          </a:p>
          <a:p>
            <a:r>
              <a:rPr sz="800">
                <a:solidFill>
                  <a:srgbClr val="6E7278"/>
                </a:solidFill>
                <a:latin typeface="DM Sans"/>
              </a:rPr>
              <a:t>Notes: TF-IDF + NMF, 8 topics, 20K-description sample; themes named from each topic's top words. EDA notebook §8.</a:t>
            </a:r>
          </a:p>
        </p:txBody>
      </p:sp>
      <p:sp>
        <p:nvSpPr>
          <p:cNvPr id="10" name="TextBox 9"/>
          <p:cNvSpPr txBox="1"/>
          <p:nvPr/>
        </p:nvSpPr>
        <p:spPr>
          <a:xfrm>
            <a:off x="685800" y="6446520"/>
            <a:ext cx="8229600" cy="320040"/>
          </a:xfrm>
          <a:prstGeom prst="rect">
            <a:avLst/>
          </a:prstGeom>
          <a:noFill/>
        </p:spPr>
        <p:txBody>
          <a:bodyPr wrap="square">
            <a:spAutoFit/>
          </a:bodyPr>
          <a:lstStyle/>
          <a:p>
            <a:pPr>
              <a:defRPr sz="1000" b="0" i="0">
                <a:solidFill>
                  <a:srgbClr val="6E7278"/>
                </a:solidFill>
                <a:latin typeface="Courier New"/>
              </a:defRPr>
            </a:pPr>
            <a:r>
              <a:t>Cultural Blend · Kiva 2016–2025 · 1.45M loans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TextBox 1"/>
          <p:cNvSpPr txBox="1"/>
          <p:nvPr/>
        </p:nvSpPr>
        <p:spPr>
          <a:xfrm>
            <a:off x="685800" y="384048"/>
            <a:ext cx="8229600" cy="320040"/>
          </a:xfrm>
          <a:prstGeom prst="rect">
            <a:avLst/>
          </a:prstGeom>
          <a:noFill/>
        </p:spPr>
        <p:txBody>
          <a:bodyPr wrap="square">
            <a:spAutoFit/>
          </a:bodyPr>
          <a:lstStyle/>
          <a:p>
            <a:pPr>
              <a:defRPr sz="1150" b="0" i="0">
                <a:solidFill>
                  <a:srgbClr val="31688E"/>
                </a:solidFill>
                <a:latin typeface="Courier New"/>
              </a:defRPr>
            </a:pPr>
            <a:r>
              <a:t>RECOMMENDATIONS</a:t>
            </a:r>
          </a:p>
        </p:txBody>
      </p:sp>
      <p:sp>
        <p:nvSpPr>
          <p:cNvPr id="3" name="Rounded Rectangle 2"/>
          <p:cNvSpPr/>
          <p:nvPr/>
        </p:nvSpPr>
        <p:spPr>
          <a:xfrm>
            <a:off x="11109960" y="365760"/>
            <a:ext cx="658368" cy="347472"/>
          </a:xfrm>
          <a:prstGeom prst="roundRect">
            <a:avLst/>
          </a:prstGeom>
          <a:solidFill>
            <a:srgbClr val="1C233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200" b="0" i="0">
                <a:solidFill>
                  <a:srgbClr val="FFDD04"/>
                </a:solidFill>
                <a:latin typeface="Courier New"/>
              </a:defRPr>
            </a:pPr>
            <a:r>
              <a:t>8/10</a:t>
            </a:r>
          </a:p>
        </p:txBody>
      </p:sp>
      <p:sp>
        <p:nvSpPr>
          <p:cNvPr id="4" name="TextBox 3"/>
          <p:cNvSpPr txBox="1"/>
          <p:nvPr/>
        </p:nvSpPr>
        <p:spPr>
          <a:xfrm>
            <a:off x="640080" y="713232"/>
            <a:ext cx="10332720" cy="914400"/>
          </a:xfrm>
          <a:prstGeom prst="rect">
            <a:avLst/>
          </a:prstGeom>
          <a:noFill/>
        </p:spPr>
        <p:txBody>
          <a:bodyPr wrap="square">
            <a:spAutoFit/>
          </a:bodyPr>
          <a:lstStyle/>
          <a:p>
            <a:pPr>
              <a:defRPr sz="3600" b="1" i="0">
                <a:solidFill>
                  <a:srgbClr val="1C2333"/>
                </a:solidFill>
                <a:latin typeface="Georgia"/>
              </a:defRPr>
            </a:pPr>
            <a:r>
              <a:t>What this means in practice</a:t>
            </a:r>
          </a:p>
        </p:txBody>
      </p:sp>
      <p:sp>
        <p:nvSpPr>
          <p:cNvPr id="5" name="Rectangle 4"/>
          <p:cNvSpPr/>
          <p:nvPr/>
        </p:nvSpPr>
        <p:spPr>
          <a:xfrm>
            <a:off x="685800" y="1481328"/>
            <a:ext cx="1234440" cy="44450"/>
          </a:xfrm>
          <a:prstGeom prst="rect">
            <a:avLst/>
          </a:prstGeom>
          <a:solidFill>
            <a:srgbClr val="FFDD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783080"/>
            <a:ext cx="11064240" cy="4526280"/>
          </a:xfrm>
          <a:prstGeom prst="rect">
            <a:avLst/>
          </a:prstGeom>
          <a:noFill/>
        </p:spPr>
        <p:txBody>
          <a:bodyPr wrap="square">
            <a:spAutoFit/>
          </a:bodyPr>
          <a:lstStyle/>
          <a:p>
            <a:pPr>
              <a:lnSpc>
                <a:spcPct val="115000"/>
              </a:lnSpc>
              <a:spcAft>
                <a:spcPts val="1200"/>
              </a:spcAft>
            </a:pPr>
            <a:r>
              <a:rPr sz="1600">
                <a:solidFill>
                  <a:srgbClr val="FFDD04"/>
                </a:solidFill>
                <a:latin typeface="DM Sans"/>
              </a:rPr>
              <a:t>▪  </a:t>
            </a:r>
            <a:r>
              <a:rPr sz="1650">
                <a:solidFill>
                  <a:srgbClr val="1C2333"/>
                </a:solidFill>
                <a:latin typeface="DM Sans"/>
              </a:rPr>
              <a:t>DON'T ship writing tips — a platform-wide 'add urgency' nudge would be built on a result that doesn't survive testing.</a:t>
            </a:r>
          </a:p>
          <a:p>
            <a:pPr>
              <a:lnSpc>
                <a:spcPct val="115000"/>
              </a:lnSpc>
              <a:spcAft>
                <a:spcPts val="1200"/>
              </a:spcAft>
            </a:pPr>
            <a:r>
              <a:rPr sz="1600">
                <a:solidFill>
                  <a:srgbClr val="FFDD04"/>
                </a:solidFill>
                <a:latin typeface="DM Sans"/>
              </a:rPr>
              <a:t>▪  </a:t>
            </a:r>
            <a:r>
              <a:rPr sz="1650">
                <a:solidFill>
                  <a:srgbClr val="1C2333"/>
                </a:solidFill>
                <a:latin typeface="DM Sans"/>
              </a:rPr>
              <a:t>DO run a country-stratified A/B test of family framing in exactly those 4 markets — that's how a hypothesis becomes a decision.</a:t>
            </a:r>
          </a:p>
          <a:p>
            <a:pPr>
              <a:lnSpc>
                <a:spcPct val="115000"/>
              </a:lnSpc>
              <a:spcAft>
                <a:spcPts val="1200"/>
              </a:spcAft>
            </a:pPr>
            <a:r>
              <a:rPr sz="1600">
                <a:solidFill>
                  <a:srgbClr val="FFDD04"/>
                </a:solidFill>
                <a:latin typeface="DM Sans"/>
              </a:rPr>
              <a:t>▪  </a:t>
            </a:r>
            <a:r>
              <a:rPr sz="1650">
                <a:solidFill>
                  <a:srgbClr val="1C2333"/>
                </a:solidFill>
                <a:latin typeface="DM Sans"/>
              </a:rPr>
              <a:t>DO review the structural gaps (sector / region / gender) — they are ~10x the size of any wording effect.</a:t>
            </a:r>
          </a:p>
          <a:p>
            <a:pPr>
              <a:lnSpc>
                <a:spcPct val="115000"/>
              </a:lnSpc>
              <a:spcAft>
                <a:spcPts val="1200"/>
              </a:spcAft>
            </a:pPr>
            <a:r>
              <a:rPr sz="1600">
                <a:solidFill>
                  <a:srgbClr val="FFDD04"/>
                </a:solidFill>
                <a:latin typeface="DM Sans"/>
              </a:rPr>
              <a:t>▪  </a:t>
            </a:r>
            <a:r>
              <a:rPr sz="1650">
                <a:solidFill>
                  <a:srgbClr val="1C2333"/>
                </a:solidFill>
                <a:latin typeface="DM Sans"/>
              </a:rPr>
              <a:t>PROTOTYPE, then re-validate: the 24h classifier ranks well among eventually-funded loans (AUC ≈ 0.90, strictly future data) — but expired/withdrawn listings aren't in the data, so an early-warning flag first needs all posted listings, a defined target, and retraining on that population.</a:t>
            </a:r>
          </a:p>
        </p:txBody>
      </p:sp>
      <p:sp>
        <p:nvSpPr>
          <p:cNvPr id="7" name="TextBox 6"/>
          <p:cNvSpPr txBox="1"/>
          <p:nvPr/>
        </p:nvSpPr>
        <p:spPr>
          <a:xfrm>
            <a:off x="685800" y="6446520"/>
            <a:ext cx="8229600" cy="320040"/>
          </a:xfrm>
          <a:prstGeom prst="rect">
            <a:avLst/>
          </a:prstGeom>
          <a:noFill/>
        </p:spPr>
        <p:txBody>
          <a:bodyPr wrap="square">
            <a:spAutoFit/>
          </a:bodyPr>
          <a:lstStyle/>
          <a:p>
            <a:pPr>
              <a:defRPr sz="1000" b="0" i="0">
                <a:solidFill>
                  <a:srgbClr val="6E7278"/>
                </a:solidFill>
                <a:latin typeface="Courier New"/>
              </a:defRPr>
            </a:pPr>
            <a:r>
              <a:t>Cultural Blend · Kiva 2016–2025 · 1.45M loans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TextBox 1"/>
          <p:cNvSpPr txBox="1"/>
          <p:nvPr/>
        </p:nvSpPr>
        <p:spPr>
          <a:xfrm>
            <a:off x="685800" y="384048"/>
            <a:ext cx="8229600" cy="320040"/>
          </a:xfrm>
          <a:prstGeom prst="rect">
            <a:avLst/>
          </a:prstGeom>
          <a:noFill/>
        </p:spPr>
        <p:txBody>
          <a:bodyPr wrap="square">
            <a:spAutoFit/>
          </a:bodyPr>
          <a:lstStyle/>
          <a:p>
            <a:pPr>
              <a:defRPr sz="1150" b="0" i="0">
                <a:solidFill>
                  <a:srgbClr val="31688E"/>
                </a:solidFill>
                <a:latin typeface="Courier New"/>
              </a:defRPr>
            </a:pPr>
            <a:r>
              <a:t>LIMITS</a:t>
            </a:r>
          </a:p>
        </p:txBody>
      </p:sp>
      <p:sp>
        <p:nvSpPr>
          <p:cNvPr id="3" name="Rounded Rectangle 2"/>
          <p:cNvSpPr/>
          <p:nvPr/>
        </p:nvSpPr>
        <p:spPr>
          <a:xfrm>
            <a:off x="11109960" y="365760"/>
            <a:ext cx="658368" cy="347472"/>
          </a:xfrm>
          <a:prstGeom prst="roundRect">
            <a:avLst/>
          </a:prstGeom>
          <a:solidFill>
            <a:srgbClr val="1C233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200" b="0" i="0">
                <a:solidFill>
                  <a:srgbClr val="FFDD04"/>
                </a:solidFill>
                <a:latin typeface="Courier New"/>
              </a:defRPr>
            </a:pPr>
            <a:r>
              <a:t>9/10</a:t>
            </a:r>
          </a:p>
        </p:txBody>
      </p:sp>
      <p:sp>
        <p:nvSpPr>
          <p:cNvPr id="4" name="TextBox 3"/>
          <p:cNvSpPr txBox="1"/>
          <p:nvPr/>
        </p:nvSpPr>
        <p:spPr>
          <a:xfrm>
            <a:off x="640080" y="713232"/>
            <a:ext cx="10332720" cy="914400"/>
          </a:xfrm>
          <a:prstGeom prst="rect">
            <a:avLst/>
          </a:prstGeom>
          <a:noFill/>
        </p:spPr>
        <p:txBody>
          <a:bodyPr wrap="square">
            <a:spAutoFit/>
          </a:bodyPr>
          <a:lstStyle/>
          <a:p>
            <a:pPr>
              <a:defRPr sz="3600" b="1" i="0">
                <a:solidFill>
                  <a:srgbClr val="1C2333"/>
                </a:solidFill>
                <a:latin typeface="Georgia"/>
              </a:defRPr>
            </a:pPr>
            <a:r>
              <a:t>What this can't tell us</a:t>
            </a:r>
          </a:p>
        </p:txBody>
      </p:sp>
      <p:sp>
        <p:nvSpPr>
          <p:cNvPr id="5" name="Rectangle 4"/>
          <p:cNvSpPr/>
          <p:nvPr/>
        </p:nvSpPr>
        <p:spPr>
          <a:xfrm>
            <a:off x="685800" y="1481328"/>
            <a:ext cx="1234440" cy="44450"/>
          </a:xfrm>
          <a:prstGeom prst="rect">
            <a:avLst/>
          </a:prstGeom>
          <a:solidFill>
            <a:srgbClr val="FFDD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783080"/>
            <a:ext cx="11064240" cy="4526280"/>
          </a:xfrm>
          <a:prstGeom prst="rect">
            <a:avLst/>
          </a:prstGeom>
          <a:noFill/>
        </p:spPr>
        <p:txBody>
          <a:bodyPr wrap="square">
            <a:spAutoFit/>
          </a:bodyPr>
          <a:lstStyle/>
          <a:p>
            <a:pPr>
              <a:lnSpc>
                <a:spcPct val="115000"/>
              </a:lnSpc>
              <a:spcAft>
                <a:spcPts val="1200"/>
              </a:spcAft>
            </a:pPr>
            <a:r>
              <a:rPr sz="1600">
                <a:solidFill>
                  <a:srgbClr val="FFDD04"/>
                </a:solidFill>
                <a:latin typeface="DM Sans"/>
              </a:rPr>
              <a:t>▪  </a:t>
            </a:r>
            <a:r>
              <a:rPr sz="1650">
                <a:solidFill>
                  <a:srgbClr val="1C2333"/>
                </a:solidFill>
                <a:latin typeface="DM Sans"/>
              </a:rPr>
              <a:t>Association, never causation — no borrower was randomly assigned a writing style.</a:t>
            </a:r>
          </a:p>
          <a:p>
            <a:pPr>
              <a:lnSpc>
                <a:spcPct val="115000"/>
              </a:lnSpc>
              <a:spcAft>
                <a:spcPts val="1200"/>
              </a:spcAft>
            </a:pPr>
            <a:r>
              <a:rPr sz="1600">
                <a:solidFill>
                  <a:srgbClr val="FFDD04"/>
                </a:solidFill>
                <a:latin typeface="DM Sans"/>
              </a:rPr>
              <a:t>▪  </a:t>
            </a:r>
            <a:r>
              <a:rPr sz="1650">
                <a:solidFill>
                  <a:srgbClr val="1C2333"/>
                </a:solidFill>
                <a:latin typeface="DM Sans"/>
              </a:rPr>
              <a:t>Measures how fast a FUNDED loan funds — not whether a loan gets funded at all (expired/withdrawn listings never enter the data).</a:t>
            </a:r>
          </a:p>
          <a:p>
            <a:pPr>
              <a:lnSpc>
                <a:spcPct val="115000"/>
              </a:lnSpc>
              <a:spcAft>
                <a:spcPts val="1200"/>
              </a:spcAft>
            </a:pPr>
            <a:r>
              <a:rPr sz="1600">
                <a:solidFill>
                  <a:srgbClr val="FFDD04"/>
                </a:solidFill>
                <a:latin typeface="DM Sans"/>
              </a:rPr>
              <a:t>▪  </a:t>
            </a:r>
            <a:r>
              <a:rPr sz="1650">
                <a:solidFill>
                  <a:srgbClr val="1C2333"/>
                </a:solidFill>
                <a:latin typeface="DM Sans"/>
              </a:rPr>
              <a:t>Framing measured with transparent, simple rules — not every nuance of persuasive writing.</a:t>
            </a:r>
          </a:p>
        </p:txBody>
      </p:sp>
      <p:sp>
        <p:nvSpPr>
          <p:cNvPr id="7" name="TextBox 6"/>
          <p:cNvSpPr txBox="1"/>
          <p:nvPr/>
        </p:nvSpPr>
        <p:spPr>
          <a:xfrm>
            <a:off x="685800" y="6446520"/>
            <a:ext cx="8229600" cy="320040"/>
          </a:xfrm>
          <a:prstGeom prst="rect">
            <a:avLst/>
          </a:prstGeom>
          <a:noFill/>
        </p:spPr>
        <p:txBody>
          <a:bodyPr wrap="square">
            <a:spAutoFit/>
          </a:bodyPr>
          <a:lstStyle/>
          <a:p>
            <a:pPr>
              <a:defRPr sz="1000" b="0" i="0">
                <a:solidFill>
                  <a:srgbClr val="6E7278"/>
                </a:solidFill>
                <a:latin typeface="Courier New"/>
              </a:defRPr>
            </a:pPr>
            <a:r>
              <a:t>Cultural Blend · Kiva 2016–2025 · 1.45M loans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C2333"/>
        </a:solidFill>
        <a:effectLst/>
      </p:bgPr>
    </p:bg>
    <p:spTree>
      <p:nvGrpSpPr>
        <p:cNvPr id="1" name=""/>
        <p:cNvGrpSpPr/>
        <p:nvPr/>
      </p:nvGrpSpPr>
      <p:grpSpPr/>
      <p:sp>
        <p:nvSpPr>
          <p:cNvPr id="2" name="Rectangle 1"/>
          <p:cNvSpPr/>
          <p:nvPr/>
        </p:nvSpPr>
        <p:spPr>
          <a:xfrm>
            <a:off x="5367528" y="1554480"/>
            <a:ext cx="1463040" cy="50800"/>
          </a:xfrm>
          <a:prstGeom prst="rect">
            <a:avLst/>
          </a:prstGeom>
          <a:solidFill>
            <a:srgbClr val="FFDD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2286000"/>
            <a:ext cx="9966960" cy="2377440"/>
          </a:xfrm>
          <a:prstGeom prst="rect">
            <a:avLst/>
          </a:prstGeom>
          <a:noFill/>
        </p:spPr>
        <p:txBody>
          <a:bodyPr wrap="square">
            <a:spAutoFit/>
          </a:bodyPr>
          <a:lstStyle/>
          <a:p>
            <a:pPr algn="ctr">
              <a:defRPr sz="4200" b="1" i="0">
                <a:solidFill>
                  <a:srgbClr val="FBFAF6"/>
                </a:solidFill>
                <a:latin typeface="Georgia"/>
              </a:defRPr>
            </a:pPr>
            <a:r>
              <a:t>“The story barely registers.</a:t>
            </a:r>
          </a:p>
          <a:p>
            <a:pPr algn="ctr">
              <a:defRPr sz="4200" b="1" i="0">
                <a:solidFill>
                  <a:srgbClr val="FBFAF6"/>
                </a:solidFill>
                <a:latin typeface="Georgia"/>
              </a:defRPr>
            </a:pPr>
            <a:r>
              <a:t>The structure carries the signal.”</a:t>
            </a:r>
          </a:p>
        </p:txBody>
      </p:sp>
      <p:sp>
        <p:nvSpPr>
          <p:cNvPr id="4" name="TextBox 3"/>
          <p:cNvSpPr txBox="1"/>
          <p:nvPr/>
        </p:nvSpPr>
        <p:spPr>
          <a:xfrm>
            <a:off x="1097280" y="4846320"/>
            <a:ext cx="9966960" cy="640080"/>
          </a:xfrm>
          <a:prstGeom prst="rect">
            <a:avLst/>
          </a:prstGeom>
          <a:noFill/>
        </p:spPr>
        <p:txBody>
          <a:bodyPr wrap="square">
            <a:spAutoFit/>
          </a:bodyPr>
          <a:lstStyle/>
          <a:p>
            <a:pPr algn="ctr">
              <a:defRPr sz="2000" b="0" i="0">
                <a:solidFill>
                  <a:srgbClr val="B8CED6"/>
                </a:solidFill>
                <a:latin typeface="DM Sans"/>
              </a:defRPr>
            </a:pPr>
            <a:r>
              <a:t>Thank you — questions.</a:t>
            </a:r>
          </a:p>
        </p:txBody>
      </p:sp>
      <p:sp>
        <p:nvSpPr>
          <p:cNvPr id="5" name="TextBox 4"/>
          <p:cNvSpPr txBox="1"/>
          <p:nvPr/>
        </p:nvSpPr>
        <p:spPr>
          <a:xfrm>
            <a:off x="1097280" y="6309360"/>
            <a:ext cx="9966960" cy="365760"/>
          </a:xfrm>
          <a:prstGeom prst="rect">
            <a:avLst/>
          </a:prstGeom>
          <a:noFill/>
        </p:spPr>
        <p:txBody>
          <a:bodyPr wrap="square">
            <a:spAutoFit/>
          </a:bodyPr>
          <a:lstStyle/>
          <a:p>
            <a:pPr algn="ctr">
              <a:defRPr sz="1200" b="0" i="0">
                <a:solidFill>
                  <a:srgbClr val="8FB0BB"/>
                </a:solidFill>
                <a:latin typeface="Courier New"/>
              </a:defRPr>
            </a:pPr>
            <a:r>
              <a:t>Team Cultural Blend · UNSW Marketing Analytics Hackathon 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C2333"/>
        </a:solidFill>
        <a:effectLst/>
      </p:bgPr>
    </p:bg>
    <p:spTree>
      <p:nvGrpSpPr>
        <p:cNvPr id="1" name=""/>
        <p:cNvGrpSpPr/>
        <p:nvPr/>
      </p:nvGrpSpPr>
      <p:grpSpPr/>
      <p:sp>
        <p:nvSpPr>
          <p:cNvPr id="2" name="Rectangle 1"/>
          <p:cNvSpPr/>
          <p:nvPr/>
        </p:nvSpPr>
        <p:spPr>
          <a:xfrm>
            <a:off x="822960" y="2743200"/>
            <a:ext cx="1463040" cy="50800"/>
          </a:xfrm>
          <a:prstGeom prst="rect">
            <a:avLst/>
          </a:prstGeom>
          <a:solidFill>
            <a:srgbClr val="FFDD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971800"/>
            <a:ext cx="10515600" cy="1097280"/>
          </a:xfrm>
          <a:prstGeom prst="rect">
            <a:avLst/>
          </a:prstGeom>
          <a:noFill/>
        </p:spPr>
        <p:txBody>
          <a:bodyPr wrap="square">
            <a:spAutoFit/>
          </a:bodyPr>
          <a:lstStyle/>
          <a:p>
            <a:pPr>
              <a:defRPr sz="5400" b="1" i="0">
                <a:solidFill>
                  <a:srgbClr val="FBFAF6"/>
                </a:solidFill>
                <a:latin typeface="Georgia"/>
              </a:defRPr>
            </a:pPr>
            <a:r>
              <a:t>Appendix</a:t>
            </a:r>
          </a:p>
        </p:txBody>
      </p:sp>
      <p:sp>
        <p:nvSpPr>
          <p:cNvPr id="4" name="TextBox 3"/>
          <p:cNvSpPr txBox="1"/>
          <p:nvPr/>
        </p:nvSpPr>
        <p:spPr>
          <a:xfrm>
            <a:off x="822960" y="4114800"/>
            <a:ext cx="10515600" cy="548640"/>
          </a:xfrm>
          <a:prstGeom prst="rect">
            <a:avLst/>
          </a:prstGeom>
          <a:noFill/>
        </p:spPr>
        <p:txBody>
          <a:bodyPr wrap="square">
            <a:spAutoFit/>
          </a:bodyPr>
          <a:lstStyle/>
          <a:p>
            <a:pPr>
              <a:defRPr sz="1800" b="0" i="1">
                <a:solidFill>
                  <a:srgbClr val="B8CED6"/>
                </a:solidFill>
                <a:latin typeface="DM Sans"/>
              </a:defRPr>
            </a:pPr>
            <a:r>
              <a:t>Q&amp;A backup — not part of the 10-minute presentation.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TextBox 1"/>
          <p:cNvSpPr txBox="1"/>
          <p:nvPr/>
        </p:nvSpPr>
        <p:spPr>
          <a:xfrm>
            <a:off x="685800" y="384048"/>
            <a:ext cx="8229600" cy="320040"/>
          </a:xfrm>
          <a:prstGeom prst="rect">
            <a:avLst/>
          </a:prstGeom>
          <a:noFill/>
        </p:spPr>
        <p:txBody>
          <a:bodyPr wrap="square">
            <a:spAutoFit/>
          </a:bodyPr>
          <a:lstStyle/>
          <a:p>
            <a:pPr>
              <a:defRPr sz="1150" b="0" i="0">
                <a:solidFill>
                  <a:srgbClr val="31688E"/>
                </a:solidFill>
                <a:latin typeface="Courier New"/>
              </a:defRPr>
            </a:pPr>
            <a:r>
              <a:t>APPENDIX · A1</a:t>
            </a:r>
          </a:p>
        </p:txBody>
      </p:sp>
      <p:sp>
        <p:nvSpPr>
          <p:cNvPr id="3" name="Rounded Rectangle 2"/>
          <p:cNvSpPr/>
          <p:nvPr/>
        </p:nvSpPr>
        <p:spPr>
          <a:xfrm>
            <a:off x="11109960" y="365760"/>
            <a:ext cx="658368" cy="347472"/>
          </a:xfrm>
          <a:prstGeom prst="roundRect">
            <a:avLst/>
          </a:prstGeom>
          <a:solidFill>
            <a:srgbClr val="1C233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200" b="0" i="0">
                <a:solidFill>
                  <a:srgbClr val="FFDD04"/>
                </a:solidFill>
                <a:latin typeface="Courier New"/>
              </a:defRPr>
            </a:pPr>
            <a:r>
              <a:t>A1</a:t>
            </a:r>
          </a:p>
        </p:txBody>
      </p:sp>
      <p:sp>
        <p:nvSpPr>
          <p:cNvPr id="4" name="TextBox 3"/>
          <p:cNvSpPr txBox="1"/>
          <p:nvPr/>
        </p:nvSpPr>
        <p:spPr>
          <a:xfrm>
            <a:off x="640080" y="713232"/>
            <a:ext cx="10332720" cy="914400"/>
          </a:xfrm>
          <a:prstGeom prst="rect">
            <a:avLst/>
          </a:prstGeom>
          <a:noFill/>
        </p:spPr>
        <p:txBody>
          <a:bodyPr wrap="square">
            <a:spAutoFit/>
          </a:bodyPr>
          <a:lstStyle/>
          <a:p>
            <a:pPr>
              <a:defRPr sz="3600" b="1" i="0">
                <a:solidFill>
                  <a:srgbClr val="1C2333"/>
                </a:solidFill>
                <a:latin typeface="Georgia"/>
              </a:defRPr>
            </a:pPr>
            <a:r>
              <a:t>The two-country problem, in full</a:t>
            </a:r>
          </a:p>
        </p:txBody>
      </p:sp>
      <p:sp>
        <p:nvSpPr>
          <p:cNvPr id="5" name="Rectangle 4"/>
          <p:cNvSpPr/>
          <p:nvPr/>
        </p:nvSpPr>
        <p:spPr>
          <a:xfrm>
            <a:off x="685800" y="1481328"/>
            <a:ext cx="1234440" cy="44450"/>
          </a:xfrm>
          <a:prstGeom prst="rect">
            <a:avLst/>
          </a:prstGeom>
          <a:solidFill>
            <a:srgbClr val="FFDD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783080"/>
            <a:ext cx="6720840" cy="4526280"/>
          </a:xfrm>
          <a:prstGeom prst="rect">
            <a:avLst/>
          </a:prstGeom>
          <a:noFill/>
        </p:spPr>
        <p:txBody>
          <a:bodyPr wrap="square">
            <a:spAutoFit/>
          </a:bodyPr>
          <a:lstStyle/>
          <a:p>
            <a:pPr>
              <a:lnSpc>
                <a:spcPct val="115000"/>
              </a:lnSpc>
              <a:spcAft>
                <a:spcPts val="1200"/>
              </a:spcAft>
            </a:pPr>
            <a:r>
              <a:rPr sz="1600">
                <a:solidFill>
                  <a:srgbClr val="FFDD04"/>
                </a:solidFill>
                <a:latin typeface="DM Sans"/>
              </a:rPr>
              <a:t>▪  </a:t>
            </a:r>
            <a:r>
              <a:rPr sz="1650">
                <a:solidFill>
                  <a:srgbClr val="1C2333"/>
                </a:solidFill>
                <a:latin typeface="DM Sans"/>
              </a:rPr>
              <a:t>Pooled categories: Middle East = Palestine + Yemen (14,946 loans); Central America = Honduras + Nicaragua (59,391); North America = Haiti alone.</a:t>
            </a:r>
          </a:p>
          <a:p>
            <a:pPr>
              <a:lnSpc>
                <a:spcPct val="115000"/>
              </a:lnSpc>
              <a:spcAft>
                <a:spcPts val="1200"/>
              </a:spcAft>
            </a:pPr>
            <a:r>
              <a:rPr sz="1600">
                <a:solidFill>
                  <a:srgbClr val="FFDD04"/>
                </a:solidFill>
                <a:latin typeface="DM Sans"/>
              </a:rPr>
              <a:t>▪  </a:t>
            </a:r>
            <a:r>
              <a:rPr sz="1650">
                <a:solidFill>
                  <a:srgbClr val="1C2333"/>
                </a:solidFill>
                <a:latin typeface="DM Sans"/>
              </a:rPr>
              <a:t>Few-cluster screen p (duration / 24h / notebook fit): ME 0.12 / 0.21 / 0.08 · CA 0.06 / 0.14 / 0.07 — same direction in every fit, none significant; t(1) critical value 12.7.</a:t>
            </a:r>
          </a:p>
          <a:p>
            <a:pPr>
              <a:lnSpc>
                <a:spcPct val="115000"/>
              </a:lnSpc>
              <a:spcAft>
                <a:spcPts val="1200"/>
              </a:spcAft>
            </a:pPr>
            <a:r>
              <a:rPr sz="1600">
                <a:solidFill>
                  <a:srgbClr val="FFDD04"/>
                </a:solidFill>
                <a:latin typeface="DM Sans"/>
              </a:rPr>
              <a:t>▪  </a:t>
            </a:r>
            <a:r>
              <a:rPr sz="1650">
                <a:solidFill>
                  <a:srgbClr val="1C2333"/>
                </a:solidFill>
                <a:latin typeface="DM Sans"/>
              </a:rPr>
              <a:t>North America: single country — between-country uncertainty not estimable at all.</a:t>
            </a:r>
          </a:p>
          <a:p>
            <a:pPr>
              <a:lnSpc>
                <a:spcPct val="115000"/>
              </a:lnSpc>
              <a:spcAft>
                <a:spcPts val="1200"/>
              </a:spcAft>
            </a:pPr>
            <a:r>
              <a:rPr sz="1600">
                <a:solidFill>
                  <a:srgbClr val="FFDD04"/>
                </a:solidFill>
                <a:latin typeface="DM Sans"/>
              </a:rPr>
              <a:t>▪  </a:t>
            </a:r>
            <a:r>
              <a:rPr sz="1650">
                <a:solidFill>
                  <a:srgbClr val="1C2333"/>
                </a:solidFill>
                <a:latin typeface="DM Sans"/>
              </a:rPr>
              <a:t>The screen is a conservative heuristic: it can downgrade a claim, never certify one. Next step: country-stratified A/B test in those four markets.</a:t>
            </a:r>
          </a:p>
        </p:txBody>
      </p:sp>
      <p:pic>
        <p:nvPicPr>
          <p:cNvPr id="7" name="Picture 6" descr="region.png"/>
          <p:cNvPicPr>
            <a:picLocks noChangeAspect="1"/>
          </p:cNvPicPr>
          <p:nvPr/>
        </p:nvPicPr>
        <p:blipFill>
          <a:blip r:embed="rId2"/>
          <a:stretch>
            <a:fillRect/>
          </a:stretch>
        </p:blipFill>
        <p:spPr>
          <a:xfrm>
            <a:off x="7498079" y="1783080"/>
            <a:ext cx="4160519" cy="2667361"/>
          </a:xfrm>
          <a:prstGeom prst="rect">
            <a:avLst/>
          </a:prstGeom>
        </p:spPr>
      </p:pic>
      <p:sp>
        <p:nvSpPr>
          <p:cNvPr id="8" name="TextBox 7"/>
          <p:cNvSpPr txBox="1"/>
          <p:nvPr/>
        </p:nvSpPr>
        <p:spPr>
          <a:xfrm>
            <a:off x="7498079" y="6053328"/>
            <a:ext cx="4297680" cy="685800"/>
          </a:xfrm>
          <a:prstGeom prst="rect">
            <a:avLst/>
          </a:prstGeom>
          <a:noFill/>
        </p:spPr>
        <p:txBody>
          <a:bodyPr wrap="square">
            <a:spAutoFit/>
          </a:bodyPr>
          <a:lstStyle/>
          <a:p>
            <a:r>
              <a:rPr sz="900" b="1">
                <a:solidFill>
                  <a:srgbClr val="1C2333"/>
                </a:solidFill>
                <a:latin typeface="DM Sans"/>
              </a:rPr>
              <a:t>Figure 6. </a:t>
            </a:r>
            <a:r>
              <a:rPr sz="900">
                <a:solidFill>
                  <a:srgbClr val="1C2333"/>
                </a:solidFill>
                <a:latin typeface="DM Sans"/>
              </a:rPr>
              <a:t>Mean funding speed by region.</a:t>
            </a:r>
          </a:p>
          <a:p>
            <a:r>
              <a:rPr sz="800">
                <a:solidFill>
                  <a:srgbClr val="6E7278"/>
                </a:solidFill>
                <a:latin typeface="DM Sans"/>
              </a:rPr>
              <a:t>Notes: Computed from the raw data replicating EDA §5 grouping; all counts match the executed notebook.</a:t>
            </a:r>
          </a:p>
        </p:txBody>
      </p:sp>
      <p:sp>
        <p:nvSpPr>
          <p:cNvPr id="9" name="TextBox 8"/>
          <p:cNvSpPr txBox="1"/>
          <p:nvPr/>
        </p:nvSpPr>
        <p:spPr>
          <a:xfrm>
            <a:off x="685800" y="6446520"/>
            <a:ext cx="8229600" cy="320040"/>
          </a:xfrm>
          <a:prstGeom prst="rect">
            <a:avLst/>
          </a:prstGeom>
          <a:noFill/>
        </p:spPr>
        <p:txBody>
          <a:bodyPr wrap="square">
            <a:spAutoFit/>
          </a:bodyPr>
          <a:lstStyle/>
          <a:p>
            <a:pPr>
              <a:defRPr sz="1000" b="0" i="0">
                <a:solidFill>
                  <a:srgbClr val="6E7278"/>
                </a:solidFill>
                <a:latin typeface="Courier New"/>
              </a:defRPr>
            </a:pPr>
            <a:r>
              <a:t>Cultural Blend · Kiva 2016–2025 · 1.45M loans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TextBox 1"/>
          <p:cNvSpPr txBox="1"/>
          <p:nvPr/>
        </p:nvSpPr>
        <p:spPr>
          <a:xfrm>
            <a:off x="685800" y="384048"/>
            <a:ext cx="8229600" cy="320040"/>
          </a:xfrm>
          <a:prstGeom prst="rect">
            <a:avLst/>
          </a:prstGeom>
          <a:noFill/>
        </p:spPr>
        <p:txBody>
          <a:bodyPr wrap="square">
            <a:spAutoFit/>
          </a:bodyPr>
          <a:lstStyle/>
          <a:p>
            <a:pPr>
              <a:defRPr sz="1150" b="0" i="0">
                <a:solidFill>
                  <a:srgbClr val="31688E"/>
                </a:solidFill>
                <a:latin typeface="Courier New"/>
              </a:defRPr>
            </a:pPr>
            <a:r>
              <a:t>APPENDIX · A2</a:t>
            </a:r>
          </a:p>
        </p:txBody>
      </p:sp>
      <p:sp>
        <p:nvSpPr>
          <p:cNvPr id="3" name="Rounded Rectangle 2"/>
          <p:cNvSpPr/>
          <p:nvPr/>
        </p:nvSpPr>
        <p:spPr>
          <a:xfrm>
            <a:off x="11109960" y="365760"/>
            <a:ext cx="658368" cy="347472"/>
          </a:xfrm>
          <a:prstGeom prst="roundRect">
            <a:avLst/>
          </a:prstGeom>
          <a:solidFill>
            <a:srgbClr val="1C233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200" b="0" i="0">
                <a:solidFill>
                  <a:srgbClr val="FFDD04"/>
                </a:solidFill>
                <a:latin typeface="Courier New"/>
              </a:defRPr>
            </a:pPr>
            <a:r>
              <a:t>A2</a:t>
            </a:r>
          </a:p>
        </p:txBody>
      </p:sp>
      <p:sp>
        <p:nvSpPr>
          <p:cNvPr id="4" name="TextBox 3"/>
          <p:cNvSpPr txBox="1"/>
          <p:nvPr/>
        </p:nvSpPr>
        <p:spPr>
          <a:xfrm>
            <a:off x="640080" y="713232"/>
            <a:ext cx="10332720" cy="914400"/>
          </a:xfrm>
          <a:prstGeom prst="rect">
            <a:avLst/>
          </a:prstGeom>
          <a:noFill/>
        </p:spPr>
        <p:txBody>
          <a:bodyPr wrap="square">
            <a:spAutoFit/>
          </a:bodyPr>
          <a:lstStyle/>
          <a:p>
            <a:pPr>
              <a:defRPr sz="3600" b="1" i="0">
                <a:solidFill>
                  <a:srgbClr val="1C2333"/>
                </a:solidFill>
                <a:latin typeface="Georgia"/>
              </a:defRPr>
            </a:pPr>
            <a:r>
              <a:t>Predictive weight ≠ statistical robustness</a:t>
            </a:r>
          </a:p>
        </p:txBody>
      </p:sp>
      <p:sp>
        <p:nvSpPr>
          <p:cNvPr id="5" name="Rectangle 4"/>
          <p:cNvSpPr/>
          <p:nvPr/>
        </p:nvSpPr>
        <p:spPr>
          <a:xfrm>
            <a:off x="685800" y="1481328"/>
            <a:ext cx="1234440" cy="44450"/>
          </a:xfrm>
          <a:prstGeom prst="rect">
            <a:avLst/>
          </a:prstGeom>
          <a:solidFill>
            <a:srgbClr val="FFDD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783080"/>
            <a:ext cx="6720840" cy="4526280"/>
          </a:xfrm>
          <a:prstGeom prst="rect">
            <a:avLst/>
          </a:prstGeom>
          <a:noFill/>
        </p:spPr>
        <p:txBody>
          <a:bodyPr wrap="square">
            <a:spAutoFit/>
          </a:bodyPr>
          <a:lstStyle/>
          <a:p>
            <a:pPr>
              <a:lnSpc>
                <a:spcPct val="115000"/>
              </a:lnSpc>
              <a:spcAft>
                <a:spcPts val="1200"/>
              </a:spcAft>
            </a:pPr>
            <a:r>
              <a:rPr sz="1600">
                <a:solidFill>
                  <a:srgbClr val="FFDD04"/>
                </a:solidFill>
                <a:latin typeface="DM Sans"/>
              </a:rPr>
              <a:t>▪  </a:t>
            </a:r>
            <a:r>
              <a:rPr sz="1650">
                <a:solidFill>
                  <a:srgbClr val="1C2333"/>
                </a:solidFill>
                <a:latin typeface="DM Sans"/>
              </a:rPr>
              <a:t>SHAP importance from the boosted forecasting model: structure fills the top ranks (amount, term, period, size band, sector, gender).</a:t>
            </a:r>
          </a:p>
          <a:p>
            <a:pPr>
              <a:lnSpc>
                <a:spcPct val="115000"/>
              </a:lnSpc>
              <a:spcAft>
                <a:spcPts val="1200"/>
              </a:spcAft>
            </a:pPr>
            <a:r>
              <a:rPr sz="1600">
                <a:solidFill>
                  <a:srgbClr val="FFDD04"/>
                </a:solidFill>
                <a:latin typeface="DM Sans"/>
              </a:rPr>
              <a:t>▪  </a:t>
            </a:r>
            <a:r>
              <a:rPr sz="1650">
                <a:solidFill>
                  <a:srgbClr val="1C2333"/>
                </a:solidFill>
                <a:latin typeface="DM Sans"/>
              </a:rPr>
              <a:t>No family, agency, or urgency feature reaches the top 15; sentiment is 11th despite its disputed significance.</a:t>
            </a:r>
          </a:p>
          <a:p>
            <a:pPr>
              <a:lnSpc>
                <a:spcPct val="115000"/>
              </a:lnSpc>
              <a:spcAft>
                <a:spcPts val="1200"/>
              </a:spcAft>
            </a:pPr>
            <a:r>
              <a:rPr sz="1600">
                <a:solidFill>
                  <a:srgbClr val="FFDD04"/>
                </a:solidFill>
                <a:latin typeface="DM Sans"/>
              </a:rPr>
              <a:t>▪  </a:t>
            </a:r>
            <a:r>
              <a:rPr sz="1650">
                <a:solidFill>
                  <a:srgbClr val="1C2333"/>
                </a:solidFill>
                <a:latin typeface="DM Sans"/>
              </a:rPr>
              <a:t>Complementary predictive evidence only — a different model, no region interactions; it cannot confirm or refute any coefficient's sign or uncertainty.</a:t>
            </a:r>
          </a:p>
        </p:txBody>
      </p:sp>
      <p:pic>
        <p:nvPicPr>
          <p:cNvPr id="7" name="Picture 6" descr="shap_top15.png"/>
          <p:cNvPicPr>
            <a:picLocks noChangeAspect="1"/>
          </p:cNvPicPr>
          <p:nvPr/>
        </p:nvPicPr>
        <p:blipFill>
          <a:blip r:embed="rId2"/>
          <a:stretch>
            <a:fillRect/>
          </a:stretch>
        </p:blipFill>
        <p:spPr>
          <a:xfrm>
            <a:off x="7498079" y="1783080"/>
            <a:ext cx="4160520" cy="3164840"/>
          </a:xfrm>
          <a:prstGeom prst="rect">
            <a:avLst/>
          </a:prstGeom>
        </p:spPr>
      </p:pic>
      <p:sp>
        <p:nvSpPr>
          <p:cNvPr id="8" name="TextBox 7"/>
          <p:cNvSpPr txBox="1"/>
          <p:nvPr/>
        </p:nvSpPr>
        <p:spPr>
          <a:xfrm>
            <a:off x="7498079" y="6053328"/>
            <a:ext cx="4297680" cy="685800"/>
          </a:xfrm>
          <a:prstGeom prst="rect">
            <a:avLst/>
          </a:prstGeom>
          <a:noFill/>
        </p:spPr>
        <p:txBody>
          <a:bodyPr wrap="square">
            <a:spAutoFit/>
          </a:bodyPr>
          <a:lstStyle/>
          <a:p>
            <a:r>
              <a:rPr sz="900" b="1">
                <a:solidFill>
                  <a:srgbClr val="1C2333"/>
                </a:solidFill>
                <a:latin typeface="DM Sans"/>
              </a:rPr>
              <a:t>Figure 7. </a:t>
            </a:r>
            <a:r>
              <a:rPr sz="900">
                <a:solidFill>
                  <a:srgbClr val="1C2333"/>
                </a:solidFill>
                <a:latin typeface="DM Sans"/>
              </a:rPr>
              <a:t>Top 15 features by mean |SHAP| value, boosted model.</a:t>
            </a:r>
          </a:p>
          <a:p>
            <a:r>
              <a:rPr sz="800">
                <a:solidFill>
                  <a:srgbClr val="6E7278"/>
                </a:solidFill>
                <a:latin typeface="DM Sans"/>
              </a:rPr>
              <a:t>Notes: 2,000-loan holdout sample; sentiment (11th) highlighted as the only narrative feature. Modeling notebook §8.</a:t>
            </a:r>
          </a:p>
        </p:txBody>
      </p:sp>
      <p:sp>
        <p:nvSpPr>
          <p:cNvPr id="9" name="TextBox 8"/>
          <p:cNvSpPr txBox="1"/>
          <p:nvPr/>
        </p:nvSpPr>
        <p:spPr>
          <a:xfrm>
            <a:off x="685800" y="6446520"/>
            <a:ext cx="8229600" cy="320040"/>
          </a:xfrm>
          <a:prstGeom prst="rect">
            <a:avLst/>
          </a:prstGeom>
          <a:noFill/>
        </p:spPr>
        <p:txBody>
          <a:bodyPr wrap="square">
            <a:spAutoFit/>
          </a:bodyPr>
          <a:lstStyle/>
          <a:p>
            <a:pPr>
              <a:defRPr sz="1000" b="0" i="0">
                <a:solidFill>
                  <a:srgbClr val="6E7278"/>
                </a:solidFill>
                <a:latin typeface="Courier New"/>
              </a:defRPr>
            </a:pPr>
            <a:r>
              <a:t>Cultural Blend · Kiva 2016–2025 · 1.45M loans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TextBox 1"/>
          <p:cNvSpPr txBox="1"/>
          <p:nvPr/>
        </p:nvSpPr>
        <p:spPr>
          <a:xfrm>
            <a:off x="685800" y="384048"/>
            <a:ext cx="8229600" cy="320040"/>
          </a:xfrm>
          <a:prstGeom prst="rect">
            <a:avLst/>
          </a:prstGeom>
          <a:noFill/>
        </p:spPr>
        <p:txBody>
          <a:bodyPr wrap="square">
            <a:spAutoFit/>
          </a:bodyPr>
          <a:lstStyle/>
          <a:p>
            <a:pPr>
              <a:defRPr sz="1150" b="0" i="0">
                <a:solidFill>
                  <a:srgbClr val="31688E"/>
                </a:solidFill>
                <a:latin typeface="Courier New"/>
              </a:defRPr>
            </a:pPr>
            <a:r>
              <a:t>APPENDIX · A3</a:t>
            </a:r>
          </a:p>
        </p:txBody>
      </p:sp>
      <p:sp>
        <p:nvSpPr>
          <p:cNvPr id="3" name="Rounded Rectangle 2"/>
          <p:cNvSpPr/>
          <p:nvPr/>
        </p:nvSpPr>
        <p:spPr>
          <a:xfrm>
            <a:off x="11109960" y="365760"/>
            <a:ext cx="658368" cy="347472"/>
          </a:xfrm>
          <a:prstGeom prst="roundRect">
            <a:avLst/>
          </a:prstGeom>
          <a:solidFill>
            <a:srgbClr val="1C233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200" b="0" i="0">
                <a:solidFill>
                  <a:srgbClr val="FFDD04"/>
                </a:solidFill>
                <a:latin typeface="Courier New"/>
              </a:defRPr>
            </a:pPr>
            <a:r>
              <a:t>A3</a:t>
            </a:r>
          </a:p>
        </p:txBody>
      </p:sp>
      <p:sp>
        <p:nvSpPr>
          <p:cNvPr id="4" name="TextBox 3"/>
          <p:cNvSpPr txBox="1"/>
          <p:nvPr/>
        </p:nvSpPr>
        <p:spPr>
          <a:xfrm>
            <a:off x="640080" y="713232"/>
            <a:ext cx="10332720" cy="914400"/>
          </a:xfrm>
          <a:prstGeom prst="rect">
            <a:avLst/>
          </a:prstGeom>
          <a:noFill/>
        </p:spPr>
        <p:txBody>
          <a:bodyPr wrap="square">
            <a:spAutoFit/>
          </a:bodyPr>
          <a:lstStyle/>
          <a:p>
            <a:pPr>
              <a:defRPr sz="3600" b="1" i="0">
                <a:solidFill>
                  <a:srgbClr val="1C2333"/>
                </a:solidFill>
                <a:latin typeface="Georgia"/>
              </a:defRPr>
            </a:pPr>
            <a:r>
              <a:t>The '~10x' comparison, exactly</a:t>
            </a:r>
          </a:p>
        </p:txBody>
      </p:sp>
      <p:sp>
        <p:nvSpPr>
          <p:cNvPr id="5" name="Rectangle 4"/>
          <p:cNvSpPr/>
          <p:nvPr/>
        </p:nvSpPr>
        <p:spPr>
          <a:xfrm>
            <a:off x="685800" y="1481328"/>
            <a:ext cx="1234440" cy="44450"/>
          </a:xfrm>
          <a:prstGeom prst="rect">
            <a:avLst/>
          </a:prstGeom>
          <a:solidFill>
            <a:srgbClr val="FFDD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783080"/>
            <a:ext cx="6720840" cy="4526280"/>
          </a:xfrm>
          <a:prstGeom prst="rect">
            <a:avLst/>
          </a:prstGeom>
          <a:noFill/>
        </p:spPr>
        <p:txBody>
          <a:bodyPr wrap="square">
            <a:spAutoFit/>
          </a:bodyPr>
          <a:lstStyle/>
          <a:p>
            <a:pPr>
              <a:lnSpc>
                <a:spcPct val="115000"/>
              </a:lnSpc>
              <a:spcAft>
                <a:spcPts val="1200"/>
              </a:spcAft>
            </a:pPr>
            <a:r>
              <a:rPr sz="1600">
                <a:solidFill>
                  <a:srgbClr val="FFDD04"/>
                </a:solidFill>
                <a:latin typeface="DM Sans"/>
              </a:rPr>
              <a:t>▪  </a:t>
            </a:r>
            <a:r>
              <a:rPr sz="1650">
                <a:solidFill>
                  <a:srgbClr val="1C2333"/>
                </a:solidFill>
                <a:latin typeface="DM Sans"/>
              </a:rPr>
              <a:t>Correlation with funding speed: loan amount (log) r = 0.43, repayment term r = 0.28 — vs competence 0.058, family 0.019, urgency 0.010.</a:t>
            </a:r>
          </a:p>
          <a:p>
            <a:pPr>
              <a:lnSpc>
                <a:spcPct val="115000"/>
              </a:lnSpc>
              <a:spcAft>
                <a:spcPts val="1200"/>
              </a:spcAft>
            </a:pPr>
            <a:r>
              <a:rPr sz="1600">
                <a:solidFill>
                  <a:srgbClr val="FFDD04"/>
                </a:solidFill>
                <a:latin typeface="DM Sans"/>
              </a:rPr>
              <a:t>▪  </a:t>
            </a:r>
            <a:r>
              <a:rPr sz="1650">
                <a:solidFill>
                  <a:srgbClr val="1C2333"/>
                </a:solidFill>
                <a:latin typeface="DM Sans"/>
              </a:rPr>
              <a:t>Loan-amount deciles also rise almost monotonically (~2 days for the smallest asks, ~18 for the largest) — monotonicity, not the 10x basis itself.</a:t>
            </a:r>
          </a:p>
          <a:p>
            <a:pPr>
              <a:lnSpc>
                <a:spcPct val="115000"/>
              </a:lnSpc>
              <a:spcAft>
                <a:spcPts val="1200"/>
              </a:spcAft>
            </a:pPr>
            <a:r>
              <a:rPr sz="1600">
                <a:solidFill>
                  <a:srgbClr val="FFDD04"/>
                </a:solidFill>
                <a:latin typeface="DM Sans"/>
              </a:rPr>
              <a:t>▪  </a:t>
            </a:r>
            <a:r>
              <a:rPr sz="1650">
                <a:solidFill>
                  <a:srgbClr val="1C2333"/>
                </a:solidFill>
                <a:latin typeface="DM Sans"/>
              </a:rPr>
              <a:t>Gender: female-posted median 2.3 days vs male 7.7 (male coefficient +0.430 survives HC3 AND country clustering, p &lt; 0.0001 — still associational).</a:t>
            </a:r>
          </a:p>
        </p:txBody>
      </p:sp>
      <p:pic>
        <p:nvPicPr>
          <p:cNvPr id="7" name="Picture 6" descr="correlations.png"/>
          <p:cNvPicPr>
            <a:picLocks noChangeAspect="1"/>
          </p:cNvPicPr>
          <p:nvPr/>
        </p:nvPicPr>
        <p:blipFill>
          <a:blip r:embed="rId2"/>
          <a:stretch>
            <a:fillRect/>
          </a:stretch>
        </p:blipFill>
        <p:spPr>
          <a:xfrm>
            <a:off x="7498079" y="1783080"/>
            <a:ext cx="4160520" cy="2329705"/>
          </a:xfrm>
          <a:prstGeom prst="rect">
            <a:avLst/>
          </a:prstGeom>
        </p:spPr>
      </p:pic>
      <p:sp>
        <p:nvSpPr>
          <p:cNvPr id="8" name="TextBox 7"/>
          <p:cNvSpPr txBox="1"/>
          <p:nvPr/>
        </p:nvSpPr>
        <p:spPr>
          <a:xfrm>
            <a:off x="7498079" y="6053328"/>
            <a:ext cx="4297680" cy="685800"/>
          </a:xfrm>
          <a:prstGeom prst="rect">
            <a:avLst/>
          </a:prstGeom>
          <a:noFill/>
        </p:spPr>
        <p:txBody>
          <a:bodyPr wrap="square">
            <a:spAutoFit/>
          </a:bodyPr>
          <a:lstStyle/>
          <a:p>
            <a:r>
              <a:rPr sz="900" b="1">
                <a:solidFill>
                  <a:srgbClr val="1C2333"/>
                </a:solidFill>
                <a:latin typeface="DM Sans"/>
              </a:rPr>
              <a:t>Figure 8. </a:t>
            </a:r>
            <a:r>
              <a:rPr sz="900">
                <a:solidFill>
                  <a:srgbClr val="1C2333"/>
                </a:solidFill>
                <a:latin typeface="DM Sans"/>
              </a:rPr>
              <a:t>Correlation with funding speed: structural vs narrative features.</a:t>
            </a:r>
          </a:p>
          <a:p>
            <a:r>
              <a:rPr sz="800">
                <a:solidFill>
                  <a:srgbClr val="6E7278"/>
                </a:solidFill>
                <a:latin typeface="DM Sans"/>
              </a:rPr>
              <a:t>Notes: Absolute Pearson correlations from the full valid sample. EDA notebook §9.</a:t>
            </a:r>
          </a:p>
        </p:txBody>
      </p:sp>
      <p:sp>
        <p:nvSpPr>
          <p:cNvPr id="9" name="TextBox 8"/>
          <p:cNvSpPr txBox="1"/>
          <p:nvPr/>
        </p:nvSpPr>
        <p:spPr>
          <a:xfrm>
            <a:off x="685800" y="6446520"/>
            <a:ext cx="8229600" cy="320040"/>
          </a:xfrm>
          <a:prstGeom prst="rect">
            <a:avLst/>
          </a:prstGeom>
          <a:noFill/>
        </p:spPr>
        <p:txBody>
          <a:bodyPr wrap="square">
            <a:spAutoFit/>
          </a:bodyPr>
          <a:lstStyle/>
          <a:p>
            <a:pPr>
              <a:defRPr sz="1000" b="0" i="0">
                <a:solidFill>
                  <a:srgbClr val="6E7278"/>
                </a:solidFill>
                <a:latin typeface="Courier New"/>
              </a:defRPr>
            </a:pPr>
            <a:r>
              <a:t>Cultural Blend · Kiva 2016–2025 · 1.45M loans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BFAF6"/>
        </a:solidFill>
        <a:effectLst/>
      </p:bgPr>
    </p:bg>
    <p:spTree>
      <p:nvGrpSpPr>
        <p:cNvPr id="1" name=""/>
        <p:cNvGrpSpPr/>
        <p:nvPr/>
      </p:nvGrpSpPr>
      <p:grpSpPr/>
      <p:sp>
        <p:nvSpPr>
          <p:cNvPr id="2" name="TextBox 1"/>
          <p:cNvSpPr txBox="1"/>
          <p:nvPr/>
        </p:nvSpPr>
        <p:spPr>
          <a:xfrm>
            <a:off x="685800" y="384048"/>
            <a:ext cx="8229600" cy="320040"/>
          </a:xfrm>
          <a:prstGeom prst="rect">
            <a:avLst/>
          </a:prstGeom>
          <a:noFill/>
        </p:spPr>
        <p:txBody>
          <a:bodyPr wrap="square">
            <a:spAutoFit/>
          </a:bodyPr>
          <a:lstStyle/>
          <a:p>
            <a:pPr>
              <a:defRPr sz="1150" b="0" i="0">
                <a:solidFill>
                  <a:srgbClr val="31688E"/>
                </a:solidFill>
                <a:latin typeface="Courier New"/>
              </a:defRPr>
            </a:pPr>
            <a:r>
              <a:t>APPENDIX · A4</a:t>
            </a:r>
          </a:p>
        </p:txBody>
      </p:sp>
      <p:sp>
        <p:nvSpPr>
          <p:cNvPr id="3" name="Rounded Rectangle 2"/>
          <p:cNvSpPr/>
          <p:nvPr/>
        </p:nvSpPr>
        <p:spPr>
          <a:xfrm>
            <a:off x="11109960" y="365760"/>
            <a:ext cx="658368" cy="347472"/>
          </a:xfrm>
          <a:prstGeom prst="roundRect">
            <a:avLst/>
          </a:prstGeom>
          <a:solidFill>
            <a:srgbClr val="1C2333"/>
          </a:solidFill>
          <a:ln>
            <a:noFill/>
          </a:ln>
          <a:effectLst/>
        </p:spPr>
        <p:style>
          <a:lnRef idx="1">
            <a:schemeClr val="accent1"/>
          </a:lnRef>
          <a:fillRef idx="3">
            <a:schemeClr val="accent1"/>
          </a:fillRef>
          <a:effectRef idx="2">
            <a:schemeClr val="accent1"/>
          </a:effectRef>
          <a:fontRef idx="minor">
            <a:schemeClr val="lt1"/>
          </a:fontRef>
        </p:style>
        <p:txBody>
          <a:bodyPr rtlCol="0" anchor="ctr" tIns="0" bIns="0"/>
          <a:lstStyle/>
          <a:p>
            <a:pPr algn="ctr">
              <a:defRPr sz="1200" b="0" i="0">
                <a:solidFill>
                  <a:srgbClr val="FFDD04"/>
                </a:solidFill>
                <a:latin typeface="Courier New"/>
              </a:defRPr>
            </a:pPr>
            <a:r>
              <a:t>A4</a:t>
            </a:r>
          </a:p>
        </p:txBody>
      </p:sp>
      <p:sp>
        <p:nvSpPr>
          <p:cNvPr id="4" name="TextBox 3"/>
          <p:cNvSpPr txBox="1"/>
          <p:nvPr/>
        </p:nvSpPr>
        <p:spPr>
          <a:xfrm>
            <a:off x="640080" y="713232"/>
            <a:ext cx="10332720" cy="914400"/>
          </a:xfrm>
          <a:prstGeom prst="rect">
            <a:avLst/>
          </a:prstGeom>
          <a:noFill/>
        </p:spPr>
        <p:txBody>
          <a:bodyPr wrap="square">
            <a:spAutoFit/>
          </a:bodyPr>
          <a:lstStyle/>
          <a:p>
            <a:pPr>
              <a:defRPr sz="3600" b="1" i="0">
                <a:solidFill>
                  <a:srgbClr val="1C2333"/>
                </a:solidFill>
                <a:latin typeface="Georgia"/>
              </a:defRPr>
            </a:pPr>
            <a:r>
              <a:t>24h classifier — operating detail</a:t>
            </a:r>
          </a:p>
        </p:txBody>
      </p:sp>
      <p:sp>
        <p:nvSpPr>
          <p:cNvPr id="5" name="Rectangle 4"/>
          <p:cNvSpPr/>
          <p:nvPr/>
        </p:nvSpPr>
        <p:spPr>
          <a:xfrm>
            <a:off x="685800" y="1481328"/>
            <a:ext cx="1234440" cy="44450"/>
          </a:xfrm>
          <a:prstGeom prst="rect">
            <a:avLst/>
          </a:prstGeom>
          <a:solidFill>
            <a:srgbClr val="FFDD0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783080"/>
            <a:ext cx="11064240" cy="4526280"/>
          </a:xfrm>
          <a:prstGeom prst="rect">
            <a:avLst/>
          </a:prstGeom>
          <a:noFill/>
        </p:spPr>
        <p:txBody>
          <a:bodyPr wrap="square">
            <a:spAutoFit/>
          </a:bodyPr>
          <a:lstStyle/>
          <a:p>
            <a:pPr>
              <a:lnSpc>
                <a:spcPct val="115000"/>
              </a:lnSpc>
              <a:spcAft>
                <a:spcPts val="1200"/>
              </a:spcAft>
            </a:pPr>
            <a:r>
              <a:rPr sz="1600">
                <a:solidFill>
                  <a:srgbClr val="FFDD04"/>
                </a:solidFill>
                <a:latin typeface="DM Sans"/>
              </a:rPr>
              <a:t>▪  </a:t>
            </a:r>
            <a:r>
              <a:rPr sz="1650">
                <a:solidFill>
                  <a:srgbClr val="1C2333"/>
                </a:solidFill>
                <a:latin typeface="DM Sans"/>
              </a:rPr>
              <a:t>Holdout (posted 2024-01-01 onward): 278,887 loans; 87,466 funded within 24h vs 191,421 not.</a:t>
            </a:r>
          </a:p>
          <a:p>
            <a:pPr>
              <a:lnSpc>
                <a:spcPct val="115000"/>
              </a:lnSpc>
              <a:spcAft>
                <a:spcPts val="1200"/>
              </a:spcAft>
            </a:pPr>
            <a:r>
              <a:rPr sz="1600">
                <a:solidFill>
                  <a:srgbClr val="FFDD04"/>
                </a:solidFill>
                <a:latin typeface="DM Sans"/>
              </a:rPr>
              <a:t>▪  </a:t>
            </a:r>
            <a:r>
              <a:rPr sz="1650">
                <a:solidFill>
                  <a:srgbClr val="1C2333"/>
                </a:solidFill>
                <a:latin typeface="DM Sans"/>
              </a:rPr>
              <a:t>ROC AUC 0.8997 · average precision 0.8301 · Brier 0.1156 · accuracy 0.840 — no narrative features needed.</a:t>
            </a:r>
          </a:p>
          <a:p>
            <a:pPr>
              <a:lnSpc>
                <a:spcPct val="115000"/>
              </a:lnSpc>
              <a:spcAft>
                <a:spcPts val="1200"/>
              </a:spcAft>
            </a:pPr>
            <a:r>
              <a:rPr sz="1600">
                <a:solidFill>
                  <a:srgbClr val="FFDD04"/>
                </a:solidFill>
                <a:latin typeface="DM Sans"/>
              </a:rPr>
              <a:t>▪  </a:t>
            </a:r>
            <a:r>
              <a:rPr sz="1650">
                <a:solidFill>
                  <a:srgbClr val="1C2333"/>
                </a:solidFill>
                <a:latin typeface="DM Sans"/>
              </a:rPr>
              <a:t>Boundary: negative class = 'eventually funded, but not within 24h'. Expired/withdrawn listings never enter the data — a retrospective ranking prototype among eventual funders.</a:t>
            </a:r>
          </a:p>
          <a:p>
            <a:pPr>
              <a:lnSpc>
                <a:spcPct val="115000"/>
              </a:lnSpc>
              <a:spcAft>
                <a:spcPts val="1200"/>
              </a:spcAft>
            </a:pPr>
            <a:r>
              <a:rPr sz="1600">
                <a:solidFill>
                  <a:srgbClr val="FFDD04"/>
                </a:solidFill>
                <a:latin typeface="DM Sans"/>
              </a:rPr>
              <a:t>▪  </a:t>
            </a:r>
            <a:r>
              <a:rPr sz="1650">
                <a:solidFill>
                  <a:srgbClr val="1C2333"/>
                </a:solidFill>
                <a:latin typeface="DM Sans"/>
              </a:rPr>
              <a:t>Path to deployment: all posted listings incl. expired/withdrawn outcomes -&gt; define operational target + censoring window -&gt; retrain, validate -&gt; threshold, calibration, fairness, prospective test.</a:t>
            </a:r>
          </a:p>
        </p:txBody>
      </p:sp>
      <p:sp>
        <p:nvSpPr>
          <p:cNvPr id="7" name="TextBox 6"/>
          <p:cNvSpPr txBox="1"/>
          <p:nvPr/>
        </p:nvSpPr>
        <p:spPr>
          <a:xfrm>
            <a:off x="685800" y="6446520"/>
            <a:ext cx="8229600" cy="320040"/>
          </a:xfrm>
          <a:prstGeom prst="rect">
            <a:avLst/>
          </a:prstGeom>
          <a:noFill/>
        </p:spPr>
        <p:txBody>
          <a:bodyPr wrap="square">
            <a:spAutoFit/>
          </a:bodyPr>
          <a:lstStyle/>
          <a:p>
            <a:pPr>
              <a:defRPr sz="1000" b="0" i="0">
                <a:solidFill>
                  <a:srgbClr val="6E7278"/>
                </a:solidFill>
                <a:latin typeface="Courier New"/>
              </a:defRPr>
            </a:pPr>
            <a:r>
              <a:t>Cultural Blend · Kiva 2016–2025 · 1.45M loans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