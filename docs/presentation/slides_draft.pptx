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 we're Cultural Blend. Kiva is built on stories: every loan page leads with one. So we asked a simple question of 1.45 million real loans: does the story actually move the money?</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Specifically: when a borrower's story leans on family, on competence, on urgency — does the loan fund faster? And does the answer depend on who's asking, and when? We care because language is the one thing a platform can coach. You can't rewrite a loan's size, sector, or country after the fact — but you could suggest better words. IF words work. That's the claim we set out to test, not assume.</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disciplines before any findings. For prediction, we train only on the past and test only on loans posted in 2024–25 — no peeking at the future. For the framing claims, every 'significant' result had to survive re-testing: first with standard errors clustered by country, so ten thousand loans from one country can't masquerade as ten thousand independent pieces of evidence — and where a result rested on just a couple of countries, a deliberately harsher few-cluster reference on top. Most headline-looking results did not survive. That's the point: we'd rather lose a finding than present a fluke.</a:t>
            </a:r>
          </a:p>
          <a:p/>
          <a:p>
            <a:r>
              <a:t>[Sources] Chart: modeling notebook SS6 (boosted forecast vs actual, chronological holdout). Split sizes: analysis_summary.json.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pandemic, almost half of Kiva loans — 46% — funded within 24 hours. Since 2020, it's been under a third — and through the end of our data in 2025 it has not recovered. That's more than half a million loans on each side of the divide, so this isn't noise. Every result we show next lives inside this slower, tighter marketplace — lenders are more selective now, which makes knowing what actually drives speed more valuable, not less.</a:t>
            </a:r>
          </a:p>
          <a:p/>
          <a:p>
            <a:r>
              <a:t>[Sources] Chart rebuilt from EDA SS4 printed shares (0.460/0.303/0.300) and period counts; association_summary.txt audit trail.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does drive speed? Structure. Loan amount and repayment terms are associated with funding speed roughly ten times more strongly than any single narrative choice. Sector alone spans more than an order of magnitude. And the starkest gap in the data: loans posted by women fund in a median of 2.3 days; by men, 7.7 — more than three times longer. None of this is causal — but the pattern is enormous, it's stable, and it dwarfs anything the words do.</a:t>
            </a:r>
          </a:p>
          <a:p/>
          <a:p>
            <a:r>
              <a:t>[Sources] Chart: EDA SS5 sector figure (executed notebook). Gender medians: EDA SS4 printout. 10x basis: EDA SS9 correlations.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question we came to answer — and the honest answer is that nothing about the narrative survives our own scrutiny. Urgency language looked like a clean, universal win: significant at p&lt;0.001. Cluster by country, and it collapses to p≈0.44. Gone. Family framing — here our own first version got it wrong: we tested whether regions differ from Africa, which is not the same as whether family framing helps WITHIN a region. Corrected, two pooled categories — Palestine+Yemen, and Honduras+Nicaragua — do show faster funding in every fit we ran. But each rests on exactly two countries, and against a deliberately harsh few-cluster screen — a t distribution with one degree of freedom, where the critical value is 12.7, not 1.96 — neither is significant: p between 0.06 and 0.21. So we report it as a hypothesis worth testing, not a finding. Sentiment tone: more positive language associates with SLOWER funding, but its significance flips between our two specifications — we call it open. We'd rather report no robust evidence than one exciting result we can't defend.</a:t>
            </a:r>
          </a:p>
          <a:p/>
          <a:p>
            <a:r>
              <a:t>[Sources] Table typeset from the executed modeling notebook SS7.2 printout (v15); authoritative few-cluster values: analysis_summary.json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went beyond keyword counting. Topic modeling finds coherent themes in the stories — livestock, health and sanitation, clean water, farming, retail — and funding speed swings ninefold across them, from a day and a half to nearly two weeks. But notice what a topic mostly encodes: what the loan is FOR. Which is structure again — not persuasion.</a:t>
            </a:r>
          </a:p>
          <a:p/>
          <a:p>
            <a:r>
              <a:t>[Sources] Chart rebuilt from EDA SS8 printed topic means and top-words (8 NMF topics).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should Kiva actually do? Three things. First — don't ship writing tips. A platform-wide 'add urgency' nudge would be built on a result that doesn't survive testing. The family-framing pattern deserves a country-stratified A/B test in exactly those four markets: that's how a hypothesis becomes a decision, and it's cheap to run. Second — the structural gaps are where the real levers are: review how the consistently slower sectors and regions are surfaced, bundled, and supported, because those gaps are ten times the size of any wording effect. Third — speed is predictable in retrospect: among loans that eventually funded, our classifier ranks same-day funding at AUC 0.90 on strictly future data, without any framing features. One honest boundary: expired or withdrawn listings never enter this data, so that is a ranking prototype among eventual funders — not yet an early-warning system. To build one, Kiva should pull all posted listings including expired and withdrawn outcomes, define the operational target, and retrain and validate on that population — before any pilot.</a:t>
            </a:r>
          </a:p>
          <a:p/>
          <a:p>
            <a:r>
              <a:t>[Sources] Classifier metrics: analysis_summary.json binary_classifier. Few-cluster screen: SS7.2 /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honest limits. This is association, never causation — no borrower was randomly assigned a writing style. We measure how fast funded loans fund — not whether a loan funds at all. And our framing measures are transparent, simple rules — they don't capture every nuance of persuasion. We'd rather you know exactly what this analysis can and cannot say — that's what makes the parts we do claim worth trusting.</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data, the story barely registers — the structure carries the signal. And testing hard enough to say, honestly, that there is no robust evidence for the story is worth more to a platform than a good-sounding tip. Thank you — we're happy to take questions.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only. Everything after this slide exists to be pulled up during Q&amp;A if a question calls for it.</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6 probes: exact pooled definitions, all p-values, the single-country boundary, and the honest status of the screen.</a:t>
            </a:r>
          </a:p>
          <a:p/>
          <a:p>
            <a:r>
              <a:t>[Sources] Region panel: EDA SS5 figure. Pooled definitions + p-values: association_summary.txt within-region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SHAP questions: what the ranking shows, and exactly what it cannot corroborate.</a:t>
            </a:r>
          </a:p>
          <a:p/>
          <a:p>
            <a:r>
              <a:t>[Sources] Chart rebuilt from modeling SS8 printed SHAP top-15 values (v14/v15 runs).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5 probes: the amount gradient and the gender gap's robustness status.</a:t>
            </a:r>
          </a:p>
          <a:p/>
          <a:p>
            <a:r>
              <a:t>[Sources] Chart rebuilt from EDA SS9 printed correlation table; decile curve: EDA SS9 figure.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classifier questions: exact metrics, class balance, and the population boundary stated before anyone asks.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822960" y="1874519"/>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34440"/>
            <a:ext cx="10515600" cy="457200"/>
          </a:xfrm>
          <a:prstGeom prst="rect">
            <a:avLst/>
          </a:prstGeom>
          <a:noFill/>
        </p:spPr>
        <p:txBody>
          <a:bodyPr wrap="square">
            <a:spAutoFit/>
          </a:bodyPr>
          <a:lstStyle/>
          <a:p>
            <a:pPr>
              <a:defRPr sz="1300" b="0" i="0">
                <a:solidFill>
                  <a:srgbClr val="FFDD04"/>
                </a:solidFill>
                <a:latin typeface="Courier New"/>
              </a:defRPr>
            </a:pPr>
            <a:r>
              <a:t>UNSW MARKETING ANALYTICS HACKATHON · FINAL</a:t>
            </a:r>
          </a:p>
        </p:txBody>
      </p:sp>
      <p:sp>
        <p:nvSpPr>
          <p:cNvPr id="4" name="TextBox 3"/>
          <p:cNvSpPr txBox="1"/>
          <p:nvPr/>
        </p:nvSpPr>
        <p:spPr>
          <a:xfrm>
            <a:off x="777240" y="2103120"/>
            <a:ext cx="10789920" cy="2011680"/>
          </a:xfrm>
          <a:prstGeom prst="rect">
            <a:avLst/>
          </a:prstGeom>
          <a:noFill/>
        </p:spPr>
        <p:txBody>
          <a:bodyPr wrap="square">
            <a:spAutoFit/>
          </a:bodyPr>
          <a:lstStyle/>
          <a:p>
            <a:pPr>
              <a:defRPr sz="6600" b="1" i="0">
                <a:solidFill>
                  <a:srgbClr val="FBFAF6"/>
                </a:solidFill>
                <a:latin typeface="Georgia"/>
              </a:defRPr>
            </a:pPr>
            <a:r>
              <a:t>Beyond a Good Story</a:t>
            </a:r>
          </a:p>
        </p:txBody>
      </p:sp>
      <p:sp>
        <p:nvSpPr>
          <p:cNvPr id="5" name="TextBox 4"/>
          <p:cNvSpPr txBox="1"/>
          <p:nvPr/>
        </p:nvSpPr>
        <p:spPr>
          <a:xfrm>
            <a:off x="822960" y="3977639"/>
            <a:ext cx="8961120" cy="1097280"/>
          </a:xfrm>
          <a:prstGeom prst="rect">
            <a:avLst/>
          </a:prstGeom>
          <a:noFill/>
        </p:spPr>
        <p:txBody>
          <a:bodyPr wrap="square">
            <a:spAutoFit/>
          </a:bodyPr>
          <a:lstStyle/>
          <a:p>
            <a:pPr>
              <a:defRPr sz="2200" b="0" i="1">
                <a:solidFill>
                  <a:srgbClr val="B8CED6"/>
                </a:solidFill>
                <a:latin typeface="Avenir Next"/>
              </a:defRPr>
            </a:pPr>
            <a:r>
              <a:t>When — and for whom — does persuasive loan language actually speed up funding?</a:t>
            </a:r>
          </a:p>
        </p:txBody>
      </p:sp>
      <p:sp>
        <p:nvSpPr>
          <p:cNvPr id="6" name="TextBox 5"/>
          <p:cNvSpPr txBox="1"/>
          <p:nvPr/>
        </p:nvSpPr>
        <p:spPr>
          <a:xfrm>
            <a:off x="822960" y="5760720"/>
            <a:ext cx="10515600" cy="548640"/>
          </a:xfrm>
          <a:prstGeom prst="rect">
            <a:avLst/>
          </a:prstGeom>
          <a:noFill/>
        </p:spPr>
        <p:txBody>
          <a:bodyPr wrap="square">
            <a:spAutoFit/>
          </a:bodyPr>
          <a:lstStyle/>
          <a:p>
            <a:pPr>
              <a:defRPr sz="1500" b="0" i="0">
                <a:solidFill>
                  <a:srgbClr val="8FB0BB"/>
                </a:solidFill>
                <a:latin typeface="Courier New"/>
              </a:defRPr>
            </a:pPr>
            <a:r>
              <a:t>Team Cultural Blend  ·  Kiva loan data  ·  1.45 million real loans (2016–2025)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MOTIVATION</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2/10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question</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Avenir Next"/>
              </a:rPr>
              <a:t>▪  </a:t>
            </a:r>
            <a:r>
              <a:rPr sz="1650">
                <a:solidFill>
                  <a:srgbClr val="1C2333"/>
                </a:solidFill>
                <a:latin typeface="Avenir Next"/>
              </a:rPr>
              <a:t>When a loan's story leans on family, competence, or urgency — does it fund faster?</a:t>
            </a:r>
          </a:p>
          <a:p>
            <a:pPr>
              <a:lnSpc>
                <a:spcPct val="115000"/>
              </a:lnSpc>
              <a:spcAft>
                <a:spcPts val="1200"/>
              </a:spcAft>
            </a:pPr>
            <a:r>
              <a:rPr sz="1600">
                <a:solidFill>
                  <a:srgbClr val="FFDD04"/>
                </a:solidFill>
                <a:latin typeface="Avenir Next"/>
              </a:rPr>
              <a:t>▪  </a:t>
            </a:r>
            <a:r>
              <a:rPr sz="1650">
                <a:solidFill>
                  <a:srgbClr val="1C2333"/>
                </a:solidFill>
                <a:latin typeface="Avenir Next"/>
              </a:rPr>
              <a:t>Does the answer depend on WHO is asking and WHEN?</a:t>
            </a:r>
          </a:p>
          <a:p>
            <a:pPr>
              <a:lnSpc>
                <a:spcPct val="115000"/>
              </a:lnSpc>
              <a:spcAft>
                <a:spcPts val="1200"/>
              </a:spcAft>
            </a:pPr>
            <a:r>
              <a:rPr sz="1600">
                <a:solidFill>
                  <a:srgbClr val="FFDD04"/>
                </a:solidFill>
                <a:latin typeface="Avenir Next"/>
              </a:rPr>
              <a:t>▪  </a:t>
            </a:r>
            <a:r>
              <a:rPr sz="1650">
                <a:solidFill>
                  <a:srgbClr val="1C2333"/>
                </a:solidFill>
                <a:latin typeface="Avenir Next"/>
              </a:rPr>
              <a:t>Why it matters: framing is the one thing a platform can coach — loan size, sector and geography can't be rewritten after the fact.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METHOD</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3/10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How we stress-tested our findings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Avenir Next"/>
              </a:rPr>
              <a:t>▪  </a:t>
            </a:r>
            <a:r>
              <a:rPr sz="1650">
                <a:solidFill>
                  <a:srgbClr val="1C2333"/>
                </a:solidFill>
                <a:latin typeface="Avenir Next"/>
              </a:rPr>
              <a:t>Predictive claims: trained only on the past, tested only on loans posted 2024–2025 — no peeking at the future.</a:t>
            </a:r>
          </a:p>
          <a:p>
            <a:pPr>
              <a:lnSpc>
                <a:spcPct val="115000"/>
              </a:lnSpc>
              <a:spcAft>
                <a:spcPts val="1200"/>
              </a:spcAft>
            </a:pPr>
            <a:r>
              <a:rPr sz="1600">
                <a:solidFill>
                  <a:srgbClr val="FFDD04"/>
                </a:solidFill>
                <a:latin typeface="Avenir Next"/>
              </a:rPr>
              <a:t>▪  </a:t>
            </a:r>
            <a:r>
              <a:rPr sz="1650">
                <a:solidFill>
                  <a:srgbClr val="1C2333"/>
                </a:solidFill>
                <a:latin typeface="Avenir Next"/>
              </a:rPr>
              <a:t>Framing claims: every 'significant' result re-tested with country-clustered standard errors, then a harsher few-cluster reference where a result rests on a handful of countries.</a:t>
            </a:r>
          </a:p>
          <a:p>
            <a:pPr>
              <a:lnSpc>
                <a:spcPct val="115000"/>
              </a:lnSpc>
              <a:spcAft>
                <a:spcPts val="1200"/>
              </a:spcAft>
            </a:pPr>
            <a:r>
              <a:rPr sz="1600">
                <a:solidFill>
                  <a:srgbClr val="FFDD04"/>
                </a:solidFill>
                <a:latin typeface="Avenir Next"/>
              </a:rPr>
              <a:t>▪  </a:t>
            </a:r>
            <a:r>
              <a:rPr sz="1650">
                <a:solidFill>
                  <a:srgbClr val="1C2333"/>
                </a:solidFill>
                <a:latin typeface="Avenir Next"/>
              </a:rPr>
              <a:t>Most headline-looking results did NOT survive — that is the point of the method.</a:t>
            </a:r>
          </a:p>
          <a:p>
            <a:pPr>
              <a:lnSpc>
                <a:spcPct val="115000"/>
              </a:lnSpc>
              <a:spcAft>
                <a:spcPts val="1200"/>
              </a:spcAft>
            </a:pPr>
            <a:r>
              <a:rPr sz="1600">
                <a:solidFill>
                  <a:srgbClr val="FFDD04"/>
                </a:solidFill>
                <a:latin typeface="Avenir Next"/>
              </a:rPr>
              <a:t>▪  </a:t>
            </a:r>
            <a:r>
              <a:rPr sz="1650">
                <a:solidFill>
                  <a:srgbClr val="1C2333"/>
                </a:solidFill>
                <a:latin typeface="Avenir Next"/>
              </a:rPr>
              <a:t>SHAP importance shown as complementary predictive evidence only — it cannot confirm or refute a statistical finding.</a:t>
            </a:r>
          </a:p>
        </p:txBody>
      </p:sp>
      <p:pic>
        <p:nvPicPr>
          <p:cNvPr id="7" name="Picture 6" descr="mod_21.png"/>
          <p:cNvPicPr>
            <a:picLocks noChangeAspect="1"/>
          </p:cNvPicPr>
          <p:nvPr/>
        </p:nvPicPr>
        <p:blipFill>
          <a:blip r:embed="rId2"/>
          <a:stretch>
            <a:fillRect/>
          </a:stretch>
        </p:blipFill>
        <p:spPr>
          <a:xfrm>
            <a:off x="7498079" y="1783080"/>
            <a:ext cx="4069080" cy="4074986"/>
          </a:xfrm>
          <a:prstGeom prst="rect">
            <a:avLst/>
          </a:prstGeom>
        </p:spPr>
      </p:pic>
      <p:sp>
        <p:nvSpPr>
          <p:cNvPr id="8" name="TextBox 7"/>
          <p:cNvSpPr txBox="1"/>
          <p:nvPr/>
        </p:nvSpPr>
        <p:spPr>
          <a:xfrm>
            <a:off x="7498079" y="6172200"/>
            <a:ext cx="4206240" cy="274320"/>
          </a:xfrm>
          <a:prstGeom prst="rect">
            <a:avLst/>
          </a:prstGeom>
          <a:noFill/>
        </p:spPr>
        <p:txBody>
          <a:bodyPr wrap="square">
            <a:spAutoFit/>
          </a:bodyPr>
          <a:lstStyle/>
          <a:p>
            <a:pPr>
              <a:defRPr sz="850" b="0" i="0">
                <a:solidFill>
                  <a:srgbClr val="6E7278"/>
                </a:solidFill>
                <a:latin typeface="Courier New"/>
              </a:defRPr>
            </a:pPr>
            <a:r>
              <a:t>modeling notebook §6 · boosted forecast vs actual on the chronological holdout</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1 · THE MARKET</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4/10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A marketplace that hasn't recovered</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1C2333"/>
                </a:solidFill>
                <a:latin typeface="Georgia"/>
              </a:defRPr>
            </a:pPr>
            <a:r>
              <a:t>46% → 30% → 30%  </a:t>
            </a:r>
            <a:r>
              <a:rPr sz="1600" b="0">
                <a:solidFill>
                  <a:srgbClr val="6E7278"/>
                </a:solidFill>
                <a:latin typeface="Avenir Next"/>
              </a:rPr>
              <a:t>funded within 24 hours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Avenir Next"/>
              </a:rPr>
              <a:t>▪  </a:t>
            </a:r>
            <a:r>
              <a:rPr sz="1650">
                <a:solidFill>
                  <a:srgbClr val="1C2333"/>
                </a:solidFill>
                <a:latin typeface="Avenir Next"/>
              </a:rPr>
              <a:t>Pre-pandemic, almost half of all loans funded within a day.</a:t>
            </a:r>
          </a:p>
          <a:p>
            <a:pPr>
              <a:lnSpc>
                <a:spcPct val="115000"/>
              </a:lnSpc>
              <a:spcAft>
                <a:spcPts val="1200"/>
              </a:spcAft>
            </a:pPr>
            <a:r>
              <a:rPr sz="1600">
                <a:solidFill>
                  <a:srgbClr val="FFDD04"/>
                </a:solidFill>
                <a:latin typeface="Avenir Next"/>
              </a:rPr>
              <a:t>▪  </a:t>
            </a:r>
            <a:r>
              <a:rPr sz="1650">
                <a:solidFill>
                  <a:srgbClr val="1C2333"/>
                </a:solidFill>
                <a:latin typeface="Avenir Next"/>
              </a:rPr>
              <a:t>Since 2020: under a third — and through the end of the data (2025) it has NOT recovered. Persistence to date, not proof it never will.</a:t>
            </a:r>
          </a:p>
          <a:p>
            <a:pPr>
              <a:lnSpc>
                <a:spcPct val="115000"/>
              </a:lnSpc>
              <a:spcAft>
                <a:spcPts val="1200"/>
              </a:spcAft>
            </a:pPr>
            <a:r>
              <a:rPr sz="1600">
                <a:solidFill>
                  <a:srgbClr val="FFDD04"/>
                </a:solidFill>
                <a:latin typeface="Avenir Next"/>
              </a:rPr>
              <a:t>▪  </a:t>
            </a:r>
            <a:r>
              <a:rPr sz="1650">
                <a:solidFill>
                  <a:srgbClr val="1C2333"/>
                </a:solidFill>
                <a:latin typeface="Avenir Next"/>
              </a:rPr>
              <a:t>589,823 loans before vs. 565,474 after — not a small, noisy sample.</a:t>
            </a:r>
          </a:p>
        </p:txBody>
      </p:sp>
      <p:pic>
        <p:nvPicPr>
          <p:cNvPr id="8" name="Picture 7" descr="period_24h.png"/>
          <p:cNvPicPr>
            <a:picLocks noChangeAspect="1"/>
          </p:cNvPicPr>
          <p:nvPr/>
        </p:nvPicPr>
        <p:blipFill>
          <a:blip r:embed="rId2"/>
          <a:stretch>
            <a:fillRect/>
          </a:stretch>
        </p:blipFill>
        <p:spPr>
          <a:xfrm>
            <a:off x="7498079" y="2834639"/>
            <a:ext cx="4069080" cy="2801311"/>
          </a:xfrm>
          <a:prstGeom prst="rect">
            <a:avLst/>
          </a:prstGeom>
        </p:spPr>
      </p:pic>
      <p:sp>
        <p:nvSpPr>
          <p:cNvPr id="9" name="TextBox 8"/>
          <p:cNvSpPr txBox="1"/>
          <p:nvPr/>
        </p:nvSpPr>
        <p:spPr>
          <a:xfrm>
            <a:off x="7498079" y="6172200"/>
            <a:ext cx="4206240" cy="274320"/>
          </a:xfrm>
          <a:prstGeom prst="rect">
            <a:avLst/>
          </a:prstGeom>
          <a:noFill/>
        </p:spPr>
        <p:txBody>
          <a:bodyPr wrap="square">
            <a:spAutoFit/>
          </a:bodyPr>
          <a:lstStyle/>
          <a:p>
            <a:pPr>
              <a:defRPr sz="850" b="0" i="0">
                <a:solidFill>
                  <a:srgbClr val="6E7278"/>
                </a:solidFill>
                <a:latin typeface="Courier New"/>
              </a:defRPr>
            </a:pPr>
            <a:r>
              <a:t>EDA notebook §4 categorical trends (period chart)</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2 · STRUCTURE</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5/10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Structure beats story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1C2333"/>
                </a:solidFill>
                <a:latin typeface="Georgia"/>
              </a:defRPr>
            </a:pPr>
            <a:r>
              <a:t>2.3 vs 7.7 days  </a:t>
            </a:r>
            <a:r>
              <a:rPr sz="1600" b="0">
                <a:solidFill>
                  <a:srgbClr val="6E7278"/>
                </a:solidFill>
                <a:latin typeface="Avenir Next"/>
              </a:rPr>
              <a:t>median funding speed — female- vs male-posted loans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Avenir Next"/>
              </a:rPr>
              <a:t>▪  </a:t>
            </a:r>
            <a:r>
              <a:rPr sz="1650">
                <a:solidFill>
                  <a:srgbClr val="1C2333"/>
                </a:solidFill>
                <a:latin typeface="Avenir Next"/>
              </a:rPr>
              <a:t>Loan amount + repayment terms: linked to funding speed ~10x more strongly than any single narrative choice.</a:t>
            </a:r>
          </a:p>
          <a:p>
            <a:pPr>
              <a:lnSpc>
                <a:spcPct val="115000"/>
              </a:lnSpc>
              <a:spcAft>
                <a:spcPts val="1200"/>
              </a:spcAft>
            </a:pPr>
            <a:r>
              <a:rPr sz="1600">
                <a:solidFill>
                  <a:srgbClr val="FFDD04"/>
                </a:solidFill>
                <a:latin typeface="Avenir Next"/>
              </a:rPr>
              <a:t>▪  </a:t>
            </a:r>
            <a:r>
              <a:rPr sz="1650">
                <a:solidFill>
                  <a:srgbClr val="1C2333"/>
                </a:solidFill>
                <a:latin typeface="Avenir Next"/>
              </a:rPr>
              <a:t>Sector alone spans well over an order of magnitude in speed; region shows similarly large gaps.</a:t>
            </a:r>
          </a:p>
          <a:p>
            <a:pPr>
              <a:lnSpc>
                <a:spcPct val="115000"/>
              </a:lnSpc>
              <a:spcAft>
                <a:spcPts val="1200"/>
              </a:spcAft>
            </a:pPr>
            <a:r>
              <a:rPr sz="1600">
                <a:solidFill>
                  <a:srgbClr val="FFDD04"/>
                </a:solidFill>
                <a:latin typeface="Avenir Next"/>
              </a:rPr>
              <a:t>▪  </a:t>
            </a:r>
            <a:r>
              <a:rPr sz="1650">
                <a:solidFill>
                  <a:srgbClr val="1C2333"/>
                </a:solidFill>
                <a:latin typeface="Avenir Next"/>
              </a:rPr>
              <a:t>None of this is causal — but it dwarfs anything the words do.</a:t>
            </a:r>
          </a:p>
        </p:txBody>
      </p:sp>
      <p:pic>
        <p:nvPicPr>
          <p:cNvPr id="8" name="Picture 7" descr="eda_22.png"/>
          <p:cNvPicPr>
            <a:picLocks noChangeAspect="1"/>
          </p:cNvPicPr>
          <p:nvPr/>
        </p:nvPicPr>
        <p:blipFill>
          <a:blip r:embed="rId2"/>
          <a:stretch>
            <a:fillRect/>
          </a:stretch>
        </p:blipFill>
        <p:spPr>
          <a:xfrm>
            <a:off x="7672562" y="2834639"/>
            <a:ext cx="3720114" cy="3291840"/>
          </a:xfrm>
          <a:prstGeom prst="rect">
            <a:avLst/>
          </a:prstGeom>
        </p:spPr>
      </p:pic>
      <p:sp>
        <p:nvSpPr>
          <p:cNvPr id="9" name="TextBox 8"/>
          <p:cNvSpPr txBox="1"/>
          <p:nvPr/>
        </p:nvSpPr>
        <p:spPr>
          <a:xfrm>
            <a:off x="7498079" y="6172200"/>
            <a:ext cx="4206240" cy="274320"/>
          </a:xfrm>
          <a:prstGeom prst="rect">
            <a:avLst/>
          </a:prstGeom>
          <a:noFill/>
        </p:spPr>
        <p:txBody>
          <a:bodyPr wrap="square">
            <a:spAutoFit/>
          </a:bodyPr>
          <a:lstStyle/>
          <a:p>
            <a:pPr>
              <a:defRPr sz="850" b="0" i="0">
                <a:solidFill>
                  <a:srgbClr val="6E7278"/>
                </a:solidFill>
                <a:latin typeface="Courier New"/>
              </a:defRPr>
            </a:pPr>
            <a:r>
              <a:t>EDA notebook §5 categorical features · §9 feature correlations</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3 · THE HEADLINE</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6/10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survives scrutiny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1C2333"/>
                </a:solidFill>
                <a:latin typeface="Georgia"/>
              </a:defRPr>
            </a:pPr>
            <a:r>
              <a:t>No narrative result  </a:t>
            </a:r>
            <a:r>
              <a:rPr sz="1600" b="0">
                <a:solidFill>
                  <a:srgbClr val="6E7278"/>
                </a:solidFill>
                <a:latin typeface="Avenir Next"/>
              </a:rPr>
              <a:t>is robust enough to support a recommendation</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Avenir Next"/>
              </a:rPr>
              <a:t>▪  </a:t>
            </a:r>
            <a:r>
              <a:rPr sz="1650">
                <a:solidFill>
                  <a:srgbClr val="1C2333"/>
                </a:solidFill>
                <a:latin typeface="Avenir Next"/>
              </a:rPr>
              <a:t>Urgency: looked universal (p&lt;0.001) — collapses under country clustering (p≈0.44). Not recommended.</a:t>
            </a:r>
          </a:p>
          <a:p>
            <a:pPr>
              <a:lnSpc>
                <a:spcPct val="115000"/>
              </a:lnSpc>
              <a:spcAft>
                <a:spcPts val="1200"/>
              </a:spcAft>
            </a:pPr>
            <a:r>
              <a:rPr sz="1600">
                <a:solidFill>
                  <a:srgbClr val="FFDD04"/>
                </a:solidFill>
                <a:latin typeface="Avenir Next"/>
              </a:rPr>
              <a:t>▪  </a:t>
            </a:r>
            <a:r>
              <a:rPr sz="1650">
                <a:solidFill>
                  <a:srgbClr val="1C2333"/>
                </a:solidFill>
                <a:latin typeface="Avenir Next"/>
              </a:rPr>
              <a:t>Family: corrected test → Middle East (Palestine+Yemen) &amp; Central America (Honduras+Nicaragua) same direction in every fit — but 2 countries each; few-cluster t(1) screen bar is 12.7, not 1.96: p≈0.06–0.21. A hypothesis, not a finding.</a:t>
            </a:r>
          </a:p>
          <a:p>
            <a:pPr>
              <a:lnSpc>
                <a:spcPct val="115000"/>
              </a:lnSpc>
              <a:spcAft>
                <a:spcPts val="1200"/>
              </a:spcAft>
            </a:pPr>
            <a:r>
              <a:rPr sz="1600">
                <a:solidFill>
                  <a:srgbClr val="FFDD04"/>
                </a:solidFill>
                <a:latin typeface="Avenir Next"/>
              </a:rPr>
              <a:t>▪  </a:t>
            </a:r>
            <a:r>
              <a:rPr sz="1650">
                <a:solidFill>
                  <a:srgbClr val="1C2333"/>
                </a:solidFill>
                <a:latin typeface="Avenir Next"/>
              </a:rPr>
              <a:t>Sentiment: positive tone &lt;-&gt; slower funding, but significance flips between specifications — genuinely open.</a:t>
            </a:r>
          </a:p>
          <a:p>
            <a:pPr>
              <a:lnSpc>
                <a:spcPct val="115000"/>
              </a:lnSpc>
              <a:spcAft>
                <a:spcPts val="1200"/>
              </a:spcAft>
            </a:pPr>
            <a:r>
              <a:rPr sz="1600">
                <a:solidFill>
                  <a:srgbClr val="FFDD04"/>
                </a:solidFill>
                <a:latin typeface="Avenir Next"/>
              </a:rPr>
              <a:t>▪  </a:t>
            </a:r>
            <a:r>
              <a:rPr sz="1650">
                <a:solidFill>
                  <a:srgbClr val="1C2333"/>
                </a:solidFill>
                <a:latin typeface="Avenir Next"/>
              </a:rPr>
              <a:t>SHAP: no family / agency / urgency feature in the model's top 15 — complementary evidence, not confirmation.</a:t>
            </a:r>
          </a:p>
        </p:txBody>
      </p:sp>
      <p:pic>
        <p:nvPicPr>
          <p:cNvPr id="8" name="Picture 7" descr="few_cluster_table.png"/>
          <p:cNvPicPr>
            <a:picLocks noChangeAspect="1"/>
          </p:cNvPicPr>
          <p:nvPr/>
        </p:nvPicPr>
        <p:blipFill>
          <a:blip r:embed="rId2"/>
          <a:stretch>
            <a:fillRect/>
          </a:stretch>
        </p:blipFill>
        <p:spPr>
          <a:xfrm>
            <a:off x="7498079" y="2834639"/>
            <a:ext cx="4069080" cy="2179495"/>
          </a:xfrm>
          <a:prstGeom prst="rect">
            <a:avLst/>
          </a:prstGeom>
        </p:spPr>
      </p:pic>
      <p:sp>
        <p:nvSpPr>
          <p:cNvPr id="9" name="TextBox 8"/>
          <p:cNvSpPr txBox="1"/>
          <p:nvPr/>
        </p:nvSpPr>
        <p:spPr>
          <a:xfrm>
            <a:off x="7498079" y="6172200"/>
            <a:ext cx="4206240" cy="274320"/>
          </a:xfrm>
          <a:prstGeom prst="rect">
            <a:avLst/>
          </a:prstGeom>
          <a:noFill/>
        </p:spPr>
        <p:txBody>
          <a:bodyPr wrap="square">
            <a:spAutoFit/>
          </a:bodyPr>
          <a:lstStyle/>
          <a:p>
            <a:pPr>
              <a:defRPr sz="850" b="0" i="0">
                <a:solidFill>
                  <a:srgbClr val="6E7278"/>
                </a:solidFill>
                <a:latin typeface="Courier New"/>
              </a:defRPr>
            </a:pPr>
            <a:r>
              <a:t>modeling notebook §7.2 within-region slopes · §7.1 check</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4 · TOPICS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7/10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Beyond keywords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1C2333"/>
                </a:solidFill>
                <a:latin typeface="Georgia"/>
              </a:defRPr>
            </a:pPr>
            <a:r>
              <a:t>1.5 → 13.5 days  </a:t>
            </a:r>
            <a:r>
              <a:rPr sz="1600" b="0">
                <a:solidFill>
                  <a:srgbClr val="6E7278"/>
                </a:solidFill>
                <a:latin typeface="Avenir Next"/>
              </a:rPr>
              <a:t>mean funding speed across story topics — a &gt;9x swing</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Avenir Next"/>
              </a:rPr>
              <a:t>▪  </a:t>
            </a:r>
            <a:r>
              <a:rPr sz="1650">
                <a:solidFill>
                  <a:srgbClr val="1C2333"/>
                </a:solidFill>
                <a:latin typeface="Avenir Next"/>
              </a:rPr>
              <a:t>Topic modeling on the descriptions (TF-IDF + NMF, 8 topics — not keyword counts) surfaces coherent themes: sanitation, clean water, pig raising, family business, smallholder farming.</a:t>
            </a:r>
          </a:p>
          <a:p>
            <a:pPr>
              <a:lnSpc>
                <a:spcPct val="115000"/>
              </a:lnSpc>
              <a:spcAft>
                <a:spcPts val="1200"/>
              </a:spcAft>
            </a:pPr>
            <a:r>
              <a:rPr sz="1600">
                <a:solidFill>
                  <a:srgbClr val="FFDD04"/>
                </a:solidFill>
                <a:latin typeface="Avenir Next"/>
              </a:rPr>
              <a:t>▪  </a:t>
            </a:r>
            <a:r>
              <a:rPr sz="1650">
                <a:solidFill>
                  <a:srgbClr val="1C2333"/>
                </a:solidFill>
                <a:latin typeface="Avenir Next"/>
              </a:rPr>
              <a:t>The largest single gap anywhere in the analysis — but a topic mostly encodes what the loan is FOR. Structure again, not persuasion.</a:t>
            </a:r>
          </a:p>
        </p:txBody>
      </p:sp>
      <p:pic>
        <p:nvPicPr>
          <p:cNvPr id="8" name="Picture 7" descr="topics.png"/>
          <p:cNvPicPr>
            <a:picLocks noChangeAspect="1"/>
          </p:cNvPicPr>
          <p:nvPr/>
        </p:nvPicPr>
        <p:blipFill>
          <a:blip r:embed="rId2"/>
          <a:stretch>
            <a:fillRect/>
          </a:stretch>
        </p:blipFill>
        <p:spPr>
          <a:xfrm>
            <a:off x="7498079" y="2834639"/>
            <a:ext cx="4069080" cy="2255841"/>
          </a:xfrm>
          <a:prstGeom prst="rect">
            <a:avLst/>
          </a:prstGeom>
        </p:spPr>
      </p:pic>
      <p:sp>
        <p:nvSpPr>
          <p:cNvPr id="9" name="TextBox 8"/>
          <p:cNvSpPr txBox="1"/>
          <p:nvPr/>
        </p:nvSpPr>
        <p:spPr>
          <a:xfrm>
            <a:off x="7498079" y="6172200"/>
            <a:ext cx="4206240" cy="274320"/>
          </a:xfrm>
          <a:prstGeom prst="rect">
            <a:avLst/>
          </a:prstGeom>
          <a:noFill/>
        </p:spPr>
        <p:txBody>
          <a:bodyPr wrap="square">
            <a:spAutoFit/>
          </a:bodyPr>
          <a:lstStyle/>
          <a:p>
            <a:pPr>
              <a:defRPr sz="850" b="0" i="0">
                <a:solidFill>
                  <a:srgbClr val="6E7278"/>
                </a:solidFill>
                <a:latin typeface="Courier New"/>
              </a:defRPr>
            </a:pPr>
            <a:r>
              <a:t>EDA notebook §8 topic modeling</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RECOMMENDATIONS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8/10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this means in practice</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Avenir Next"/>
              </a:rPr>
              <a:t>▪  </a:t>
            </a:r>
            <a:r>
              <a:rPr sz="1650">
                <a:solidFill>
                  <a:srgbClr val="1C2333"/>
                </a:solidFill>
                <a:latin typeface="Avenir Next"/>
              </a:rPr>
              <a:t>DON'T ship writing tips — a platform-wide 'add urgency' nudge would be built on a result that doesn't survive testing.</a:t>
            </a:r>
          </a:p>
          <a:p>
            <a:pPr>
              <a:lnSpc>
                <a:spcPct val="115000"/>
              </a:lnSpc>
              <a:spcAft>
                <a:spcPts val="1200"/>
              </a:spcAft>
            </a:pPr>
            <a:r>
              <a:rPr sz="1600">
                <a:solidFill>
                  <a:srgbClr val="FFDD04"/>
                </a:solidFill>
                <a:latin typeface="Avenir Next"/>
              </a:rPr>
              <a:t>▪  </a:t>
            </a:r>
            <a:r>
              <a:rPr sz="1650">
                <a:solidFill>
                  <a:srgbClr val="1C2333"/>
                </a:solidFill>
                <a:latin typeface="Avenir Next"/>
              </a:rPr>
              <a:t>DO run a country-stratified A/B test of family framing in exactly those 4 markets — that's how a hypothesis becomes a decision.</a:t>
            </a:r>
          </a:p>
          <a:p>
            <a:pPr>
              <a:lnSpc>
                <a:spcPct val="115000"/>
              </a:lnSpc>
              <a:spcAft>
                <a:spcPts val="1200"/>
              </a:spcAft>
            </a:pPr>
            <a:r>
              <a:rPr sz="1600">
                <a:solidFill>
                  <a:srgbClr val="FFDD04"/>
                </a:solidFill>
                <a:latin typeface="Avenir Next"/>
              </a:rPr>
              <a:t>▪  </a:t>
            </a:r>
            <a:r>
              <a:rPr sz="1650">
                <a:solidFill>
                  <a:srgbClr val="1C2333"/>
                </a:solidFill>
                <a:latin typeface="Avenir Next"/>
              </a:rPr>
              <a:t>DO review the structural gaps (sector / region / gender) — they are ~10x the size of any wording effect.</a:t>
            </a:r>
          </a:p>
          <a:p>
            <a:pPr>
              <a:lnSpc>
                <a:spcPct val="115000"/>
              </a:lnSpc>
              <a:spcAft>
                <a:spcPts val="1200"/>
              </a:spcAft>
            </a:pPr>
            <a:r>
              <a:rPr sz="1600">
                <a:solidFill>
                  <a:srgbClr val="FFDD04"/>
                </a:solidFill>
                <a:latin typeface="Avenir Next"/>
              </a:rPr>
              <a:t>▪  </a:t>
            </a:r>
            <a:r>
              <a:rPr sz="1650">
                <a:solidFill>
                  <a:srgbClr val="1C2333"/>
                </a:solidFill>
                <a:latin typeface="Avenir Next"/>
              </a:rPr>
              <a:t>PROTOTYPE, then re-validate: the 24h classifier ranks well among eventually-funded loans (AUC ≈ 0.90, strictly future data) — but expired/withdrawn listings aren't in the data, so an early-warning flag first needs all posted listings, a defined target, and retraining on that population.</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LIMITS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9/10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this can't tell us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Avenir Next"/>
              </a:rPr>
              <a:t>▪  </a:t>
            </a:r>
            <a:r>
              <a:rPr sz="1650">
                <a:solidFill>
                  <a:srgbClr val="1C2333"/>
                </a:solidFill>
                <a:latin typeface="Avenir Next"/>
              </a:rPr>
              <a:t>Association, never causation — no borrower was randomly assigned a writing style.</a:t>
            </a:r>
          </a:p>
          <a:p>
            <a:pPr>
              <a:lnSpc>
                <a:spcPct val="115000"/>
              </a:lnSpc>
              <a:spcAft>
                <a:spcPts val="1200"/>
              </a:spcAft>
            </a:pPr>
            <a:r>
              <a:rPr sz="1600">
                <a:solidFill>
                  <a:srgbClr val="FFDD04"/>
                </a:solidFill>
                <a:latin typeface="Avenir Next"/>
              </a:rPr>
              <a:t>▪  </a:t>
            </a:r>
            <a:r>
              <a:rPr sz="1650">
                <a:solidFill>
                  <a:srgbClr val="1C2333"/>
                </a:solidFill>
                <a:latin typeface="Avenir Next"/>
              </a:rPr>
              <a:t>Measures how fast a FUNDED loan funds — not whether a loan gets funded at all (expired/withdrawn listings never enter the data).</a:t>
            </a:r>
          </a:p>
          <a:p>
            <a:pPr>
              <a:lnSpc>
                <a:spcPct val="115000"/>
              </a:lnSpc>
              <a:spcAft>
                <a:spcPts val="1200"/>
              </a:spcAft>
            </a:pPr>
            <a:r>
              <a:rPr sz="1600">
                <a:solidFill>
                  <a:srgbClr val="FFDD04"/>
                </a:solidFill>
                <a:latin typeface="Avenir Next"/>
              </a:rPr>
              <a:t>▪  </a:t>
            </a:r>
            <a:r>
              <a:rPr sz="1650">
                <a:solidFill>
                  <a:srgbClr val="1C2333"/>
                </a:solidFill>
                <a:latin typeface="Avenir Next"/>
              </a:rPr>
              <a:t>Framing measured with transparent, simple rules — not every nuance of persuasive writing.</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5367528" y="1554480"/>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286000"/>
            <a:ext cx="9966960" cy="2377440"/>
          </a:xfrm>
          <a:prstGeom prst="rect">
            <a:avLst/>
          </a:prstGeom>
          <a:noFill/>
        </p:spPr>
        <p:txBody>
          <a:bodyPr wrap="square">
            <a:spAutoFit/>
          </a:bodyPr>
          <a:lstStyle/>
          <a:p>
            <a:pPr algn="ctr">
              <a:defRPr sz="4200" b="1" i="0">
                <a:solidFill>
                  <a:srgbClr val="FBFAF6"/>
                </a:solidFill>
                <a:latin typeface="Georgia"/>
              </a:defRPr>
            </a:pPr>
            <a:r>
              <a:t>“The story barely registers.</a:t>
            </a:r>
          </a:p>
          <a:p>
            <a:pPr algn="ctr">
              <a:defRPr sz="4200" b="1" i="0">
                <a:solidFill>
                  <a:srgbClr val="FBFAF6"/>
                </a:solidFill>
                <a:latin typeface="Georgia"/>
              </a:defRPr>
            </a:pPr>
            <a:r>
              <a:t>The structure carries the signal.”</a:t>
            </a:r>
          </a:p>
        </p:txBody>
      </p:sp>
      <p:sp>
        <p:nvSpPr>
          <p:cNvPr id="4" name="TextBox 3"/>
          <p:cNvSpPr txBox="1"/>
          <p:nvPr/>
        </p:nvSpPr>
        <p:spPr>
          <a:xfrm>
            <a:off x="1097280" y="4846320"/>
            <a:ext cx="9966960" cy="640080"/>
          </a:xfrm>
          <a:prstGeom prst="rect">
            <a:avLst/>
          </a:prstGeom>
          <a:noFill/>
        </p:spPr>
        <p:txBody>
          <a:bodyPr wrap="square">
            <a:spAutoFit/>
          </a:bodyPr>
          <a:lstStyle/>
          <a:p>
            <a:pPr algn="ctr">
              <a:defRPr sz="2000" b="0" i="0">
                <a:solidFill>
                  <a:srgbClr val="B8CED6"/>
                </a:solidFill>
                <a:latin typeface="Avenir Next"/>
              </a:defRPr>
            </a:pPr>
            <a:r>
              <a:t>Thank you — questions.</a:t>
            </a:r>
          </a:p>
        </p:txBody>
      </p:sp>
      <p:sp>
        <p:nvSpPr>
          <p:cNvPr id="5" name="TextBox 4"/>
          <p:cNvSpPr txBox="1"/>
          <p:nvPr/>
        </p:nvSpPr>
        <p:spPr>
          <a:xfrm>
            <a:off x="1097280" y="6309360"/>
            <a:ext cx="9966960" cy="365760"/>
          </a:xfrm>
          <a:prstGeom prst="rect">
            <a:avLst/>
          </a:prstGeom>
          <a:noFill/>
        </p:spPr>
        <p:txBody>
          <a:bodyPr wrap="square">
            <a:spAutoFit/>
          </a:bodyPr>
          <a:lstStyle/>
          <a:p>
            <a:pPr algn="ctr">
              <a:defRPr sz="1200" b="0" i="0">
                <a:solidFill>
                  <a:srgbClr val="8FB0BB"/>
                </a:solidFill>
                <a:latin typeface="Courier New"/>
              </a:defRPr>
            </a:pPr>
            <a:r>
              <a:t>Team Cultural Blend · UNSW Marketing Analytics Hackathon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822960" y="2743200"/>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71800"/>
            <a:ext cx="10515600" cy="1097280"/>
          </a:xfrm>
          <a:prstGeom prst="rect">
            <a:avLst/>
          </a:prstGeom>
          <a:noFill/>
        </p:spPr>
        <p:txBody>
          <a:bodyPr wrap="square">
            <a:spAutoFit/>
          </a:bodyPr>
          <a:lstStyle/>
          <a:p>
            <a:pPr>
              <a:defRPr sz="5400" b="1" i="0">
                <a:solidFill>
                  <a:srgbClr val="FBFAF6"/>
                </a:solidFill>
                <a:latin typeface="Georgia"/>
              </a:defRPr>
            </a:pPr>
            <a:r>
              <a:t>Appendix</a:t>
            </a:r>
          </a:p>
        </p:txBody>
      </p:sp>
      <p:sp>
        <p:nvSpPr>
          <p:cNvPr id="4" name="TextBox 3"/>
          <p:cNvSpPr txBox="1"/>
          <p:nvPr/>
        </p:nvSpPr>
        <p:spPr>
          <a:xfrm>
            <a:off x="822960" y="4114800"/>
            <a:ext cx="10515600" cy="548640"/>
          </a:xfrm>
          <a:prstGeom prst="rect">
            <a:avLst/>
          </a:prstGeom>
          <a:noFill/>
        </p:spPr>
        <p:txBody>
          <a:bodyPr wrap="square">
            <a:spAutoFit/>
          </a:bodyPr>
          <a:lstStyle/>
          <a:p>
            <a:pPr>
              <a:defRPr sz="1800" b="0" i="1">
                <a:solidFill>
                  <a:srgbClr val="B8CED6"/>
                </a:solidFill>
                <a:latin typeface="Avenir Next"/>
              </a:defRPr>
            </a:pPr>
            <a:r>
              <a:t>Q&amp;A backup — not part of the 10-minute presentation.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A1</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A1</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two-country problem, in full</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Avenir Next"/>
              </a:rPr>
              <a:t>▪  </a:t>
            </a:r>
            <a:r>
              <a:rPr sz="1650">
                <a:solidFill>
                  <a:srgbClr val="1C2333"/>
                </a:solidFill>
                <a:latin typeface="Avenir Next"/>
              </a:rPr>
              <a:t>Pooled categories: Middle East = Palestine + Yemen (14,946 loans); Central America = Honduras + Nicaragua (59,391); North America = Haiti alone.</a:t>
            </a:r>
          </a:p>
          <a:p>
            <a:pPr>
              <a:lnSpc>
                <a:spcPct val="115000"/>
              </a:lnSpc>
              <a:spcAft>
                <a:spcPts val="1200"/>
              </a:spcAft>
            </a:pPr>
            <a:r>
              <a:rPr sz="1600">
                <a:solidFill>
                  <a:srgbClr val="FFDD04"/>
                </a:solidFill>
                <a:latin typeface="Avenir Next"/>
              </a:rPr>
              <a:t>▪  </a:t>
            </a:r>
            <a:r>
              <a:rPr sz="1650">
                <a:solidFill>
                  <a:srgbClr val="1C2333"/>
                </a:solidFill>
                <a:latin typeface="Avenir Next"/>
              </a:rPr>
              <a:t>Few-cluster screen p (duration / 24h / notebook fit): ME 0.12 / 0.21 / 0.08 · CA 0.06 / 0.14 / 0.07 — same direction in every fit, none significant; t(1) critical value 12.7.</a:t>
            </a:r>
          </a:p>
          <a:p>
            <a:pPr>
              <a:lnSpc>
                <a:spcPct val="115000"/>
              </a:lnSpc>
              <a:spcAft>
                <a:spcPts val="1200"/>
              </a:spcAft>
            </a:pPr>
            <a:r>
              <a:rPr sz="1600">
                <a:solidFill>
                  <a:srgbClr val="FFDD04"/>
                </a:solidFill>
                <a:latin typeface="Avenir Next"/>
              </a:rPr>
              <a:t>▪  </a:t>
            </a:r>
            <a:r>
              <a:rPr sz="1650">
                <a:solidFill>
                  <a:srgbClr val="1C2333"/>
                </a:solidFill>
                <a:latin typeface="Avenir Next"/>
              </a:rPr>
              <a:t>North America: single country — between-country uncertainty not estimable at all.</a:t>
            </a:r>
          </a:p>
          <a:p>
            <a:pPr>
              <a:lnSpc>
                <a:spcPct val="115000"/>
              </a:lnSpc>
              <a:spcAft>
                <a:spcPts val="1200"/>
              </a:spcAft>
            </a:pPr>
            <a:r>
              <a:rPr sz="1600">
                <a:solidFill>
                  <a:srgbClr val="FFDD04"/>
                </a:solidFill>
                <a:latin typeface="Avenir Next"/>
              </a:rPr>
              <a:t>▪  </a:t>
            </a:r>
            <a:r>
              <a:rPr sz="1650">
                <a:solidFill>
                  <a:srgbClr val="1C2333"/>
                </a:solidFill>
                <a:latin typeface="Avenir Next"/>
              </a:rPr>
              <a:t>The screen is a conservative heuristic: it can downgrade a claim, never certify one. Next step: country-stratified A/B test in those four markets.</a:t>
            </a:r>
          </a:p>
        </p:txBody>
      </p:sp>
      <p:pic>
        <p:nvPicPr>
          <p:cNvPr id="7" name="Picture 6" descr="region_speed.png"/>
          <p:cNvPicPr>
            <a:picLocks noChangeAspect="1"/>
          </p:cNvPicPr>
          <p:nvPr/>
        </p:nvPicPr>
        <p:blipFill>
          <a:blip r:embed="rId2"/>
          <a:stretch>
            <a:fillRect/>
          </a:stretch>
        </p:blipFill>
        <p:spPr>
          <a:xfrm>
            <a:off x="7498079" y="1783080"/>
            <a:ext cx="4069080" cy="3259729"/>
          </a:xfrm>
          <a:prstGeom prst="rect">
            <a:avLst/>
          </a:prstGeom>
        </p:spPr>
      </p:pic>
      <p:sp>
        <p:nvSpPr>
          <p:cNvPr id="8" name="TextBox 7"/>
          <p:cNvSpPr txBox="1"/>
          <p:nvPr/>
        </p:nvSpPr>
        <p:spPr>
          <a:xfrm>
            <a:off x="7498079" y="6172200"/>
            <a:ext cx="4206240" cy="274320"/>
          </a:xfrm>
          <a:prstGeom prst="rect">
            <a:avLst/>
          </a:prstGeom>
          <a:noFill/>
        </p:spPr>
        <p:txBody>
          <a:bodyPr wrap="square">
            <a:spAutoFit/>
          </a:bodyPr>
          <a:lstStyle/>
          <a:p>
            <a:pPr>
              <a:defRPr sz="850" b="0" i="0">
                <a:solidFill>
                  <a:srgbClr val="6E7278"/>
                </a:solidFill>
                <a:latin typeface="Courier New"/>
              </a:defRPr>
            </a:pPr>
            <a:r>
              <a:t>EDA notebook §5 · regional speed context for the pooled categories</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A2</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A2</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Predictive weight ≠ statistical robustness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Avenir Next"/>
              </a:rPr>
              <a:t>▪  </a:t>
            </a:r>
            <a:r>
              <a:rPr sz="1650">
                <a:solidFill>
                  <a:srgbClr val="1C2333"/>
                </a:solidFill>
                <a:latin typeface="Avenir Next"/>
              </a:rPr>
              <a:t>SHAP importance from the boosted forecasting model: structure fills the top ranks (amount, term, period, size band, sector, gender).</a:t>
            </a:r>
          </a:p>
          <a:p>
            <a:pPr>
              <a:lnSpc>
                <a:spcPct val="115000"/>
              </a:lnSpc>
              <a:spcAft>
                <a:spcPts val="1200"/>
              </a:spcAft>
            </a:pPr>
            <a:r>
              <a:rPr sz="1600">
                <a:solidFill>
                  <a:srgbClr val="FFDD04"/>
                </a:solidFill>
                <a:latin typeface="Avenir Next"/>
              </a:rPr>
              <a:t>▪  </a:t>
            </a:r>
            <a:r>
              <a:rPr sz="1650">
                <a:solidFill>
                  <a:srgbClr val="1C2333"/>
                </a:solidFill>
                <a:latin typeface="Avenir Next"/>
              </a:rPr>
              <a:t>No family, agency, or urgency feature reaches the top 15; sentiment is 11th despite its disputed significance.</a:t>
            </a:r>
          </a:p>
          <a:p>
            <a:pPr>
              <a:lnSpc>
                <a:spcPct val="115000"/>
              </a:lnSpc>
              <a:spcAft>
                <a:spcPts val="1200"/>
              </a:spcAft>
            </a:pPr>
            <a:r>
              <a:rPr sz="1600">
                <a:solidFill>
                  <a:srgbClr val="FFDD04"/>
                </a:solidFill>
                <a:latin typeface="Avenir Next"/>
              </a:rPr>
              <a:t>▪  </a:t>
            </a:r>
            <a:r>
              <a:rPr sz="1650">
                <a:solidFill>
                  <a:srgbClr val="1C2333"/>
                </a:solidFill>
                <a:latin typeface="Avenir Next"/>
              </a:rPr>
              <a:t>Complementary predictive evidence only — a different model, no region interactions; it cannot confirm or refute any coefficient's sign or uncertainty.</a:t>
            </a:r>
          </a:p>
        </p:txBody>
      </p:sp>
      <p:pic>
        <p:nvPicPr>
          <p:cNvPr id="7" name="Picture 6" descr="shap_top15.png"/>
          <p:cNvPicPr>
            <a:picLocks noChangeAspect="1"/>
          </p:cNvPicPr>
          <p:nvPr/>
        </p:nvPicPr>
        <p:blipFill>
          <a:blip r:embed="rId2"/>
          <a:stretch>
            <a:fillRect/>
          </a:stretch>
        </p:blipFill>
        <p:spPr>
          <a:xfrm>
            <a:off x="7498079" y="1783080"/>
            <a:ext cx="4069080" cy="2335995"/>
          </a:xfrm>
          <a:prstGeom prst="rect">
            <a:avLst/>
          </a:prstGeom>
        </p:spPr>
      </p:pic>
      <p:sp>
        <p:nvSpPr>
          <p:cNvPr id="8" name="TextBox 7"/>
          <p:cNvSpPr txBox="1"/>
          <p:nvPr/>
        </p:nvSpPr>
        <p:spPr>
          <a:xfrm>
            <a:off x="7498079" y="6172200"/>
            <a:ext cx="4206240" cy="274320"/>
          </a:xfrm>
          <a:prstGeom prst="rect">
            <a:avLst/>
          </a:prstGeom>
          <a:noFill/>
        </p:spPr>
        <p:txBody>
          <a:bodyPr wrap="square">
            <a:spAutoFit/>
          </a:bodyPr>
          <a:lstStyle/>
          <a:p>
            <a:pPr>
              <a:defRPr sz="850" b="0" i="0">
                <a:solidFill>
                  <a:srgbClr val="6E7278"/>
                </a:solidFill>
                <a:latin typeface="Courier New"/>
              </a:defRPr>
            </a:pPr>
            <a:r>
              <a:t>modeling notebook §8 · SHAP top-15</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A3</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A3</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'~10x' comparison, exactly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Avenir Next"/>
              </a:rPr>
              <a:t>▪  </a:t>
            </a:r>
            <a:r>
              <a:rPr sz="1650">
                <a:solidFill>
                  <a:srgbClr val="1C2333"/>
                </a:solidFill>
                <a:latin typeface="Avenir Next"/>
              </a:rPr>
              <a:t>Correlation with funding speed: loan amount (log) r = 0.43, repayment term r = 0.28 — vs competence 0.058, family 0.019, urgency 0.010.</a:t>
            </a:r>
          </a:p>
          <a:p>
            <a:pPr>
              <a:lnSpc>
                <a:spcPct val="115000"/>
              </a:lnSpc>
              <a:spcAft>
                <a:spcPts val="1200"/>
              </a:spcAft>
            </a:pPr>
            <a:r>
              <a:rPr sz="1600">
                <a:solidFill>
                  <a:srgbClr val="FFDD04"/>
                </a:solidFill>
                <a:latin typeface="Avenir Next"/>
              </a:rPr>
              <a:t>▪  </a:t>
            </a:r>
            <a:r>
              <a:rPr sz="1650">
                <a:solidFill>
                  <a:srgbClr val="1C2333"/>
                </a:solidFill>
                <a:latin typeface="Avenir Next"/>
              </a:rPr>
              <a:t>Loan-amount deciles also rise almost monotonically (~2 days for the smallest asks, ~18 for the largest) — monotonicity, not the 10x basis itself.</a:t>
            </a:r>
          </a:p>
          <a:p>
            <a:pPr>
              <a:lnSpc>
                <a:spcPct val="115000"/>
              </a:lnSpc>
              <a:spcAft>
                <a:spcPts val="1200"/>
              </a:spcAft>
            </a:pPr>
            <a:r>
              <a:rPr sz="1600">
                <a:solidFill>
                  <a:srgbClr val="FFDD04"/>
                </a:solidFill>
                <a:latin typeface="Avenir Next"/>
              </a:rPr>
              <a:t>▪  </a:t>
            </a:r>
            <a:r>
              <a:rPr sz="1650">
                <a:solidFill>
                  <a:srgbClr val="1C2333"/>
                </a:solidFill>
                <a:latin typeface="Avenir Next"/>
              </a:rPr>
              <a:t>Gender: female-posted median 2.3 days vs male 7.7 (male coefficient +0.430 survives HC3 AND country clustering, p &lt; 0.0001 — still associational).</a:t>
            </a:r>
          </a:p>
        </p:txBody>
      </p:sp>
      <p:pic>
        <p:nvPicPr>
          <p:cNvPr id="7" name="Picture 6" descr="correlations.png"/>
          <p:cNvPicPr>
            <a:picLocks noChangeAspect="1"/>
          </p:cNvPicPr>
          <p:nvPr/>
        </p:nvPicPr>
        <p:blipFill>
          <a:blip r:embed="rId2"/>
          <a:stretch>
            <a:fillRect/>
          </a:stretch>
        </p:blipFill>
        <p:spPr>
          <a:xfrm>
            <a:off x="7498079" y="1783080"/>
            <a:ext cx="4069080" cy="2062319"/>
          </a:xfrm>
          <a:prstGeom prst="rect">
            <a:avLst/>
          </a:prstGeom>
        </p:spPr>
      </p:pic>
      <p:sp>
        <p:nvSpPr>
          <p:cNvPr id="8" name="TextBox 7"/>
          <p:cNvSpPr txBox="1"/>
          <p:nvPr/>
        </p:nvSpPr>
        <p:spPr>
          <a:xfrm>
            <a:off x="7498079" y="6172200"/>
            <a:ext cx="4206240" cy="274320"/>
          </a:xfrm>
          <a:prstGeom prst="rect">
            <a:avLst/>
          </a:prstGeom>
          <a:noFill/>
        </p:spPr>
        <p:txBody>
          <a:bodyPr wrap="square">
            <a:spAutoFit/>
          </a:bodyPr>
          <a:lstStyle/>
          <a:p>
            <a:pPr>
              <a:defRPr sz="850" b="0" i="0">
                <a:solidFill>
                  <a:srgbClr val="6E7278"/>
                </a:solidFill>
                <a:latin typeface="Courier New"/>
              </a:defRPr>
            </a:pPr>
            <a:r>
              <a:t>EDA notebook §9 · correlation table (the 10x basis)</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A4</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A4</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24h classifier — operating detail</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Avenir Next"/>
              </a:rPr>
              <a:t>▪  </a:t>
            </a:r>
            <a:r>
              <a:rPr sz="1650">
                <a:solidFill>
                  <a:srgbClr val="1C2333"/>
                </a:solidFill>
                <a:latin typeface="Avenir Next"/>
              </a:rPr>
              <a:t>Holdout (posted 2024-01-01 onward): 278,887 loans; 87,466 funded within 24h vs 191,421 not.</a:t>
            </a:r>
          </a:p>
          <a:p>
            <a:pPr>
              <a:lnSpc>
                <a:spcPct val="115000"/>
              </a:lnSpc>
              <a:spcAft>
                <a:spcPts val="1200"/>
              </a:spcAft>
            </a:pPr>
            <a:r>
              <a:rPr sz="1600">
                <a:solidFill>
                  <a:srgbClr val="FFDD04"/>
                </a:solidFill>
                <a:latin typeface="Avenir Next"/>
              </a:rPr>
              <a:t>▪  </a:t>
            </a:r>
            <a:r>
              <a:rPr sz="1650">
                <a:solidFill>
                  <a:srgbClr val="1C2333"/>
                </a:solidFill>
                <a:latin typeface="Avenir Next"/>
              </a:rPr>
              <a:t>ROC AUC 0.8997 · average precision 0.8301 · Brier 0.1156 · accuracy 0.840 — no narrative features needed.</a:t>
            </a:r>
          </a:p>
          <a:p>
            <a:pPr>
              <a:lnSpc>
                <a:spcPct val="115000"/>
              </a:lnSpc>
              <a:spcAft>
                <a:spcPts val="1200"/>
              </a:spcAft>
            </a:pPr>
            <a:r>
              <a:rPr sz="1600">
                <a:solidFill>
                  <a:srgbClr val="FFDD04"/>
                </a:solidFill>
                <a:latin typeface="Avenir Next"/>
              </a:rPr>
              <a:t>▪  </a:t>
            </a:r>
            <a:r>
              <a:rPr sz="1650">
                <a:solidFill>
                  <a:srgbClr val="1C2333"/>
                </a:solidFill>
                <a:latin typeface="Avenir Next"/>
              </a:rPr>
              <a:t>Boundary: negative class = 'eventually funded, but not within 24h'. Expired/withdrawn listings never enter the data — a retrospective ranking prototype among eventual funders.</a:t>
            </a:r>
          </a:p>
          <a:p>
            <a:pPr>
              <a:lnSpc>
                <a:spcPct val="115000"/>
              </a:lnSpc>
              <a:spcAft>
                <a:spcPts val="1200"/>
              </a:spcAft>
            </a:pPr>
            <a:r>
              <a:rPr sz="1600">
                <a:solidFill>
                  <a:srgbClr val="FFDD04"/>
                </a:solidFill>
                <a:latin typeface="Avenir Next"/>
              </a:rPr>
              <a:t>▪  </a:t>
            </a:r>
            <a:r>
              <a:rPr sz="1650">
                <a:solidFill>
                  <a:srgbClr val="1C2333"/>
                </a:solidFill>
                <a:latin typeface="Avenir Next"/>
              </a:rPr>
              <a:t>Path to deployment: all posted listings incl. expired/withdrawn outcomes -&gt; define operational target + censoring window -&gt; retrain, validate -&gt; threshold, calibration, fairness, prospective test.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